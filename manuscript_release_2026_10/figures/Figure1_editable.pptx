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226c0800a444fd1" /><Relationship Type="http://schemas.openxmlformats.org/officeDocument/2006/relationships/extended-properties" Target="/docProps/app.xml" Id="Rfe46bb914a574441" /><Relationship Type="http://schemas.openxmlformats.org/officeDocument/2006/relationships/officeDocument" Target="/ppt/presentation.xml" Id="Rb1478b0985004a20" /></Relationships>
</file>

<file path=ppt/presentation.xml><?xml version="1.0" encoding="utf-8"?>
<p:presentation xmlns:p="http://schemas.openxmlformats.org/presentationml/2006/main">
  <p:sldMasterIdLst>
    <p:sldMasterId xmlns:r="http://schemas.openxmlformats.org/officeDocument/2006/relationships" id="2147483648" r:id="R7bbad83df6934ef5"/>
  </p:sldMasterIdLst>
  <p:notesMasterIdLst>
    <p:notesMasterId xmlns:r="http://schemas.openxmlformats.org/officeDocument/2006/relationships" r:id="R7d7e937f95c24d75"/>
  </p:notesMasterIdLst>
  <p:sldIdLst>
    <p:sldId xmlns:r="http://schemas.openxmlformats.org/officeDocument/2006/relationships" id="256" r:id="R2c82ff122d4441ed"/>
  </p:sldIdLst>
  <p:sldSz cx="14287500" cy="1000125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37d68cff7434d8d" /><Relationship Type="http://schemas.openxmlformats.org/officeDocument/2006/relationships/slideMaster" Target="/ppt/slideMasters/slideMaster1.xml" Id="R7bbad83df6934ef5" /><Relationship Type="http://schemas.openxmlformats.org/officeDocument/2006/relationships/notesMaster" Target="/ppt/notesMasters/notesMaster1.xml" Id="R7d7e937f95c24d75" /><Relationship Type="http://schemas.openxmlformats.org/officeDocument/2006/relationships/presProps" Target="/ppt/presProps.xml" Id="Rfad5db6c8bbf4e8d" /><Relationship Type="http://schemas.openxmlformats.org/officeDocument/2006/relationships/tableStyles" Target="/ppt/tableStyles.xml" Id="R450a7f06e6e342df" /><Relationship Type="http://schemas.openxmlformats.org/officeDocument/2006/relationships/slide" Target="/ppt/slides/slide1.xml" Id="R2c82ff122d4441e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e0c504a76a84db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c98919cbb94408c" /><Relationship Type="http://schemas.openxmlformats.org/officeDocument/2006/relationships/notesMaster" Target="/ppt/notesMasters/notesMaster1.xml" Id="Rfc4fe18df8624b8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Study design and candidate annotation. The 426-genome matrix has 2,286 protein families. The high-purity inventory contains 981 families. The residual-association inventory contains 473 estimable positive carrier contrasts and three ubiquitous controls. Candidate inventory ranking and prediction evaluation are separate analyses. Prediction fits feature filters within training folds. Annotations prioritize experiments without establishing independent functional validation. Sources and terminology: https://github.com/jamesyoung93/Diazotrophic_Cyanobacteria_Pangenome/tree/main/manuscript_release_2026_10.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f6f35065f45464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3cb5c9b3c924621" /><Relationship Type="http://schemas.openxmlformats.org/officeDocument/2006/relationships/slideLayout" Target="/ppt/slideLayouts/slideLayout1.xml" Id="R855899fdef5b47f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55899fdef5b47f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ce13040f6c74e99" /><Relationship Type="http://schemas.openxmlformats.org/officeDocument/2006/relationships/notesSlide" Target="/ppt/notesSlides/notesSlide1.xml" Id="R1abc2d73bb7d4fc6"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8" name="Atlas stage">
            <a:extLst xmlns:a="http://schemas.openxmlformats.org/drawingml/2006/main">
              <a:ext uri="{FF2B5EF4-FFF2-40B4-BE49-F238E27FC236}">
                <a16:creationId xmlns:a16="http://schemas.microsoft.com/office/drawing/2014/main" id="{7B4EC5DC-12C2-489F-AAF5-9CEF3DF7EB8B}"/>
              </a:ext>
            </a:extLst>
          </p:cNvPr>
          <p:cNvSpPr>
            <a:spLocks xmlns:a="http://schemas.openxmlformats.org/drawingml/2006/main" noGrp="1"/>
          </p:cNvSpPr>
          <p:nvPr/>
        </p:nvSpPr>
        <p:spPr>
          <a:xfrm xmlns:a="http://schemas.openxmlformats.org/drawingml/2006/main">
            <a:off x="190500" y="238125"/>
            <a:ext cx="3000375" cy="1028700"/>
          </a:xfrm>
          <a:custGeom xmlns:a="http://schemas.openxmlformats.org/drawingml/2006/main">
            <a:pathLst>
              <a:path w="3000375" h="1028700">
                <a:moveTo>
                  <a:pt x="0" y="114300"/>
                </a:moveTo>
                <a:lnTo>
                  <a:pt x="2714625" y="114300"/>
                </a:lnTo>
                <a:lnTo>
                  <a:pt x="2714625" y="0"/>
                </a:lnTo>
                <a:lnTo>
                  <a:pt x="3000375" y="514350"/>
                </a:lnTo>
                <a:lnTo>
                  <a:pt x="2714625" y="1028700"/>
                </a:lnTo>
                <a:lnTo>
                  <a:pt x="2714625" y="914400"/>
                </a:lnTo>
                <a:lnTo>
                  <a:pt x="0" y="914400"/>
                </a:lnTo>
                <a:close/>
              </a:path>
            </a:pathLst>
          </a:custGeom>
          <a:solidFill xmlns:a="http://schemas.openxmlformats.org/drawingml/2006/main">
            <a:srgbClr val="5D9BAF"/>
          </a:solidFill>
          <a:ln xmlns:a="http://schemas.openxmlformats.org/drawingml/2006/main" w="19050">
            <a:solidFill>
              <a:srgbClr val="AFC9D3"/>
            </a:solidFill>
          </a:ln>
        </p:spPr>
      </p:sp>
      <p:sp>
        <p:nvSpPr>
          <p:cNvPr id="2" name="Atlas stage label">
            <a:extLst xmlns:a="http://schemas.openxmlformats.org/drawingml/2006/main">
              <a:ext uri="{FF2B5EF4-FFF2-40B4-BE49-F238E27FC236}">
                <a16:creationId xmlns:a16="http://schemas.microsoft.com/office/drawing/2014/main" id="{CA02EF10-B91C-4228-97AF-8CE2367BF9A7}"/>
              </a:ext>
            </a:extLst>
          </p:cNvPr>
          <p:cNvSpPr>
            <a:spLocks xmlns:a="http://schemas.openxmlformats.org/drawingml/2006/main" noGrp="1"/>
          </p:cNvSpPr>
          <p:nvPr/>
        </p:nvSpPr>
        <p:spPr>
          <a:xfrm xmlns:a="http://schemas.openxmlformats.org/drawingml/2006/main">
            <a:off x="257175" y="400050"/>
            <a:ext cx="26479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2175" b="1">
                <a:solidFill>
                  <a:srgbClr val="FFFFFF"/>
                </a:solidFill>
                <a:latin typeface="Calibri"/>
                <a:ea typeface="Calibri"/>
                <a:cs typeface="Calibri"/>
              </a:defRPr>
            </a:pPr>
            <a:r>
              <a:rPr sz="2175" b="1">
                <a:solidFill>
                  <a:srgbClr val="FFFFFF"/>
                </a:solidFill>
                <a:latin typeface="Calibri"/>
                <a:ea typeface="Calibri"/>
                <a:cs typeface="Calibri"/>
              </a:rPr>
              <a:t>Protein-family</a:t>
            </a:r>
          </a:p>
          <a:p xmlns:a="http://schemas.openxmlformats.org/drawingml/2006/main">
            <a:pPr algn="ctr">
              <a:buNone/>
              <a:defRPr sz="2175" b="1">
                <a:solidFill>
                  <a:srgbClr val="FFFFFF"/>
                </a:solidFill>
                <a:latin typeface="Calibri"/>
                <a:ea typeface="Calibri"/>
                <a:cs typeface="Calibri"/>
              </a:defRPr>
            </a:pPr>
            <a:r>
              <a:rPr sz="2175" b="1">
                <a:solidFill>
                  <a:srgbClr val="FFFFFF"/>
                </a:solidFill>
                <a:latin typeface="Calibri"/>
                <a:ea typeface="Calibri"/>
                <a:cs typeface="Calibri"/>
              </a:rPr>
              <a:t>atlas</a:t>
            </a:r>
          </a:p>
        </p:txBody>
      </p:sp>
      <p:sp>
        <p:nvSpPr>
          <p:cNvPr id="3" name="Inventory stage">
            <a:extLst xmlns:a="http://schemas.openxmlformats.org/drawingml/2006/main">
              <a:ext uri="{FF2B5EF4-FFF2-40B4-BE49-F238E27FC236}">
                <a16:creationId xmlns:a16="http://schemas.microsoft.com/office/drawing/2014/main" id="{87A34AAE-88CA-4CC2-A1EC-F694181E6CE3}"/>
              </a:ext>
            </a:extLst>
          </p:cNvPr>
          <p:cNvSpPr>
            <a:spLocks xmlns:a="http://schemas.openxmlformats.org/drawingml/2006/main" noGrp="1"/>
          </p:cNvSpPr>
          <p:nvPr/>
        </p:nvSpPr>
        <p:spPr>
          <a:xfrm xmlns:a="http://schemas.openxmlformats.org/drawingml/2006/main">
            <a:off x="3333750" y="238125"/>
            <a:ext cx="2952750" cy="1028700"/>
          </a:xfrm>
          <a:custGeom xmlns:a="http://schemas.openxmlformats.org/drawingml/2006/main">
            <a:pathLst>
              <a:path w="2952750" h="1028700">
                <a:moveTo>
                  <a:pt x="0" y="114300"/>
                </a:moveTo>
                <a:lnTo>
                  <a:pt x="2667000" y="114300"/>
                </a:lnTo>
                <a:lnTo>
                  <a:pt x="2667000" y="0"/>
                </a:lnTo>
                <a:lnTo>
                  <a:pt x="2952750" y="514350"/>
                </a:lnTo>
                <a:lnTo>
                  <a:pt x="2667000" y="1028700"/>
                </a:lnTo>
                <a:lnTo>
                  <a:pt x="2667000" y="914400"/>
                </a:lnTo>
                <a:lnTo>
                  <a:pt x="0" y="914400"/>
                </a:lnTo>
                <a:close/>
              </a:path>
            </a:pathLst>
          </a:custGeom>
          <a:solidFill xmlns:a="http://schemas.openxmlformats.org/drawingml/2006/main">
            <a:srgbClr val="3E8299"/>
          </a:solidFill>
          <a:ln xmlns:a="http://schemas.openxmlformats.org/drawingml/2006/main" w="19050">
            <a:solidFill>
              <a:srgbClr val="AFC9D3"/>
            </a:solidFill>
          </a:ln>
        </p:spPr>
      </p:sp>
      <p:sp>
        <p:nvSpPr>
          <p:cNvPr id="4" name="Inventory stage label">
            <a:extLst xmlns:a="http://schemas.openxmlformats.org/drawingml/2006/main">
              <a:ext uri="{FF2B5EF4-FFF2-40B4-BE49-F238E27FC236}">
                <a16:creationId xmlns:a16="http://schemas.microsoft.com/office/drawing/2014/main" id="{130D8134-DE09-4CB3-A14F-6B3EB04D8274}"/>
              </a:ext>
            </a:extLst>
          </p:cNvPr>
          <p:cNvSpPr>
            <a:spLocks xmlns:a="http://schemas.openxmlformats.org/drawingml/2006/main" noGrp="1"/>
          </p:cNvSpPr>
          <p:nvPr/>
        </p:nvSpPr>
        <p:spPr>
          <a:xfrm xmlns:a="http://schemas.openxmlformats.org/drawingml/2006/main">
            <a:off x="3400425" y="400050"/>
            <a:ext cx="26003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2175" b="1">
                <a:solidFill>
                  <a:srgbClr val="FFFFFF"/>
                </a:solidFill>
                <a:latin typeface="Calibri"/>
                <a:ea typeface="Calibri"/>
                <a:cs typeface="Calibri"/>
              </a:defRPr>
            </a:pPr>
            <a:r>
              <a:rPr sz="2175" b="1">
                <a:solidFill>
                  <a:srgbClr val="FFFFFF"/>
                </a:solidFill>
                <a:latin typeface="Calibri"/>
                <a:ea typeface="Calibri"/>
                <a:cs typeface="Calibri"/>
              </a:rPr>
              <a:t>Two candidate</a:t>
            </a:r>
          </a:p>
          <a:p xmlns:a="http://schemas.openxmlformats.org/drawingml/2006/main">
            <a:pPr algn="ctr">
              <a:buNone/>
              <a:defRPr sz="2175" b="1">
                <a:solidFill>
                  <a:srgbClr val="FFFFFF"/>
                </a:solidFill>
                <a:latin typeface="Calibri"/>
                <a:ea typeface="Calibri"/>
                <a:cs typeface="Calibri"/>
              </a:defRPr>
            </a:pPr>
            <a:r>
              <a:rPr sz="2175" b="1">
                <a:solidFill>
                  <a:srgbClr val="FFFFFF"/>
                </a:solidFill>
                <a:latin typeface="Calibri"/>
                <a:ea typeface="Calibri"/>
                <a:cs typeface="Calibri"/>
              </a:rPr>
              <a:t>inventories</a:t>
            </a:r>
          </a:p>
        </p:txBody>
      </p:sp>
      <p:sp>
        <p:nvSpPr>
          <p:cNvPr id="5" name="Annotation stage">
            <a:extLst xmlns:a="http://schemas.openxmlformats.org/drawingml/2006/main">
              <a:ext uri="{FF2B5EF4-FFF2-40B4-BE49-F238E27FC236}">
                <a16:creationId xmlns:a16="http://schemas.microsoft.com/office/drawing/2014/main" id="{0624E999-D6D1-40E1-B02E-3393BB029FDD}"/>
              </a:ext>
            </a:extLst>
          </p:cNvPr>
          <p:cNvSpPr>
            <a:spLocks xmlns:a="http://schemas.openxmlformats.org/drawingml/2006/main" noGrp="1"/>
          </p:cNvSpPr>
          <p:nvPr/>
        </p:nvSpPr>
        <p:spPr>
          <a:xfrm xmlns:a="http://schemas.openxmlformats.org/drawingml/2006/main">
            <a:off x="6429375" y="238125"/>
            <a:ext cx="3048000" cy="1028700"/>
          </a:xfrm>
          <a:custGeom xmlns:a="http://schemas.openxmlformats.org/drawingml/2006/main">
            <a:pathLst>
              <a:path w="3048000" h="1028700">
                <a:moveTo>
                  <a:pt x="0" y="114300"/>
                </a:moveTo>
                <a:lnTo>
                  <a:pt x="2762250" y="114300"/>
                </a:lnTo>
                <a:lnTo>
                  <a:pt x="2762250" y="0"/>
                </a:lnTo>
                <a:lnTo>
                  <a:pt x="3048000" y="514350"/>
                </a:lnTo>
                <a:lnTo>
                  <a:pt x="2762250" y="1028700"/>
                </a:lnTo>
                <a:lnTo>
                  <a:pt x="2762250" y="914400"/>
                </a:lnTo>
                <a:lnTo>
                  <a:pt x="0" y="914400"/>
                </a:lnTo>
                <a:close/>
              </a:path>
            </a:pathLst>
          </a:custGeom>
          <a:solidFill xmlns:a="http://schemas.openxmlformats.org/drawingml/2006/main">
            <a:srgbClr val="2D7F98"/>
          </a:solidFill>
          <a:ln xmlns:a="http://schemas.openxmlformats.org/drawingml/2006/main" w="19050">
            <a:solidFill>
              <a:srgbClr val="AFC9D3"/>
            </a:solidFill>
          </a:ln>
        </p:spPr>
      </p:sp>
      <p:sp>
        <p:nvSpPr>
          <p:cNvPr id="6" name="Annotation stage label">
            <a:extLst xmlns:a="http://schemas.openxmlformats.org/drawingml/2006/main">
              <a:ext uri="{FF2B5EF4-FFF2-40B4-BE49-F238E27FC236}">
                <a16:creationId xmlns:a16="http://schemas.microsoft.com/office/drawing/2014/main" id="{E15605FF-D9A0-4958-A6F8-8489FCAB4828}"/>
              </a:ext>
            </a:extLst>
          </p:cNvPr>
          <p:cNvSpPr>
            <a:spLocks xmlns:a="http://schemas.openxmlformats.org/drawingml/2006/main" noGrp="1"/>
          </p:cNvSpPr>
          <p:nvPr/>
        </p:nvSpPr>
        <p:spPr>
          <a:xfrm xmlns:a="http://schemas.openxmlformats.org/drawingml/2006/main">
            <a:off x="6496050" y="400050"/>
            <a:ext cx="26955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2175" b="1">
                <a:solidFill>
                  <a:srgbClr val="FFFFFF"/>
                </a:solidFill>
                <a:latin typeface="Calibri"/>
                <a:ea typeface="Calibri"/>
                <a:cs typeface="Calibri"/>
              </a:defRPr>
            </a:pPr>
            <a:r>
              <a:rPr sz="2175" b="1">
                <a:solidFill>
                  <a:srgbClr val="FFFFFF"/>
                </a:solidFill>
                <a:latin typeface="Calibri"/>
                <a:ea typeface="Calibri"/>
                <a:cs typeface="Calibri"/>
              </a:rPr>
              <a:t>Candidate</a:t>
            </a:r>
          </a:p>
          <a:p xmlns:a="http://schemas.openxmlformats.org/drawingml/2006/main">
            <a:pPr algn="ctr">
              <a:buNone/>
              <a:defRPr sz="2175" b="1">
                <a:solidFill>
                  <a:srgbClr val="FFFFFF"/>
                </a:solidFill>
                <a:latin typeface="Calibri"/>
                <a:ea typeface="Calibri"/>
                <a:cs typeface="Calibri"/>
              </a:defRPr>
            </a:pPr>
            <a:r>
              <a:rPr sz="2175" b="1">
                <a:solidFill>
                  <a:srgbClr val="FFFFFF"/>
                </a:solidFill>
                <a:latin typeface="Calibri"/>
                <a:ea typeface="Calibri"/>
                <a:cs typeface="Calibri"/>
              </a:rPr>
              <a:t>annotations</a:t>
            </a:r>
          </a:p>
        </p:txBody>
      </p:sp>
      <p:sp>
        <p:nvSpPr>
          <p:cNvPr id="7" name="Context stage">
            <a:extLst xmlns:a="http://schemas.openxmlformats.org/drawingml/2006/main">
              <a:ext uri="{FF2B5EF4-FFF2-40B4-BE49-F238E27FC236}">
                <a16:creationId xmlns:a16="http://schemas.microsoft.com/office/drawing/2014/main" id="{96D0E159-5F01-4AEF-B611-00FAFB8081B7}"/>
              </a:ext>
            </a:extLst>
          </p:cNvPr>
          <p:cNvSpPr>
            <a:spLocks xmlns:a="http://schemas.openxmlformats.org/drawingml/2006/main" noGrp="1"/>
          </p:cNvSpPr>
          <p:nvPr/>
        </p:nvSpPr>
        <p:spPr>
          <a:xfrm xmlns:a="http://schemas.openxmlformats.org/drawingml/2006/main">
            <a:off x="9620250" y="238125"/>
            <a:ext cx="4476750" cy="1028700"/>
          </a:xfrm>
          <a:custGeom xmlns:a="http://schemas.openxmlformats.org/drawingml/2006/main">
            <a:pathLst>
              <a:path w="4476750" h="1028700">
                <a:moveTo>
                  <a:pt x="0" y="114300"/>
                </a:moveTo>
                <a:lnTo>
                  <a:pt x="4191000" y="114300"/>
                </a:lnTo>
                <a:lnTo>
                  <a:pt x="4191000" y="0"/>
                </a:lnTo>
                <a:lnTo>
                  <a:pt x="4476750" y="514350"/>
                </a:lnTo>
                <a:lnTo>
                  <a:pt x="4191000" y="1028700"/>
                </a:lnTo>
                <a:lnTo>
                  <a:pt x="4191000" y="914400"/>
                </a:lnTo>
                <a:lnTo>
                  <a:pt x="0" y="914400"/>
                </a:lnTo>
                <a:close/>
              </a:path>
            </a:pathLst>
          </a:custGeom>
          <a:solidFill xmlns:a="http://schemas.openxmlformats.org/drawingml/2006/main">
            <a:srgbClr val="1D6383"/>
          </a:solidFill>
          <a:ln xmlns:a="http://schemas.openxmlformats.org/drawingml/2006/main" w="19050">
            <a:solidFill>
              <a:srgbClr val="AFC9D3"/>
            </a:solidFill>
          </a:ln>
        </p:spPr>
      </p:sp>
      <p:sp>
        <p:nvSpPr>
          <p:cNvPr id="8" name="Context stage label">
            <a:extLst xmlns:a="http://schemas.openxmlformats.org/drawingml/2006/main">
              <a:ext uri="{FF2B5EF4-FFF2-40B4-BE49-F238E27FC236}">
                <a16:creationId xmlns:a16="http://schemas.microsoft.com/office/drawing/2014/main" id="{D99611BA-B2DB-44D4-91CC-61AE7570BB56}"/>
              </a:ext>
            </a:extLst>
          </p:cNvPr>
          <p:cNvSpPr>
            <a:spLocks xmlns:a="http://schemas.openxmlformats.org/drawingml/2006/main" noGrp="1"/>
          </p:cNvSpPr>
          <p:nvPr/>
        </p:nvSpPr>
        <p:spPr>
          <a:xfrm xmlns:a="http://schemas.openxmlformats.org/drawingml/2006/main">
            <a:off x="9686925" y="400050"/>
            <a:ext cx="41243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2175" b="1">
                <a:solidFill>
                  <a:srgbClr val="FFFFFF"/>
                </a:solidFill>
                <a:latin typeface="Calibri"/>
                <a:ea typeface="Calibri"/>
                <a:cs typeface="Calibri"/>
              </a:defRPr>
            </a:pPr>
            <a:r>
              <a:rPr sz="2175" b="1">
                <a:solidFill>
                  <a:srgbClr val="FFFFFF"/>
                </a:solidFill>
                <a:latin typeface="Calibri"/>
                <a:ea typeface="Calibri"/>
                <a:cs typeface="Calibri"/>
              </a:rPr>
              <a:t>Biological context</a:t>
            </a:r>
          </a:p>
          <a:p xmlns:a="http://schemas.openxmlformats.org/drawingml/2006/main">
            <a:pPr algn="ctr">
              <a:buNone/>
              <a:defRPr sz="2175" b="1">
                <a:solidFill>
                  <a:srgbClr val="FFFFFF"/>
                </a:solidFill>
                <a:latin typeface="Calibri"/>
                <a:ea typeface="Calibri"/>
                <a:cs typeface="Calibri"/>
              </a:defRPr>
            </a:pPr>
            <a:r>
              <a:rPr sz="2175" b="1">
                <a:solidFill>
                  <a:srgbClr val="FFFFFF"/>
                </a:solidFill>
                <a:latin typeface="Calibri"/>
                <a:ea typeface="Calibri"/>
                <a:cs typeface="Calibri"/>
              </a:rPr>
              <a:t>for candidate selection</a:t>
            </a:r>
          </a:p>
        </p:txBody>
      </p:sp>
      <p:sp>
        <p:nvSpPr>
          <p:cNvPr id="9" name="Primary atlas panel">
            <a:extLst xmlns:a="http://schemas.openxmlformats.org/drawingml/2006/main">
              <a:ext uri="{FF2B5EF4-FFF2-40B4-BE49-F238E27FC236}">
                <a16:creationId xmlns:a16="http://schemas.microsoft.com/office/drawing/2014/main" id="{E8B7A84F-5B64-4C6A-9F57-8A4AA7839E3F}"/>
              </a:ext>
            </a:extLst>
          </p:cNvPr>
          <p:cNvSpPr>
            <a:spLocks xmlns:a="http://schemas.openxmlformats.org/drawingml/2006/main" noGrp="1"/>
          </p:cNvSpPr>
          <p:nvPr/>
        </p:nvSpPr>
        <p:spPr>
          <a:xfrm xmlns:a="http://schemas.openxmlformats.org/drawingml/2006/main">
            <a:off x="190500" y="1619250"/>
            <a:ext cx="3000375" cy="5524500"/>
          </a:xfrm>
          <a:prstGeom xmlns:a="http://schemas.openxmlformats.org/drawingml/2006/main" prst="roundRect">
            <a:avLst>
              <a:gd name="adj" fmla="val 5714"/>
            </a:avLst>
          </a:prstGeom>
          <a:solidFill xmlns:a="http://schemas.openxmlformats.org/drawingml/2006/main">
            <a:srgbClr val="FAFCFD"/>
          </a:solidFill>
          <a:ln xmlns:a="http://schemas.openxmlformats.org/drawingml/2006/main" w="19050">
            <a:solidFill>
              <a:srgbClr val="B5CAD5"/>
            </a:solidFill>
          </a:ln>
        </p:spPr>
      </p:sp>
      <p:sp>
        <p:nvSpPr>
          <p:cNvPr id="10" name="Assembly archive body">
            <a:extLst xmlns:a="http://schemas.openxmlformats.org/drawingml/2006/main">
              <a:ext uri="{FF2B5EF4-FFF2-40B4-BE49-F238E27FC236}">
                <a16:creationId xmlns:a16="http://schemas.microsoft.com/office/drawing/2014/main" id="{8E156C48-D9B3-4547-8D03-876C9866B584}"/>
              </a:ext>
            </a:extLst>
          </p:cNvPr>
          <p:cNvSpPr>
            <a:spLocks xmlns:a="http://schemas.openxmlformats.org/drawingml/2006/main" noGrp="1"/>
          </p:cNvSpPr>
          <p:nvPr/>
        </p:nvSpPr>
        <p:spPr>
          <a:xfrm xmlns:a="http://schemas.openxmlformats.org/drawingml/2006/main">
            <a:off x="1323975" y="1981200"/>
            <a:ext cx="723900" cy="723900"/>
          </a:xfrm>
          <a:prstGeom xmlns:a="http://schemas.openxmlformats.org/drawingml/2006/main" prst="rect">
            <a:avLst/>
          </a:prstGeom>
          <a:solidFill xmlns:a="http://schemas.openxmlformats.org/drawingml/2006/main">
            <a:srgbClr val="75ADCC"/>
          </a:solidFill>
          <a:ln xmlns:a="http://schemas.openxmlformats.org/drawingml/2006/main" w="19050">
            <a:solidFill>
              <a:srgbClr val="2F6F96"/>
            </a:solidFill>
          </a:ln>
        </p:spPr>
      </p:sp>
      <p:sp>
        <p:nvSpPr>
          <p:cNvPr id="11" name="Archive disc 0">
            <a:extLst xmlns:a="http://schemas.openxmlformats.org/drawingml/2006/main">
              <a:ext uri="{FF2B5EF4-FFF2-40B4-BE49-F238E27FC236}">
                <a16:creationId xmlns:a16="http://schemas.microsoft.com/office/drawing/2014/main" id="{01688EC8-532C-496B-9EF4-CF056A56B28E}"/>
              </a:ext>
            </a:extLst>
          </p:cNvPr>
          <p:cNvSpPr>
            <a:spLocks xmlns:a="http://schemas.openxmlformats.org/drawingml/2006/main" noGrp="1"/>
          </p:cNvSpPr>
          <p:nvPr/>
        </p:nvSpPr>
        <p:spPr>
          <a:xfrm xmlns:a="http://schemas.openxmlformats.org/drawingml/2006/main">
            <a:off x="1323975" y="1847850"/>
            <a:ext cx="723900" cy="228600"/>
          </a:xfrm>
          <a:prstGeom xmlns:a="http://schemas.openxmlformats.org/drawingml/2006/main" prst="ellipse">
            <a:avLst/>
          </a:prstGeom>
          <a:solidFill xmlns:a="http://schemas.openxmlformats.org/drawingml/2006/main">
            <a:srgbClr val="75ADCC"/>
          </a:solidFill>
          <a:ln xmlns:a="http://schemas.openxmlformats.org/drawingml/2006/main" w="19050">
            <a:solidFill>
              <a:srgbClr val="2F6F96"/>
            </a:solidFill>
          </a:ln>
        </p:spPr>
      </p:sp>
      <p:sp>
        <p:nvSpPr>
          <p:cNvPr id="12" name="Archive disc 1">
            <a:extLst xmlns:a="http://schemas.openxmlformats.org/drawingml/2006/main">
              <a:ext uri="{FF2B5EF4-FFF2-40B4-BE49-F238E27FC236}">
                <a16:creationId xmlns:a16="http://schemas.microsoft.com/office/drawing/2014/main" id="{69C136F5-DBAD-4CDA-9D39-B9828DF1EA11}"/>
              </a:ext>
            </a:extLst>
          </p:cNvPr>
          <p:cNvSpPr>
            <a:spLocks xmlns:a="http://schemas.openxmlformats.org/drawingml/2006/main" noGrp="1"/>
          </p:cNvSpPr>
          <p:nvPr/>
        </p:nvSpPr>
        <p:spPr>
          <a:xfrm xmlns:a="http://schemas.openxmlformats.org/drawingml/2006/main">
            <a:off x="1323975" y="2066925"/>
            <a:ext cx="723900" cy="228600"/>
          </a:xfrm>
          <a:prstGeom xmlns:a="http://schemas.openxmlformats.org/drawingml/2006/main" prst="ellipse">
            <a:avLst/>
          </a:prstGeom>
          <a:solidFill xmlns:a="http://schemas.openxmlformats.org/drawingml/2006/main">
            <a:srgbClr val="75ADCC"/>
          </a:solidFill>
          <a:ln xmlns:a="http://schemas.openxmlformats.org/drawingml/2006/main" w="19050">
            <a:solidFill>
              <a:srgbClr val="2F6F96"/>
            </a:solidFill>
          </a:ln>
        </p:spPr>
      </p:sp>
      <p:sp>
        <p:nvSpPr>
          <p:cNvPr id="13" name="Archive disc 2">
            <a:extLst xmlns:a="http://schemas.openxmlformats.org/drawingml/2006/main">
              <a:ext uri="{FF2B5EF4-FFF2-40B4-BE49-F238E27FC236}">
                <a16:creationId xmlns:a16="http://schemas.microsoft.com/office/drawing/2014/main" id="{067686AC-1AD3-4937-989E-CC02229FECF0}"/>
              </a:ext>
            </a:extLst>
          </p:cNvPr>
          <p:cNvSpPr>
            <a:spLocks xmlns:a="http://schemas.openxmlformats.org/drawingml/2006/main" noGrp="1"/>
          </p:cNvSpPr>
          <p:nvPr/>
        </p:nvSpPr>
        <p:spPr>
          <a:xfrm xmlns:a="http://schemas.openxmlformats.org/drawingml/2006/main">
            <a:off x="1323975" y="2286000"/>
            <a:ext cx="723900" cy="228600"/>
          </a:xfrm>
          <a:prstGeom xmlns:a="http://schemas.openxmlformats.org/drawingml/2006/main" prst="ellipse">
            <a:avLst/>
          </a:prstGeom>
          <a:solidFill xmlns:a="http://schemas.openxmlformats.org/drawingml/2006/main">
            <a:srgbClr val="75ADCC"/>
          </a:solidFill>
          <a:ln xmlns:a="http://schemas.openxmlformats.org/drawingml/2006/main" w="19050">
            <a:solidFill>
              <a:srgbClr val="2F6F96"/>
            </a:solidFill>
          </a:ln>
        </p:spPr>
      </p:sp>
      <p:sp>
        <p:nvSpPr>
          <p:cNvPr id="14" name="Archive disc 3">
            <a:extLst xmlns:a="http://schemas.openxmlformats.org/drawingml/2006/main">
              <a:ext uri="{FF2B5EF4-FFF2-40B4-BE49-F238E27FC236}">
                <a16:creationId xmlns:a16="http://schemas.microsoft.com/office/drawing/2014/main" id="{8A4987D2-9179-4195-B67C-44ADD72E1C18}"/>
              </a:ext>
            </a:extLst>
          </p:cNvPr>
          <p:cNvSpPr>
            <a:spLocks xmlns:a="http://schemas.openxmlformats.org/drawingml/2006/main" noGrp="1"/>
          </p:cNvSpPr>
          <p:nvPr/>
        </p:nvSpPr>
        <p:spPr>
          <a:xfrm xmlns:a="http://schemas.openxmlformats.org/drawingml/2006/main">
            <a:off x="1323975" y="2505075"/>
            <a:ext cx="723900" cy="228600"/>
          </a:xfrm>
          <a:prstGeom xmlns:a="http://schemas.openxmlformats.org/drawingml/2006/main" prst="ellipse">
            <a:avLst/>
          </a:prstGeom>
          <a:solidFill xmlns:a="http://schemas.openxmlformats.org/drawingml/2006/main">
            <a:srgbClr val="75ADCC"/>
          </a:solidFill>
          <a:ln xmlns:a="http://schemas.openxmlformats.org/drawingml/2006/main" w="19050">
            <a:solidFill>
              <a:srgbClr val="2F6F96"/>
            </a:solidFill>
          </a:ln>
        </p:spPr>
      </p:sp>
      <p:sp>
        <p:nvSpPr>
          <p:cNvPr id="15" name="Archive indicator 0">
            <a:extLst xmlns:a="http://schemas.openxmlformats.org/drawingml/2006/main">
              <a:ext uri="{FF2B5EF4-FFF2-40B4-BE49-F238E27FC236}">
                <a16:creationId xmlns:a16="http://schemas.microsoft.com/office/drawing/2014/main" id="{C9B8787C-A211-46DF-B761-F7CEF5C654F9}"/>
              </a:ext>
            </a:extLst>
          </p:cNvPr>
          <p:cNvSpPr>
            <a:spLocks xmlns:a="http://schemas.openxmlformats.org/drawingml/2006/main" noGrp="1"/>
          </p:cNvSpPr>
          <p:nvPr/>
        </p:nvSpPr>
        <p:spPr>
          <a:xfrm xmlns:a="http://schemas.openxmlformats.org/drawingml/2006/main">
            <a:off x="1885950" y="2124075"/>
            <a:ext cx="47625" cy="47625"/>
          </a:xfrm>
          <a:prstGeom xmlns:a="http://schemas.openxmlformats.org/drawingml/2006/main" prst="ellipse">
            <a:avLst/>
          </a:prstGeom>
          <a:solidFill xmlns:a="http://schemas.openxmlformats.org/drawingml/2006/main">
            <a:srgbClr val="FFFFFF"/>
          </a:solidFill>
          <a:ln xmlns:a="http://schemas.openxmlformats.org/drawingml/2006/main" w="9525">
            <a:solidFill>
              <a:srgbClr val="2F6F96"/>
            </a:solidFill>
          </a:ln>
        </p:spPr>
      </p:sp>
      <p:sp>
        <p:nvSpPr>
          <p:cNvPr id="16" name="Archive indicator 1">
            <a:extLst xmlns:a="http://schemas.openxmlformats.org/drawingml/2006/main">
              <a:ext uri="{FF2B5EF4-FFF2-40B4-BE49-F238E27FC236}">
                <a16:creationId xmlns:a16="http://schemas.microsoft.com/office/drawing/2014/main" id="{D540CD2E-3629-4037-A591-A717188B3272}"/>
              </a:ext>
            </a:extLst>
          </p:cNvPr>
          <p:cNvSpPr>
            <a:spLocks xmlns:a="http://schemas.openxmlformats.org/drawingml/2006/main" noGrp="1"/>
          </p:cNvSpPr>
          <p:nvPr/>
        </p:nvSpPr>
        <p:spPr>
          <a:xfrm xmlns:a="http://schemas.openxmlformats.org/drawingml/2006/main">
            <a:off x="1885950" y="2343150"/>
            <a:ext cx="47625" cy="47625"/>
          </a:xfrm>
          <a:prstGeom xmlns:a="http://schemas.openxmlformats.org/drawingml/2006/main" prst="ellipse">
            <a:avLst/>
          </a:prstGeom>
          <a:solidFill xmlns:a="http://schemas.openxmlformats.org/drawingml/2006/main">
            <a:srgbClr val="FFFFFF"/>
          </a:solidFill>
          <a:ln xmlns:a="http://schemas.openxmlformats.org/drawingml/2006/main" w="9525">
            <a:solidFill>
              <a:srgbClr val="2F6F96"/>
            </a:solidFill>
          </a:ln>
        </p:spPr>
      </p:sp>
      <p:sp>
        <p:nvSpPr>
          <p:cNvPr id="17" name="Archive indicator 2">
            <a:extLst xmlns:a="http://schemas.openxmlformats.org/drawingml/2006/main">
              <a:ext uri="{FF2B5EF4-FFF2-40B4-BE49-F238E27FC236}">
                <a16:creationId xmlns:a16="http://schemas.microsoft.com/office/drawing/2014/main" id="{E60F4015-3FFB-471D-9CAA-405766CE7D3C}"/>
              </a:ext>
            </a:extLst>
          </p:cNvPr>
          <p:cNvSpPr>
            <a:spLocks xmlns:a="http://schemas.openxmlformats.org/drawingml/2006/main" noGrp="1"/>
          </p:cNvSpPr>
          <p:nvPr/>
        </p:nvSpPr>
        <p:spPr>
          <a:xfrm xmlns:a="http://schemas.openxmlformats.org/drawingml/2006/main">
            <a:off x="1885950" y="2562225"/>
            <a:ext cx="47625" cy="47625"/>
          </a:xfrm>
          <a:prstGeom xmlns:a="http://schemas.openxmlformats.org/drawingml/2006/main" prst="ellipse">
            <a:avLst/>
          </a:prstGeom>
          <a:solidFill xmlns:a="http://schemas.openxmlformats.org/drawingml/2006/main">
            <a:srgbClr val="FFFFFF"/>
          </a:solidFill>
          <a:ln xmlns:a="http://schemas.openxmlformats.org/drawingml/2006/main" w="9525">
            <a:solidFill>
              <a:srgbClr val="2F6F96"/>
            </a:solidFill>
          </a:ln>
        </p:spPr>
      </p:sp>
      <p:sp>
        <p:nvSpPr>
          <p:cNvPr id="18" name="Assembly count">
            <a:extLst xmlns:a="http://schemas.openxmlformats.org/drawingml/2006/main">
              <a:ext uri="{FF2B5EF4-FFF2-40B4-BE49-F238E27FC236}">
                <a16:creationId xmlns:a16="http://schemas.microsoft.com/office/drawing/2014/main" id="{2ED63043-5EA4-470E-9282-98CCDE908C74}"/>
              </a:ext>
            </a:extLst>
          </p:cNvPr>
          <p:cNvSpPr>
            <a:spLocks xmlns:a="http://schemas.openxmlformats.org/drawingml/2006/main" noGrp="1"/>
          </p:cNvSpPr>
          <p:nvPr/>
        </p:nvSpPr>
        <p:spPr>
          <a:xfrm xmlns:a="http://schemas.openxmlformats.org/drawingml/2006/main">
            <a:off x="381000" y="2962275"/>
            <a:ext cx="2619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2400" b="1">
                <a:solidFill>
                  <a:srgbClr val="172D38"/>
                </a:solidFill>
                <a:latin typeface="Calibri"/>
                <a:ea typeface="Calibri"/>
                <a:cs typeface="Calibri"/>
              </a:defRPr>
            </a:pPr>
            <a:r>
              <a:rPr sz="2400" b="1">
                <a:solidFill>
                  <a:srgbClr val="172D38"/>
                </a:solidFill>
                <a:latin typeface="Calibri"/>
                <a:ea typeface="Calibri"/>
                <a:cs typeface="Calibri"/>
              </a:rPr>
              <a:t>426 assemblies</a:t>
            </a:r>
          </a:p>
        </p:txBody>
      </p:sp>
      <p:sp>
        <p:nvSpPr>
          <p:cNvPr id="19" name="Target definition">
            <a:extLst xmlns:a="http://schemas.openxmlformats.org/drawingml/2006/main">
              <a:ext uri="{FF2B5EF4-FFF2-40B4-BE49-F238E27FC236}">
                <a16:creationId xmlns:a16="http://schemas.microsoft.com/office/drawing/2014/main" id="{913077D0-AAC2-45F9-A806-12682E233128}"/>
              </a:ext>
            </a:extLst>
          </p:cNvPr>
          <p:cNvSpPr>
            <a:spLocks xmlns:a="http://schemas.openxmlformats.org/drawingml/2006/main" noGrp="1"/>
          </p:cNvSpPr>
          <p:nvPr/>
        </p:nvSpPr>
        <p:spPr>
          <a:xfrm xmlns:a="http://schemas.openxmlformats.org/drawingml/2006/main">
            <a:off x="381000" y="3838575"/>
            <a:ext cx="2619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2325" b="1">
                <a:solidFill>
                  <a:srgbClr val="172D38"/>
                </a:solidFill>
                <a:latin typeface="Calibri"/>
                <a:ea typeface="Calibri"/>
                <a:cs typeface="Calibri"/>
              </a:defRPr>
            </a:pPr>
            <a:r>
              <a:rPr sz="2325" b="1">
                <a:solidFill>
                  <a:srgbClr val="172D38"/>
                </a:solidFill>
                <a:latin typeface="Calibri"/>
                <a:ea typeface="Calibri"/>
                <a:cs typeface="Calibri"/>
              </a:rPr>
              <a:t>nifHDK labels</a:t>
            </a:r>
          </a:p>
        </p:txBody>
      </p:sp>
      <p:sp>
        <p:nvSpPr>
          <p:cNvPr id="20" name="Separate nifH marker">
            <a:extLst xmlns:a="http://schemas.openxmlformats.org/drawingml/2006/main">
              <a:ext uri="{FF2B5EF4-FFF2-40B4-BE49-F238E27FC236}">
                <a16:creationId xmlns:a16="http://schemas.microsoft.com/office/drawing/2014/main" id="{21D5AFB1-AE4A-4637-89A3-82DBC1A11DF9}"/>
              </a:ext>
            </a:extLst>
          </p:cNvPr>
          <p:cNvSpPr>
            <a:spLocks xmlns:a="http://schemas.openxmlformats.org/drawingml/2006/main" noGrp="1"/>
          </p:cNvSpPr>
          <p:nvPr/>
        </p:nvSpPr>
        <p:spPr>
          <a:xfrm xmlns:a="http://schemas.openxmlformats.org/drawingml/2006/main">
            <a:off x="409575" y="4410075"/>
            <a:ext cx="762000" cy="457200"/>
          </a:xfrm>
          <a:prstGeom xmlns:a="http://schemas.openxmlformats.org/drawingml/2006/main" prst="roundRect">
            <a:avLst>
              <a:gd name="adj" fmla="val 37500"/>
            </a:avLst>
          </a:prstGeom>
          <a:solidFill xmlns:a="http://schemas.openxmlformats.org/drawingml/2006/main">
            <a:srgbClr val="2D9A78"/>
          </a:solidFill>
          <a:ln xmlns:a="http://schemas.openxmlformats.org/drawingml/2006/main" w="14288">
            <a:solidFill>
              <a:srgbClr val="176B74"/>
            </a:solidFill>
          </a:ln>
        </p:spPr>
      </p:sp>
      <p:sp>
        <p:nvSpPr>
          <p:cNvPr id="21" name="nifH label">
            <a:extLst xmlns:a="http://schemas.openxmlformats.org/drawingml/2006/main">
              <a:ext uri="{FF2B5EF4-FFF2-40B4-BE49-F238E27FC236}">
                <a16:creationId xmlns:a16="http://schemas.microsoft.com/office/drawing/2014/main" id="{D9CAA0DF-6255-4EE4-82A2-8314D37C8DBD}"/>
              </a:ext>
            </a:extLst>
          </p:cNvPr>
          <p:cNvSpPr>
            <a:spLocks xmlns:a="http://schemas.openxmlformats.org/drawingml/2006/main" noGrp="1"/>
          </p:cNvSpPr>
          <p:nvPr/>
        </p:nvSpPr>
        <p:spPr>
          <a:xfrm xmlns:a="http://schemas.openxmlformats.org/drawingml/2006/main">
            <a:off x="409575" y="4429125"/>
            <a:ext cx="762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2175" b="1">
                <a:solidFill>
                  <a:srgbClr val="FFFFFF"/>
                </a:solidFill>
                <a:latin typeface="Calibri"/>
                <a:ea typeface="Calibri"/>
                <a:cs typeface="Calibri"/>
              </a:defRPr>
            </a:pPr>
            <a:r>
              <a:rPr sz="2175" b="1">
                <a:solidFill>
                  <a:srgbClr val="FFFFFF"/>
                </a:solidFill>
                <a:latin typeface="Calibri"/>
                <a:ea typeface="Calibri"/>
                <a:cs typeface="Calibri"/>
              </a:rPr>
              <a:t>nifH</a:t>
            </a:r>
          </a:p>
        </p:txBody>
      </p:sp>
      <p:sp>
        <p:nvSpPr>
          <p:cNvPr id="22" name="Separate nifD marker">
            <a:extLst xmlns:a="http://schemas.openxmlformats.org/drawingml/2006/main">
              <a:ext uri="{FF2B5EF4-FFF2-40B4-BE49-F238E27FC236}">
                <a16:creationId xmlns:a16="http://schemas.microsoft.com/office/drawing/2014/main" id="{231A4D4A-0B88-4ED2-919A-514080A7FE9E}"/>
              </a:ext>
            </a:extLst>
          </p:cNvPr>
          <p:cNvSpPr>
            <a:spLocks xmlns:a="http://schemas.openxmlformats.org/drawingml/2006/main" noGrp="1"/>
          </p:cNvSpPr>
          <p:nvPr/>
        </p:nvSpPr>
        <p:spPr>
          <a:xfrm xmlns:a="http://schemas.openxmlformats.org/drawingml/2006/main">
            <a:off x="1276350" y="4410075"/>
            <a:ext cx="762000" cy="457200"/>
          </a:xfrm>
          <a:prstGeom xmlns:a="http://schemas.openxmlformats.org/drawingml/2006/main" prst="roundRect">
            <a:avLst>
              <a:gd name="adj" fmla="val 37500"/>
            </a:avLst>
          </a:prstGeom>
          <a:solidFill xmlns:a="http://schemas.openxmlformats.org/drawingml/2006/main">
            <a:srgbClr val="176B74"/>
          </a:solidFill>
          <a:ln xmlns:a="http://schemas.openxmlformats.org/drawingml/2006/main" w="14288">
            <a:solidFill>
              <a:srgbClr val="176B74"/>
            </a:solidFill>
          </a:ln>
        </p:spPr>
      </p:sp>
      <p:sp>
        <p:nvSpPr>
          <p:cNvPr id="23" name="nifD label">
            <a:extLst xmlns:a="http://schemas.openxmlformats.org/drawingml/2006/main">
              <a:ext uri="{FF2B5EF4-FFF2-40B4-BE49-F238E27FC236}">
                <a16:creationId xmlns:a16="http://schemas.microsoft.com/office/drawing/2014/main" id="{4E7F08F2-E9A8-4C77-B298-2E59247B8A1E}"/>
              </a:ext>
            </a:extLst>
          </p:cNvPr>
          <p:cNvSpPr>
            <a:spLocks xmlns:a="http://schemas.openxmlformats.org/drawingml/2006/main" noGrp="1"/>
          </p:cNvSpPr>
          <p:nvPr/>
        </p:nvSpPr>
        <p:spPr>
          <a:xfrm xmlns:a="http://schemas.openxmlformats.org/drawingml/2006/main">
            <a:off x="1276350" y="4429125"/>
            <a:ext cx="762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2175" b="1">
                <a:solidFill>
                  <a:srgbClr val="FFFFFF"/>
                </a:solidFill>
                <a:latin typeface="Calibri"/>
                <a:ea typeface="Calibri"/>
                <a:cs typeface="Calibri"/>
              </a:defRPr>
            </a:pPr>
            <a:r>
              <a:rPr sz="2175" b="1">
                <a:solidFill>
                  <a:srgbClr val="FFFFFF"/>
                </a:solidFill>
                <a:latin typeface="Calibri"/>
                <a:ea typeface="Calibri"/>
                <a:cs typeface="Calibri"/>
              </a:rPr>
              <a:t>nifD</a:t>
            </a:r>
          </a:p>
        </p:txBody>
      </p:sp>
      <p:sp>
        <p:nvSpPr>
          <p:cNvPr id="24" name="Separate nifK marker">
            <a:extLst xmlns:a="http://schemas.openxmlformats.org/drawingml/2006/main">
              <a:ext uri="{FF2B5EF4-FFF2-40B4-BE49-F238E27FC236}">
                <a16:creationId xmlns:a16="http://schemas.microsoft.com/office/drawing/2014/main" id="{23047494-9925-4766-B900-9B3247D000E2}"/>
              </a:ext>
            </a:extLst>
          </p:cNvPr>
          <p:cNvSpPr>
            <a:spLocks xmlns:a="http://schemas.openxmlformats.org/drawingml/2006/main" noGrp="1"/>
          </p:cNvSpPr>
          <p:nvPr/>
        </p:nvSpPr>
        <p:spPr>
          <a:xfrm xmlns:a="http://schemas.openxmlformats.org/drawingml/2006/main">
            <a:off x="2143125" y="4410075"/>
            <a:ext cx="762000" cy="457200"/>
          </a:xfrm>
          <a:prstGeom xmlns:a="http://schemas.openxmlformats.org/drawingml/2006/main" prst="roundRect">
            <a:avLst>
              <a:gd name="adj" fmla="val 37500"/>
            </a:avLst>
          </a:prstGeom>
          <a:solidFill xmlns:a="http://schemas.openxmlformats.org/drawingml/2006/main">
            <a:srgbClr val="2D9A78"/>
          </a:solidFill>
          <a:ln xmlns:a="http://schemas.openxmlformats.org/drawingml/2006/main" w="14288">
            <a:solidFill>
              <a:srgbClr val="176B74"/>
            </a:solidFill>
          </a:ln>
        </p:spPr>
      </p:sp>
      <p:sp>
        <p:nvSpPr>
          <p:cNvPr id="25" name="nifK label">
            <a:extLst xmlns:a="http://schemas.openxmlformats.org/drawingml/2006/main">
              <a:ext uri="{FF2B5EF4-FFF2-40B4-BE49-F238E27FC236}">
                <a16:creationId xmlns:a16="http://schemas.microsoft.com/office/drawing/2014/main" id="{90265645-D995-4D92-9CBF-20D57934A369}"/>
              </a:ext>
            </a:extLst>
          </p:cNvPr>
          <p:cNvSpPr>
            <a:spLocks xmlns:a="http://schemas.openxmlformats.org/drawingml/2006/main" noGrp="1"/>
          </p:cNvSpPr>
          <p:nvPr/>
        </p:nvSpPr>
        <p:spPr>
          <a:xfrm xmlns:a="http://schemas.openxmlformats.org/drawingml/2006/main">
            <a:off x="2143125" y="4429125"/>
            <a:ext cx="762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2175" b="1">
                <a:solidFill>
                  <a:srgbClr val="FFFFFF"/>
                </a:solidFill>
                <a:latin typeface="Calibri"/>
                <a:ea typeface="Calibri"/>
                <a:cs typeface="Calibri"/>
              </a:defRPr>
            </a:pPr>
            <a:r>
              <a:rPr sz="2175" b="1">
                <a:solidFill>
                  <a:srgbClr val="FFFFFF"/>
                </a:solidFill>
                <a:latin typeface="Calibri"/>
                <a:ea typeface="Calibri"/>
                <a:cs typeface="Calibri"/>
              </a:rPr>
              <a:t>nifK</a:t>
            </a:r>
          </a:p>
        </p:txBody>
      </p:sp>
      <p:sp>
        <p:nvSpPr>
          <p:cNvPr id="26" name="Family matrix 0 0">
            <a:extLst xmlns:a="http://schemas.openxmlformats.org/drawingml/2006/main">
              <a:ext uri="{FF2B5EF4-FFF2-40B4-BE49-F238E27FC236}">
                <a16:creationId xmlns:a16="http://schemas.microsoft.com/office/drawing/2014/main" id="{78777B4E-F1B5-4EDD-B6FB-BE277B74C495}"/>
              </a:ext>
            </a:extLst>
          </p:cNvPr>
          <p:cNvSpPr>
            <a:spLocks xmlns:a="http://schemas.openxmlformats.org/drawingml/2006/main" noGrp="1"/>
          </p:cNvSpPr>
          <p:nvPr/>
        </p:nvSpPr>
        <p:spPr>
          <a:xfrm xmlns:a="http://schemas.openxmlformats.org/drawingml/2006/main">
            <a:off x="428625" y="5581650"/>
            <a:ext cx="114300" cy="114300"/>
          </a:xfrm>
          <a:prstGeom xmlns:a="http://schemas.openxmlformats.org/drawingml/2006/main" prst="rect">
            <a:avLst/>
          </a:prstGeom>
          <a:solidFill xmlns:a="http://schemas.openxmlformats.org/drawingml/2006/main">
            <a:srgbClr val="6FA8DC"/>
          </a:solidFill>
          <a:ln xmlns:a="http://schemas.openxmlformats.org/drawingml/2006/main" w="4763">
            <a:solidFill>
              <a:srgbClr val="EAF2F5"/>
            </a:solidFill>
          </a:ln>
        </p:spPr>
      </p:sp>
      <p:sp>
        <p:nvSpPr>
          <p:cNvPr id="27" name="Family matrix 0 1">
            <a:extLst xmlns:a="http://schemas.openxmlformats.org/drawingml/2006/main">
              <a:ext uri="{FF2B5EF4-FFF2-40B4-BE49-F238E27FC236}">
                <a16:creationId xmlns:a16="http://schemas.microsoft.com/office/drawing/2014/main" id="{C15F7080-A194-4374-922A-CA7CC9D08BC5}"/>
              </a:ext>
            </a:extLst>
          </p:cNvPr>
          <p:cNvSpPr>
            <a:spLocks xmlns:a="http://schemas.openxmlformats.org/drawingml/2006/main" noGrp="1"/>
          </p:cNvSpPr>
          <p:nvPr/>
        </p:nvSpPr>
        <p:spPr>
          <a:xfrm xmlns:a="http://schemas.openxmlformats.org/drawingml/2006/main">
            <a:off x="552450" y="5581650"/>
            <a:ext cx="114300" cy="114300"/>
          </a:xfrm>
          <a:prstGeom xmlns:a="http://schemas.openxmlformats.org/drawingml/2006/main" prst="rect">
            <a:avLst/>
          </a:prstGeom>
          <a:solidFill xmlns:a="http://schemas.openxmlformats.org/drawingml/2006/main">
            <a:srgbClr val="D9EAD3"/>
          </a:solidFill>
          <a:ln xmlns:a="http://schemas.openxmlformats.org/drawingml/2006/main" w="4763">
            <a:solidFill>
              <a:srgbClr val="EAF2F5"/>
            </a:solidFill>
          </a:ln>
        </p:spPr>
      </p:sp>
      <p:sp>
        <p:nvSpPr>
          <p:cNvPr id="28" name="Family matrix 0 2">
            <a:extLst xmlns:a="http://schemas.openxmlformats.org/drawingml/2006/main">
              <a:ext uri="{FF2B5EF4-FFF2-40B4-BE49-F238E27FC236}">
                <a16:creationId xmlns:a16="http://schemas.microsoft.com/office/drawing/2014/main" id="{9C0A3660-A8AC-4428-8C2E-39DDD25A6258}"/>
              </a:ext>
            </a:extLst>
          </p:cNvPr>
          <p:cNvSpPr>
            <a:spLocks xmlns:a="http://schemas.openxmlformats.org/drawingml/2006/main" noGrp="1"/>
          </p:cNvSpPr>
          <p:nvPr/>
        </p:nvSpPr>
        <p:spPr>
          <a:xfrm xmlns:a="http://schemas.openxmlformats.org/drawingml/2006/main">
            <a:off x="676275" y="5581650"/>
            <a:ext cx="114300" cy="114300"/>
          </a:xfrm>
          <a:prstGeom xmlns:a="http://schemas.openxmlformats.org/drawingml/2006/main" prst="rect">
            <a:avLst/>
          </a:prstGeom>
          <a:solidFill xmlns:a="http://schemas.openxmlformats.org/drawingml/2006/main">
            <a:srgbClr val="6FA8DC"/>
          </a:solidFill>
          <a:ln xmlns:a="http://schemas.openxmlformats.org/drawingml/2006/main" w="4763">
            <a:solidFill>
              <a:srgbClr val="EAF2F5"/>
            </a:solidFill>
          </a:ln>
        </p:spPr>
      </p:sp>
      <p:sp>
        <p:nvSpPr>
          <p:cNvPr id="29" name="Family matrix 0 3">
            <a:extLst xmlns:a="http://schemas.openxmlformats.org/drawingml/2006/main">
              <a:ext uri="{FF2B5EF4-FFF2-40B4-BE49-F238E27FC236}">
                <a16:creationId xmlns:a16="http://schemas.microsoft.com/office/drawing/2014/main" id="{DCCDD3B4-0013-425A-9E42-DEFF57A6F21F}"/>
              </a:ext>
            </a:extLst>
          </p:cNvPr>
          <p:cNvSpPr>
            <a:spLocks xmlns:a="http://schemas.openxmlformats.org/drawingml/2006/main" noGrp="1"/>
          </p:cNvSpPr>
          <p:nvPr/>
        </p:nvSpPr>
        <p:spPr>
          <a:xfrm xmlns:a="http://schemas.openxmlformats.org/drawingml/2006/main">
            <a:off x="800100" y="5581650"/>
            <a:ext cx="114300" cy="114300"/>
          </a:xfrm>
          <a:prstGeom xmlns:a="http://schemas.openxmlformats.org/drawingml/2006/main" prst="rect">
            <a:avLst/>
          </a:prstGeom>
          <a:solidFill xmlns:a="http://schemas.openxmlformats.org/drawingml/2006/main">
            <a:srgbClr val="D9EAD3"/>
          </a:solidFill>
          <a:ln xmlns:a="http://schemas.openxmlformats.org/drawingml/2006/main" w="4763">
            <a:solidFill>
              <a:srgbClr val="EAF2F5"/>
            </a:solidFill>
          </a:ln>
        </p:spPr>
      </p:sp>
      <p:sp>
        <p:nvSpPr>
          <p:cNvPr id="30" name="Family matrix 0 4">
            <a:extLst xmlns:a="http://schemas.openxmlformats.org/drawingml/2006/main">
              <a:ext uri="{FF2B5EF4-FFF2-40B4-BE49-F238E27FC236}">
                <a16:creationId xmlns:a16="http://schemas.microsoft.com/office/drawing/2014/main" id="{B537DCFD-5A95-434D-A725-085BFE122DEB}"/>
              </a:ext>
            </a:extLst>
          </p:cNvPr>
          <p:cNvSpPr>
            <a:spLocks xmlns:a="http://schemas.openxmlformats.org/drawingml/2006/main" noGrp="1"/>
          </p:cNvSpPr>
          <p:nvPr/>
        </p:nvSpPr>
        <p:spPr>
          <a:xfrm xmlns:a="http://schemas.openxmlformats.org/drawingml/2006/main">
            <a:off x="923925" y="5581650"/>
            <a:ext cx="114300" cy="114300"/>
          </a:xfrm>
          <a:prstGeom xmlns:a="http://schemas.openxmlformats.org/drawingml/2006/main" prst="rect">
            <a:avLst/>
          </a:prstGeom>
          <a:solidFill xmlns:a="http://schemas.openxmlformats.org/drawingml/2006/main">
            <a:srgbClr val="6FA8DC"/>
          </a:solidFill>
          <a:ln xmlns:a="http://schemas.openxmlformats.org/drawingml/2006/main" w="4763">
            <a:solidFill>
              <a:srgbClr val="EAF2F5"/>
            </a:solidFill>
          </a:ln>
        </p:spPr>
      </p:sp>
      <p:sp>
        <p:nvSpPr>
          <p:cNvPr id="31" name="Family matrix 0 5">
            <a:extLst xmlns:a="http://schemas.openxmlformats.org/drawingml/2006/main">
              <a:ext uri="{FF2B5EF4-FFF2-40B4-BE49-F238E27FC236}">
                <a16:creationId xmlns:a16="http://schemas.microsoft.com/office/drawing/2014/main" id="{DE4012E3-CAA8-4E3E-BE35-33B5B7B15504}"/>
              </a:ext>
            </a:extLst>
          </p:cNvPr>
          <p:cNvSpPr>
            <a:spLocks xmlns:a="http://schemas.openxmlformats.org/drawingml/2006/main" noGrp="1"/>
          </p:cNvSpPr>
          <p:nvPr/>
        </p:nvSpPr>
        <p:spPr>
          <a:xfrm xmlns:a="http://schemas.openxmlformats.org/drawingml/2006/main">
            <a:off x="1047750" y="5581650"/>
            <a:ext cx="114300" cy="114300"/>
          </a:xfrm>
          <a:prstGeom xmlns:a="http://schemas.openxmlformats.org/drawingml/2006/main" prst="rect">
            <a:avLst/>
          </a:prstGeom>
          <a:solidFill xmlns:a="http://schemas.openxmlformats.org/drawingml/2006/main">
            <a:srgbClr val="D9EAD3"/>
          </a:solidFill>
          <a:ln xmlns:a="http://schemas.openxmlformats.org/drawingml/2006/main" w="4763">
            <a:solidFill>
              <a:srgbClr val="EAF2F5"/>
            </a:solidFill>
          </a:ln>
        </p:spPr>
      </p:sp>
      <p:sp>
        <p:nvSpPr>
          <p:cNvPr id="32" name="Family matrix 0 6">
            <a:extLst xmlns:a="http://schemas.openxmlformats.org/drawingml/2006/main">
              <a:ext uri="{FF2B5EF4-FFF2-40B4-BE49-F238E27FC236}">
                <a16:creationId xmlns:a16="http://schemas.microsoft.com/office/drawing/2014/main" id="{8B266E61-7EAD-437C-9791-4E07D7869EAE}"/>
              </a:ext>
            </a:extLst>
          </p:cNvPr>
          <p:cNvSpPr>
            <a:spLocks xmlns:a="http://schemas.openxmlformats.org/drawingml/2006/main" noGrp="1"/>
          </p:cNvSpPr>
          <p:nvPr/>
        </p:nvSpPr>
        <p:spPr>
          <a:xfrm xmlns:a="http://schemas.openxmlformats.org/drawingml/2006/main">
            <a:off x="1171575" y="5581650"/>
            <a:ext cx="114300" cy="114300"/>
          </a:xfrm>
          <a:prstGeom xmlns:a="http://schemas.openxmlformats.org/drawingml/2006/main" prst="rect">
            <a:avLst/>
          </a:prstGeom>
          <a:solidFill xmlns:a="http://schemas.openxmlformats.org/drawingml/2006/main">
            <a:srgbClr val="6FA8DC"/>
          </a:solidFill>
          <a:ln xmlns:a="http://schemas.openxmlformats.org/drawingml/2006/main" w="4763">
            <a:solidFill>
              <a:srgbClr val="EAF2F5"/>
            </a:solidFill>
          </a:ln>
        </p:spPr>
      </p:sp>
      <p:sp>
        <p:nvSpPr>
          <p:cNvPr id="33" name="Family matrix 0 7">
            <a:extLst xmlns:a="http://schemas.openxmlformats.org/drawingml/2006/main">
              <a:ext uri="{FF2B5EF4-FFF2-40B4-BE49-F238E27FC236}">
                <a16:creationId xmlns:a16="http://schemas.microsoft.com/office/drawing/2014/main" id="{69742D95-1C1C-421B-A242-33A81F02CF64}"/>
              </a:ext>
            </a:extLst>
          </p:cNvPr>
          <p:cNvSpPr>
            <a:spLocks xmlns:a="http://schemas.openxmlformats.org/drawingml/2006/main" noGrp="1"/>
          </p:cNvSpPr>
          <p:nvPr/>
        </p:nvSpPr>
        <p:spPr>
          <a:xfrm xmlns:a="http://schemas.openxmlformats.org/drawingml/2006/main">
            <a:off x="1295400" y="5581650"/>
            <a:ext cx="114300" cy="114300"/>
          </a:xfrm>
          <a:prstGeom xmlns:a="http://schemas.openxmlformats.org/drawingml/2006/main" prst="rect">
            <a:avLst/>
          </a:prstGeom>
          <a:solidFill xmlns:a="http://schemas.openxmlformats.org/drawingml/2006/main">
            <a:srgbClr val="D9EAD3"/>
          </a:solidFill>
          <a:ln xmlns:a="http://schemas.openxmlformats.org/drawingml/2006/main" w="4763">
            <a:solidFill>
              <a:srgbClr val="EAF2F5"/>
            </a:solidFill>
          </a:ln>
        </p:spPr>
      </p:sp>
      <p:sp>
        <p:nvSpPr>
          <p:cNvPr id="34" name="Family matrix 1 0">
            <a:extLst xmlns:a="http://schemas.openxmlformats.org/drawingml/2006/main">
              <a:ext uri="{FF2B5EF4-FFF2-40B4-BE49-F238E27FC236}">
                <a16:creationId xmlns:a16="http://schemas.microsoft.com/office/drawing/2014/main" id="{B4CA0921-0C51-4F92-9A8E-89E4E925ED3D}"/>
              </a:ext>
            </a:extLst>
          </p:cNvPr>
          <p:cNvSpPr>
            <a:spLocks xmlns:a="http://schemas.openxmlformats.org/drawingml/2006/main" noGrp="1"/>
          </p:cNvSpPr>
          <p:nvPr/>
        </p:nvSpPr>
        <p:spPr>
          <a:xfrm xmlns:a="http://schemas.openxmlformats.org/drawingml/2006/main">
            <a:off x="428625" y="5705475"/>
            <a:ext cx="114300" cy="114300"/>
          </a:xfrm>
          <a:prstGeom xmlns:a="http://schemas.openxmlformats.org/drawingml/2006/main" prst="rect">
            <a:avLst/>
          </a:prstGeom>
          <a:solidFill xmlns:a="http://schemas.openxmlformats.org/drawingml/2006/main">
            <a:srgbClr val="A2C4C9"/>
          </a:solidFill>
          <a:ln xmlns:a="http://schemas.openxmlformats.org/drawingml/2006/main" w="4763">
            <a:solidFill>
              <a:srgbClr val="EAF2F5"/>
            </a:solidFill>
          </a:ln>
        </p:spPr>
      </p:sp>
      <p:sp>
        <p:nvSpPr>
          <p:cNvPr id="35" name="Family matrix 1 1">
            <a:extLst xmlns:a="http://schemas.openxmlformats.org/drawingml/2006/main">
              <a:ext uri="{FF2B5EF4-FFF2-40B4-BE49-F238E27FC236}">
                <a16:creationId xmlns:a16="http://schemas.microsoft.com/office/drawing/2014/main" id="{CF8FAB59-1394-47CF-8CD5-0E113A4303D3}"/>
              </a:ext>
            </a:extLst>
          </p:cNvPr>
          <p:cNvSpPr>
            <a:spLocks xmlns:a="http://schemas.openxmlformats.org/drawingml/2006/main" noGrp="1"/>
          </p:cNvSpPr>
          <p:nvPr/>
        </p:nvSpPr>
        <p:spPr>
          <a:xfrm xmlns:a="http://schemas.openxmlformats.org/drawingml/2006/main">
            <a:off x="552450" y="5705475"/>
            <a:ext cx="114300" cy="114300"/>
          </a:xfrm>
          <a:prstGeom xmlns:a="http://schemas.openxmlformats.org/drawingml/2006/main" prst="rect">
            <a:avLst/>
          </a:prstGeom>
          <a:solidFill xmlns:a="http://schemas.openxmlformats.org/drawingml/2006/main">
            <a:srgbClr val="B6D7A8"/>
          </a:solidFill>
          <a:ln xmlns:a="http://schemas.openxmlformats.org/drawingml/2006/main" w="4763">
            <a:solidFill>
              <a:srgbClr val="EAF2F5"/>
            </a:solidFill>
          </a:ln>
        </p:spPr>
      </p:sp>
      <p:sp>
        <p:nvSpPr>
          <p:cNvPr id="36" name="Family matrix 1 2">
            <a:extLst xmlns:a="http://schemas.openxmlformats.org/drawingml/2006/main">
              <a:ext uri="{FF2B5EF4-FFF2-40B4-BE49-F238E27FC236}">
                <a16:creationId xmlns:a16="http://schemas.microsoft.com/office/drawing/2014/main" id="{E7CBFBA1-30F9-4CF6-BB99-8737D20B1339}"/>
              </a:ext>
            </a:extLst>
          </p:cNvPr>
          <p:cNvSpPr>
            <a:spLocks xmlns:a="http://schemas.openxmlformats.org/drawingml/2006/main" noGrp="1"/>
          </p:cNvSpPr>
          <p:nvPr/>
        </p:nvSpPr>
        <p:spPr>
          <a:xfrm xmlns:a="http://schemas.openxmlformats.org/drawingml/2006/main">
            <a:off x="676275" y="5705475"/>
            <a:ext cx="114300" cy="114300"/>
          </a:xfrm>
          <a:prstGeom xmlns:a="http://schemas.openxmlformats.org/drawingml/2006/main" prst="rect">
            <a:avLst/>
          </a:prstGeom>
          <a:solidFill xmlns:a="http://schemas.openxmlformats.org/drawingml/2006/main">
            <a:srgbClr val="A2C4C9"/>
          </a:solidFill>
          <a:ln xmlns:a="http://schemas.openxmlformats.org/drawingml/2006/main" w="4763">
            <a:solidFill>
              <a:srgbClr val="EAF2F5"/>
            </a:solidFill>
          </a:ln>
        </p:spPr>
      </p:sp>
      <p:sp>
        <p:nvSpPr>
          <p:cNvPr id="37" name="Family matrix 1 3">
            <a:extLst xmlns:a="http://schemas.openxmlformats.org/drawingml/2006/main">
              <a:ext uri="{FF2B5EF4-FFF2-40B4-BE49-F238E27FC236}">
                <a16:creationId xmlns:a16="http://schemas.microsoft.com/office/drawing/2014/main" id="{EF44149E-8458-4DCC-9393-C65FF51EB3AF}"/>
              </a:ext>
            </a:extLst>
          </p:cNvPr>
          <p:cNvSpPr>
            <a:spLocks xmlns:a="http://schemas.openxmlformats.org/drawingml/2006/main" noGrp="1"/>
          </p:cNvSpPr>
          <p:nvPr/>
        </p:nvSpPr>
        <p:spPr>
          <a:xfrm xmlns:a="http://schemas.openxmlformats.org/drawingml/2006/main">
            <a:off x="800100" y="5705475"/>
            <a:ext cx="114300" cy="114300"/>
          </a:xfrm>
          <a:prstGeom xmlns:a="http://schemas.openxmlformats.org/drawingml/2006/main" prst="rect">
            <a:avLst/>
          </a:prstGeom>
          <a:solidFill xmlns:a="http://schemas.openxmlformats.org/drawingml/2006/main">
            <a:srgbClr val="B6D7A8"/>
          </a:solidFill>
          <a:ln xmlns:a="http://schemas.openxmlformats.org/drawingml/2006/main" w="4763">
            <a:solidFill>
              <a:srgbClr val="EAF2F5"/>
            </a:solidFill>
          </a:ln>
        </p:spPr>
      </p:sp>
      <p:sp>
        <p:nvSpPr>
          <p:cNvPr id="38" name="Family matrix 1 4">
            <a:extLst xmlns:a="http://schemas.openxmlformats.org/drawingml/2006/main">
              <a:ext uri="{FF2B5EF4-FFF2-40B4-BE49-F238E27FC236}">
                <a16:creationId xmlns:a16="http://schemas.microsoft.com/office/drawing/2014/main" id="{5C2F6293-0775-4906-94D9-41D363ECABE2}"/>
              </a:ext>
            </a:extLst>
          </p:cNvPr>
          <p:cNvSpPr>
            <a:spLocks xmlns:a="http://schemas.openxmlformats.org/drawingml/2006/main" noGrp="1"/>
          </p:cNvSpPr>
          <p:nvPr/>
        </p:nvSpPr>
        <p:spPr>
          <a:xfrm xmlns:a="http://schemas.openxmlformats.org/drawingml/2006/main">
            <a:off x="923925" y="5705475"/>
            <a:ext cx="114300" cy="114300"/>
          </a:xfrm>
          <a:prstGeom xmlns:a="http://schemas.openxmlformats.org/drawingml/2006/main" prst="rect">
            <a:avLst/>
          </a:prstGeom>
          <a:solidFill xmlns:a="http://schemas.openxmlformats.org/drawingml/2006/main">
            <a:srgbClr val="A2C4C9"/>
          </a:solidFill>
          <a:ln xmlns:a="http://schemas.openxmlformats.org/drawingml/2006/main" w="4763">
            <a:solidFill>
              <a:srgbClr val="EAF2F5"/>
            </a:solidFill>
          </a:ln>
        </p:spPr>
      </p:sp>
      <p:sp>
        <p:nvSpPr>
          <p:cNvPr id="39" name="Family matrix 1 5">
            <a:extLst xmlns:a="http://schemas.openxmlformats.org/drawingml/2006/main">
              <a:ext uri="{FF2B5EF4-FFF2-40B4-BE49-F238E27FC236}">
                <a16:creationId xmlns:a16="http://schemas.microsoft.com/office/drawing/2014/main" id="{0BA0CBD5-8E60-4FD9-9B44-02CE85BA03A2}"/>
              </a:ext>
            </a:extLst>
          </p:cNvPr>
          <p:cNvSpPr>
            <a:spLocks xmlns:a="http://schemas.openxmlformats.org/drawingml/2006/main" noGrp="1"/>
          </p:cNvSpPr>
          <p:nvPr/>
        </p:nvSpPr>
        <p:spPr>
          <a:xfrm xmlns:a="http://schemas.openxmlformats.org/drawingml/2006/main">
            <a:off x="1047750" y="5705475"/>
            <a:ext cx="114300" cy="114300"/>
          </a:xfrm>
          <a:prstGeom xmlns:a="http://schemas.openxmlformats.org/drawingml/2006/main" prst="rect">
            <a:avLst/>
          </a:prstGeom>
          <a:solidFill xmlns:a="http://schemas.openxmlformats.org/drawingml/2006/main">
            <a:srgbClr val="B6D7A8"/>
          </a:solidFill>
          <a:ln xmlns:a="http://schemas.openxmlformats.org/drawingml/2006/main" w="4763">
            <a:solidFill>
              <a:srgbClr val="EAF2F5"/>
            </a:solidFill>
          </a:ln>
        </p:spPr>
      </p:sp>
      <p:sp>
        <p:nvSpPr>
          <p:cNvPr id="40" name="Family matrix 1 6">
            <a:extLst xmlns:a="http://schemas.openxmlformats.org/drawingml/2006/main">
              <a:ext uri="{FF2B5EF4-FFF2-40B4-BE49-F238E27FC236}">
                <a16:creationId xmlns:a16="http://schemas.microsoft.com/office/drawing/2014/main" id="{4299E045-B487-47AE-B043-D2B5F4F03BA4}"/>
              </a:ext>
            </a:extLst>
          </p:cNvPr>
          <p:cNvSpPr>
            <a:spLocks xmlns:a="http://schemas.openxmlformats.org/drawingml/2006/main" noGrp="1"/>
          </p:cNvSpPr>
          <p:nvPr/>
        </p:nvSpPr>
        <p:spPr>
          <a:xfrm xmlns:a="http://schemas.openxmlformats.org/drawingml/2006/main">
            <a:off x="1171575" y="5705475"/>
            <a:ext cx="114300" cy="114300"/>
          </a:xfrm>
          <a:prstGeom xmlns:a="http://schemas.openxmlformats.org/drawingml/2006/main" prst="rect">
            <a:avLst/>
          </a:prstGeom>
          <a:solidFill xmlns:a="http://schemas.openxmlformats.org/drawingml/2006/main">
            <a:srgbClr val="A2C4C9"/>
          </a:solidFill>
          <a:ln xmlns:a="http://schemas.openxmlformats.org/drawingml/2006/main" w="4763">
            <a:solidFill>
              <a:srgbClr val="EAF2F5"/>
            </a:solidFill>
          </a:ln>
        </p:spPr>
      </p:sp>
      <p:sp>
        <p:nvSpPr>
          <p:cNvPr id="41" name="Family matrix 1 7">
            <a:extLst xmlns:a="http://schemas.openxmlformats.org/drawingml/2006/main">
              <a:ext uri="{FF2B5EF4-FFF2-40B4-BE49-F238E27FC236}">
                <a16:creationId xmlns:a16="http://schemas.microsoft.com/office/drawing/2014/main" id="{7441EF56-BBEF-4CE8-82C0-ADEE7677B028}"/>
              </a:ext>
            </a:extLst>
          </p:cNvPr>
          <p:cNvSpPr>
            <a:spLocks xmlns:a="http://schemas.openxmlformats.org/drawingml/2006/main" noGrp="1"/>
          </p:cNvSpPr>
          <p:nvPr/>
        </p:nvSpPr>
        <p:spPr>
          <a:xfrm xmlns:a="http://schemas.openxmlformats.org/drawingml/2006/main">
            <a:off x="1295400" y="5705475"/>
            <a:ext cx="114300" cy="114300"/>
          </a:xfrm>
          <a:prstGeom xmlns:a="http://schemas.openxmlformats.org/drawingml/2006/main" prst="rect">
            <a:avLst/>
          </a:prstGeom>
          <a:solidFill xmlns:a="http://schemas.openxmlformats.org/drawingml/2006/main">
            <a:srgbClr val="B6D7A8"/>
          </a:solidFill>
          <a:ln xmlns:a="http://schemas.openxmlformats.org/drawingml/2006/main" w="4763">
            <a:solidFill>
              <a:srgbClr val="EAF2F5"/>
            </a:solidFill>
          </a:ln>
        </p:spPr>
      </p:sp>
      <p:sp>
        <p:nvSpPr>
          <p:cNvPr id="42" name="Family matrix 2 0">
            <a:extLst xmlns:a="http://schemas.openxmlformats.org/drawingml/2006/main">
              <a:ext uri="{FF2B5EF4-FFF2-40B4-BE49-F238E27FC236}">
                <a16:creationId xmlns:a16="http://schemas.microsoft.com/office/drawing/2014/main" id="{071EA74C-110D-41F3-BB30-576E8A522D24}"/>
              </a:ext>
            </a:extLst>
          </p:cNvPr>
          <p:cNvSpPr>
            <a:spLocks xmlns:a="http://schemas.openxmlformats.org/drawingml/2006/main" noGrp="1"/>
          </p:cNvSpPr>
          <p:nvPr/>
        </p:nvSpPr>
        <p:spPr>
          <a:xfrm xmlns:a="http://schemas.openxmlformats.org/drawingml/2006/main">
            <a:off x="428625" y="5829300"/>
            <a:ext cx="114300" cy="114300"/>
          </a:xfrm>
          <a:prstGeom xmlns:a="http://schemas.openxmlformats.org/drawingml/2006/main" prst="rect">
            <a:avLst/>
          </a:prstGeom>
          <a:solidFill xmlns:a="http://schemas.openxmlformats.org/drawingml/2006/main">
            <a:srgbClr val="3D85C6"/>
          </a:solidFill>
          <a:ln xmlns:a="http://schemas.openxmlformats.org/drawingml/2006/main" w="4763">
            <a:solidFill>
              <a:srgbClr val="EAF2F5"/>
            </a:solidFill>
          </a:ln>
        </p:spPr>
      </p:sp>
      <p:sp>
        <p:nvSpPr>
          <p:cNvPr id="43" name="Family matrix 2 1">
            <a:extLst xmlns:a="http://schemas.openxmlformats.org/drawingml/2006/main">
              <a:ext uri="{FF2B5EF4-FFF2-40B4-BE49-F238E27FC236}">
                <a16:creationId xmlns:a16="http://schemas.microsoft.com/office/drawing/2014/main" id="{F49F1703-5D17-48AE-8F95-4C44699B8CCA}"/>
              </a:ext>
            </a:extLst>
          </p:cNvPr>
          <p:cNvSpPr>
            <a:spLocks xmlns:a="http://schemas.openxmlformats.org/drawingml/2006/main" noGrp="1"/>
          </p:cNvSpPr>
          <p:nvPr/>
        </p:nvSpPr>
        <p:spPr>
          <a:xfrm xmlns:a="http://schemas.openxmlformats.org/drawingml/2006/main">
            <a:off x="552450" y="5829300"/>
            <a:ext cx="114300" cy="114300"/>
          </a:xfrm>
          <a:prstGeom xmlns:a="http://schemas.openxmlformats.org/drawingml/2006/main" prst="rect">
            <a:avLst/>
          </a:prstGeom>
          <a:solidFill xmlns:a="http://schemas.openxmlformats.org/drawingml/2006/main">
            <a:srgbClr val="93C47D"/>
          </a:solidFill>
          <a:ln xmlns:a="http://schemas.openxmlformats.org/drawingml/2006/main" w="4763">
            <a:solidFill>
              <a:srgbClr val="EAF2F5"/>
            </a:solidFill>
          </a:ln>
        </p:spPr>
      </p:sp>
      <p:sp>
        <p:nvSpPr>
          <p:cNvPr id="44" name="Family matrix 2 2">
            <a:extLst xmlns:a="http://schemas.openxmlformats.org/drawingml/2006/main">
              <a:ext uri="{FF2B5EF4-FFF2-40B4-BE49-F238E27FC236}">
                <a16:creationId xmlns:a16="http://schemas.microsoft.com/office/drawing/2014/main" id="{291DF8E5-03EA-4DC8-BD11-5553EF45B183}"/>
              </a:ext>
            </a:extLst>
          </p:cNvPr>
          <p:cNvSpPr>
            <a:spLocks xmlns:a="http://schemas.openxmlformats.org/drawingml/2006/main" noGrp="1"/>
          </p:cNvSpPr>
          <p:nvPr/>
        </p:nvSpPr>
        <p:spPr>
          <a:xfrm xmlns:a="http://schemas.openxmlformats.org/drawingml/2006/main">
            <a:off x="676275" y="5829300"/>
            <a:ext cx="114300" cy="114300"/>
          </a:xfrm>
          <a:prstGeom xmlns:a="http://schemas.openxmlformats.org/drawingml/2006/main" prst="rect">
            <a:avLst/>
          </a:prstGeom>
          <a:solidFill xmlns:a="http://schemas.openxmlformats.org/drawingml/2006/main">
            <a:srgbClr val="3D85C6"/>
          </a:solidFill>
          <a:ln xmlns:a="http://schemas.openxmlformats.org/drawingml/2006/main" w="4763">
            <a:solidFill>
              <a:srgbClr val="EAF2F5"/>
            </a:solidFill>
          </a:ln>
        </p:spPr>
      </p:sp>
      <p:sp>
        <p:nvSpPr>
          <p:cNvPr id="45" name="Family matrix 2 3">
            <a:extLst xmlns:a="http://schemas.openxmlformats.org/drawingml/2006/main">
              <a:ext uri="{FF2B5EF4-FFF2-40B4-BE49-F238E27FC236}">
                <a16:creationId xmlns:a16="http://schemas.microsoft.com/office/drawing/2014/main" id="{92C08588-F80B-49E3-B8C9-81045E847644}"/>
              </a:ext>
            </a:extLst>
          </p:cNvPr>
          <p:cNvSpPr>
            <a:spLocks xmlns:a="http://schemas.openxmlformats.org/drawingml/2006/main" noGrp="1"/>
          </p:cNvSpPr>
          <p:nvPr/>
        </p:nvSpPr>
        <p:spPr>
          <a:xfrm xmlns:a="http://schemas.openxmlformats.org/drawingml/2006/main">
            <a:off x="800100" y="5829300"/>
            <a:ext cx="114300" cy="114300"/>
          </a:xfrm>
          <a:prstGeom xmlns:a="http://schemas.openxmlformats.org/drawingml/2006/main" prst="rect">
            <a:avLst/>
          </a:prstGeom>
          <a:solidFill xmlns:a="http://schemas.openxmlformats.org/drawingml/2006/main">
            <a:srgbClr val="93C47D"/>
          </a:solidFill>
          <a:ln xmlns:a="http://schemas.openxmlformats.org/drawingml/2006/main" w="4763">
            <a:solidFill>
              <a:srgbClr val="EAF2F5"/>
            </a:solidFill>
          </a:ln>
        </p:spPr>
      </p:sp>
      <p:sp>
        <p:nvSpPr>
          <p:cNvPr id="46" name="Family matrix 2 4">
            <a:extLst xmlns:a="http://schemas.openxmlformats.org/drawingml/2006/main">
              <a:ext uri="{FF2B5EF4-FFF2-40B4-BE49-F238E27FC236}">
                <a16:creationId xmlns:a16="http://schemas.microsoft.com/office/drawing/2014/main" id="{837673CC-EA8F-4217-B8E1-4B97050594DF}"/>
              </a:ext>
            </a:extLst>
          </p:cNvPr>
          <p:cNvSpPr>
            <a:spLocks xmlns:a="http://schemas.openxmlformats.org/drawingml/2006/main" noGrp="1"/>
          </p:cNvSpPr>
          <p:nvPr/>
        </p:nvSpPr>
        <p:spPr>
          <a:xfrm xmlns:a="http://schemas.openxmlformats.org/drawingml/2006/main">
            <a:off x="923925" y="5829300"/>
            <a:ext cx="114300" cy="114300"/>
          </a:xfrm>
          <a:prstGeom xmlns:a="http://schemas.openxmlformats.org/drawingml/2006/main" prst="rect">
            <a:avLst/>
          </a:prstGeom>
          <a:solidFill xmlns:a="http://schemas.openxmlformats.org/drawingml/2006/main">
            <a:srgbClr val="3D85C6"/>
          </a:solidFill>
          <a:ln xmlns:a="http://schemas.openxmlformats.org/drawingml/2006/main" w="4763">
            <a:solidFill>
              <a:srgbClr val="EAF2F5"/>
            </a:solidFill>
          </a:ln>
        </p:spPr>
      </p:sp>
      <p:sp>
        <p:nvSpPr>
          <p:cNvPr id="47" name="Family matrix 2 5">
            <a:extLst xmlns:a="http://schemas.openxmlformats.org/drawingml/2006/main">
              <a:ext uri="{FF2B5EF4-FFF2-40B4-BE49-F238E27FC236}">
                <a16:creationId xmlns:a16="http://schemas.microsoft.com/office/drawing/2014/main" id="{55DA8BCD-0EF8-4E2F-9514-A0AC159779D1}"/>
              </a:ext>
            </a:extLst>
          </p:cNvPr>
          <p:cNvSpPr>
            <a:spLocks xmlns:a="http://schemas.openxmlformats.org/drawingml/2006/main" noGrp="1"/>
          </p:cNvSpPr>
          <p:nvPr/>
        </p:nvSpPr>
        <p:spPr>
          <a:xfrm xmlns:a="http://schemas.openxmlformats.org/drawingml/2006/main">
            <a:off x="1047750" y="5829300"/>
            <a:ext cx="114300" cy="114300"/>
          </a:xfrm>
          <a:prstGeom xmlns:a="http://schemas.openxmlformats.org/drawingml/2006/main" prst="rect">
            <a:avLst/>
          </a:prstGeom>
          <a:solidFill xmlns:a="http://schemas.openxmlformats.org/drawingml/2006/main">
            <a:srgbClr val="93C47D"/>
          </a:solidFill>
          <a:ln xmlns:a="http://schemas.openxmlformats.org/drawingml/2006/main" w="4763">
            <a:solidFill>
              <a:srgbClr val="EAF2F5"/>
            </a:solidFill>
          </a:ln>
        </p:spPr>
      </p:sp>
      <p:sp>
        <p:nvSpPr>
          <p:cNvPr id="48" name="Family matrix 2 6">
            <a:extLst xmlns:a="http://schemas.openxmlformats.org/drawingml/2006/main">
              <a:ext uri="{FF2B5EF4-FFF2-40B4-BE49-F238E27FC236}">
                <a16:creationId xmlns:a16="http://schemas.microsoft.com/office/drawing/2014/main" id="{6CF56E44-56BB-4751-B8FB-6D2868CC8361}"/>
              </a:ext>
            </a:extLst>
          </p:cNvPr>
          <p:cNvSpPr>
            <a:spLocks xmlns:a="http://schemas.openxmlformats.org/drawingml/2006/main" noGrp="1"/>
          </p:cNvSpPr>
          <p:nvPr/>
        </p:nvSpPr>
        <p:spPr>
          <a:xfrm xmlns:a="http://schemas.openxmlformats.org/drawingml/2006/main">
            <a:off x="1171575" y="5829300"/>
            <a:ext cx="114300" cy="114300"/>
          </a:xfrm>
          <a:prstGeom xmlns:a="http://schemas.openxmlformats.org/drawingml/2006/main" prst="rect">
            <a:avLst/>
          </a:prstGeom>
          <a:solidFill xmlns:a="http://schemas.openxmlformats.org/drawingml/2006/main">
            <a:srgbClr val="3D85C6"/>
          </a:solidFill>
          <a:ln xmlns:a="http://schemas.openxmlformats.org/drawingml/2006/main" w="4763">
            <a:solidFill>
              <a:srgbClr val="EAF2F5"/>
            </a:solidFill>
          </a:ln>
        </p:spPr>
      </p:sp>
      <p:sp>
        <p:nvSpPr>
          <p:cNvPr id="49" name="Family matrix 2 7">
            <a:extLst xmlns:a="http://schemas.openxmlformats.org/drawingml/2006/main">
              <a:ext uri="{FF2B5EF4-FFF2-40B4-BE49-F238E27FC236}">
                <a16:creationId xmlns:a16="http://schemas.microsoft.com/office/drawing/2014/main" id="{3CF800B8-C4BE-431A-A807-F5074DD5E7DD}"/>
              </a:ext>
            </a:extLst>
          </p:cNvPr>
          <p:cNvSpPr>
            <a:spLocks xmlns:a="http://schemas.openxmlformats.org/drawingml/2006/main" noGrp="1"/>
          </p:cNvSpPr>
          <p:nvPr/>
        </p:nvSpPr>
        <p:spPr>
          <a:xfrm xmlns:a="http://schemas.openxmlformats.org/drawingml/2006/main">
            <a:off x="1295400" y="5829300"/>
            <a:ext cx="114300" cy="114300"/>
          </a:xfrm>
          <a:prstGeom xmlns:a="http://schemas.openxmlformats.org/drawingml/2006/main" prst="rect">
            <a:avLst/>
          </a:prstGeom>
          <a:solidFill xmlns:a="http://schemas.openxmlformats.org/drawingml/2006/main">
            <a:srgbClr val="93C47D"/>
          </a:solidFill>
          <a:ln xmlns:a="http://schemas.openxmlformats.org/drawingml/2006/main" w="4763">
            <a:solidFill>
              <a:srgbClr val="EAF2F5"/>
            </a:solidFill>
          </a:ln>
        </p:spPr>
      </p:sp>
      <p:sp>
        <p:nvSpPr>
          <p:cNvPr id="50" name="Family matrix 3 0">
            <a:extLst xmlns:a="http://schemas.openxmlformats.org/drawingml/2006/main">
              <a:ext uri="{FF2B5EF4-FFF2-40B4-BE49-F238E27FC236}">
                <a16:creationId xmlns:a16="http://schemas.microsoft.com/office/drawing/2014/main" id="{D3FF16B4-BF1F-4840-8C38-63A43DBAA173}"/>
              </a:ext>
            </a:extLst>
          </p:cNvPr>
          <p:cNvSpPr>
            <a:spLocks xmlns:a="http://schemas.openxmlformats.org/drawingml/2006/main" noGrp="1"/>
          </p:cNvSpPr>
          <p:nvPr/>
        </p:nvSpPr>
        <p:spPr>
          <a:xfrm xmlns:a="http://schemas.openxmlformats.org/drawingml/2006/main">
            <a:off x="428625" y="5953125"/>
            <a:ext cx="114300" cy="114300"/>
          </a:xfrm>
          <a:prstGeom xmlns:a="http://schemas.openxmlformats.org/drawingml/2006/main" prst="rect">
            <a:avLst/>
          </a:prstGeom>
          <a:solidFill xmlns:a="http://schemas.openxmlformats.org/drawingml/2006/main">
            <a:srgbClr val="D9EAD3"/>
          </a:solidFill>
          <a:ln xmlns:a="http://schemas.openxmlformats.org/drawingml/2006/main" w="4763">
            <a:solidFill>
              <a:srgbClr val="EAF2F5"/>
            </a:solidFill>
          </a:ln>
        </p:spPr>
      </p:sp>
      <p:sp>
        <p:nvSpPr>
          <p:cNvPr id="51" name="Family matrix 3 1">
            <a:extLst xmlns:a="http://schemas.openxmlformats.org/drawingml/2006/main">
              <a:ext uri="{FF2B5EF4-FFF2-40B4-BE49-F238E27FC236}">
                <a16:creationId xmlns:a16="http://schemas.microsoft.com/office/drawing/2014/main" id="{9CF07695-F20A-480F-9849-36BCB2C938CB}"/>
              </a:ext>
            </a:extLst>
          </p:cNvPr>
          <p:cNvSpPr>
            <a:spLocks xmlns:a="http://schemas.openxmlformats.org/drawingml/2006/main" noGrp="1"/>
          </p:cNvSpPr>
          <p:nvPr/>
        </p:nvSpPr>
        <p:spPr>
          <a:xfrm xmlns:a="http://schemas.openxmlformats.org/drawingml/2006/main">
            <a:off x="552450" y="5953125"/>
            <a:ext cx="114300" cy="114300"/>
          </a:xfrm>
          <a:prstGeom xmlns:a="http://schemas.openxmlformats.org/drawingml/2006/main" prst="rect">
            <a:avLst/>
          </a:prstGeom>
          <a:solidFill xmlns:a="http://schemas.openxmlformats.org/drawingml/2006/main">
            <a:srgbClr val="6FA8DC"/>
          </a:solidFill>
          <a:ln xmlns:a="http://schemas.openxmlformats.org/drawingml/2006/main" w="4763">
            <a:solidFill>
              <a:srgbClr val="EAF2F5"/>
            </a:solidFill>
          </a:ln>
        </p:spPr>
      </p:sp>
      <p:sp>
        <p:nvSpPr>
          <p:cNvPr id="52" name="Family matrix 3 2">
            <a:extLst xmlns:a="http://schemas.openxmlformats.org/drawingml/2006/main">
              <a:ext uri="{FF2B5EF4-FFF2-40B4-BE49-F238E27FC236}">
                <a16:creationId xmlns:a16="http://schemas.microsoft.com/office/drawing/2014/main" id="{CE21616D-8564-4190-908A-4B23623BC684}"/>
              </a:ext>
            </a:extLst>
          </p:cNvPr>
          <p:cNvSpPr>
            <a:spLocks xmlns:a="http://schemas.openxmlformats.org/drawingml/2006/main" noGrp="1"/>
          </p:cNvSpPr>
          <p:nvPr/>
        </p:nvSpPr>
        <p:spPr>
          <a:xfrm xmlns:a="http://schemas.openxmlformats.org/drawingml/2006/main">
            <a:off x="676275" y="5953125"/>
            <a:ext cx="114300" cy="114300"/>
          </a:xfrm>
          <a:prstGeom xmlns:a="http://schemas.openxmlformats.org/drawingml/2006/main" prst="rect">
            <a:avLst/>
          </a:prstGeom>
          <a:solidFill xmlns:a="http://schemas.openxmlformats.org/drawingml/2006/main">
            <a:srgbClr val="D9EAD3"/>
          </a:solidFill>
          <a:ln xmlns:a="http://schemas.openxmlformats.org/drawingml/2006/main" w="4763">
            <a:solidFill>
              <a:srgbClr val="EAF2F5"/>
            </a:solidFill>
          </a:ln>
        </p:spPr>
      </p:sp>
      <p:sp>
        <p:nvSpPr>
          <p:cNvPr id="53" name="Family matrix 3 3">
            <a:extLst xmlns:a="http://schemas.openxmlformats.org/drawingml/2006/main">
              <a:ext uri="{FF2B5EF4-FFF2-40B4-BE49-F238E27FC236}">
                <a16:creationId xmlns:a16="http://schemas.microsoft.com/office/drawing/2014/main" id="{45B4CAF6-BA41-49AD-885A-85EDBBD790F0}"/>
              </a:ext>
            </a:extLst>
          </p:cNvPr>
          <p:cNvSpPr>
            <a:spLocks xmlns:a="http://schemas.openxmlformats.org/drawingml/2006/main" noGrp="1"/>
          </p:cNvSpPr>
          <p:nvPr/>
        </p:nvSpPr>
        <p:spPr>
          <a:xfrm xmlns:a="http://schemas.openxmlformats.org/drawingml/2006/main">
            <a:off x="800100" y="5953125"/>
            <a:ext cx="114300" cy="114300"/>
          </a:xfrm>
          <a:prstGeom xmlns:a="http://schemas.openxmlformats.org/drawingml/2006/main" prst="rect">
            <a:avLst/>
          </a:prstGeom>
          <a:solidFill xmlns:a="http://schemas.openxmlformats.org/drawingml/2006/main">
            <a:srgbClr val="6FA8DC"/>
          </a:solidFill>
          <a:ln xmlns:a="http://schemas.openxmlformats.org/drawingml/2006/main" w="4763">
            <a:solidFill>
              <a:srgbClr val="EAF2F5"/>
            </a:solidFill>
          </a:ln>
        </p:spPr>
      </p:sp>
      <p:sp>
        <p:nvSpPr>
          <p:cNvPr id="54" name="Family matrix 3 4">
            <a:extLst xmlns:a="http://schemas.openxmlformats.org/drawingml/2006/main">
              <a:ext uri="{FF2B5EF4-FFF2-40B4-BE49-F238E27FC236}">
                <a16:creationId xmlns:a16="http://schemas.microsoft.com/office/drawing/2014/main" id="{9B1CFF22-DF04-41D2-8BE7-9D5B56009D58}"/>
              </a:ext>
            </a:extLst>
          </p:cNvPr>
          <p:cNvSpPr>
            <a:spLocks xmlns:a="http://schemas.openxmlformats.org/drawingml/2006/main" noGrp="1"/>
          </p:cNvSpPr>
          <p:nvPr/>
        </p:nvSpPr>
        <p:spPr>
          <a:xfrm xmlns:a="http://schemas.openxmlformats.org/drawingml/2006/main">
            <a:off x="923925" y="5953125"/>
            <a:ext cx="114300" cy="114300"/>
          </a:xfrm>
          <a:prstGeom xmlns:a="http://schemas.openxmlformats.org/drawingml/2006/main" prst="rect">
            <a:avLst/>
          </a:prstGeom>
          <a:solidFill xmlns:a="http://schemas.openxmlformats.org/drawingml/2006/main">
            <a:srgbClr val="D9EAD3"/>
          </a:solidFill>
          <a:ln xmlns:a="http://schemas.openxmlformats.org/drawingml/2006/main" w="4763">
            <a:solidFill>
              <a:srgbClr val="EAF2F5"/>
            </a:solidFill>
          </a:ln>
        </p:spPr>
      </p:sp>
      <p:sp>
        <p:nvSpPr>
          <p:cNvPr id="55" name="Family matrix 3 5">
            <a:extLst xmlns:a="http://schemas.openxmlformats.org/drawingml/2006/main">
              <a:ext uri="{FF2B5EF4-FFF2-40B4-BE49-F238E27FC236}">
                <a16:creationId xmlns:a16="http://schemas.microsoft.com/office/drawing/2014/main" id="{EA01C343-885D-412E-B120-26A50D5D4775}"/>
              </a:ext>
            </a:extLst>
          </p:cNvPr>
          <p:cNvSpPr>
            <a:spLocks xmlns:a="http://schemas.openxmlformats.org/drawingml/2006/main" noGrp="1"/>
          </p:cNvSpPr>
          <p:nvPr/>
        </p:nvSpPr>
        <p:spPr>
          <a:xfrm xmlns:a="http://schemas.openxmlformats.org/drawingml/2006/main">
            <a:off x="1047750" y="5953125"/>
            <a:ext cx="114300" cy="114300"/>
          </a:xfrm>
          <a:prstGeom xmlns:a="http://schemas.openxmlformats.org/drawingml/2006/main" prst="rect">
            <a:avLst/>
          </a:prstGeom>
          <a:solidFill xmlns:a="http://schemas.openxmlformats.org/drawingml/2006/main">
            <a:srgbClr val="6FA8DC"/>
          </a:solidFill>
          <a:ln xmlns:a="http://schemas.openxmlformats.org/drawingml/2006/main" w="4763">
            <a:solidFill>
              <a:srgbClr val="EAF2F5"/>
            </a:solidFill>
          </a:ln>
        </p:spPr>
      </p:sp>
      <p:sp>
        <p:nvSpPr>
          <p:cNvPr id="56" name="Family matrix 3 6">
            <a:extLst xmlns:a="http://schemas.openxmlformats.org/drawingml/2006/main">
              <a:ext uri="{FF2B5EF4-FFF2-40B4-BE49-F238E27FC236}">
                <a16:creationId xmlns:a16="http://schemas.microsoft.com/office/drawing/2014/main" id="{A3DB2A1C-9011-4864-AEEF-55BA7C4B71E7}"/>
              </a:ext>
            </a:extLst>
          </p:cNvPr>
          <p:cNvSpPr>
            <a:spLocks xmlns:a="http://schemas.openxmlformats.org/drawingml/2006/main" noGrp="1"/>
          </p:cNvSpPr>
          <p:nvPr/>
        </p:nvSpPr>
        <p:spPr>
          <a:xfrm xmlns:a="http://schemas.openxmlformats.org/drawingml/2006/main">
            <a:off x="1171575" y="5953125"/>
            <a:ext cx="114300" cy="114300"/>
          </a:xfrm>
          <a:prstGeom xmlns:a="http://schemas.openxmlformats.org/drawingml/2006/main" prst="rect">
            <a:avLst/>
          </a:prstGeom>
          <a:solidFill xmlns:a="http://schemas.openxmlformats.org/drawingml/2006/main">
            <a:srgbClr val="D9EAD3"/>
          </a:solidFill>
          <a:ln xmlns:a="http://schemas.openxmlformats.org/drawingml/2006/main" w="4763">
            <a:solidFill>
              <a:srgbClr val="EAF2F5"/>
            </a:solidFill>
          </a:ln>
        </p:spPr>
      </p:sp>
      <p:sp>
        <p:nvSpPr>
          <p:cNvPr id="57" name="Family matrix 3 7">
            <a:extLst xmlns:a="http://schemas.openxmlformats.org/drawingml/2006/main">
              <a:ext uri="{FF2B5EF4-FFF2-40B4-BE49-F238E27FC236}">
                <a16:creationId xmlns:a16="http://schemas.microsoft.com/office/drawing/2014/main" id="{13B11529-4D6B-431C-8F33-98AC31E098A9}"/>
              </a:ext>
            </a:extLst>
          </p:cNvPr>
          <p:cNvSpPr>
            <a:spLocks xmlns:a="http://schemas.openxmlformats.org/drawingml/2006/main" noGrp="1"/>
          </p:cNvSpPr>
          <p:nvPr/>
        </p:nvSpPr>
        <p:spPr>
          <a:xfrm xmlns:a="http://schemas.openxmlformats.org/drawingml/2006/main">
            <a:off x="1295400" y="5953125"/>
            <a:ext cx="114300" cy="114300"/>
          </a:xfrm>
          <a:prstGeom xmlns:a="http://schemas.openxmlformats.org/drawingml/2006/main" prst="rect">
            <a:avLst/>
          </a:prstGeom>
          <a:solidFill xmlns:a="http://schemas.openxmlformats.org/drawingml/2006/main">
            <a:srgbClr val="6FA8DC"/>
          </a:solidFill>
          <a:ln xmlns:a="http://schemas.openxmlformats.org/drawingml/2006/main" w="4763">
            <a:solidFill>
              <a:srgbClr val="EAF2F5"/>
            </a:solidFill>
          </a:ln>
        </p:spPr>
      </p:sp>
      <p:sp>
        <p:nvSpPr>
          <p:cNvPr id="58" name="Family matrix 4 0">
            <a:extLst xmlns:a="http://schemas.openxmlformats.org/drawingml/2006/main">
              <a:ext uri="{FF2B5EF4-FFF2-40B4-BE49-F238E27FC236}">
                <a16:creationId xmlns:a16="http://schemas.microsoft.com/office/drawing/2014/main" id="{DA729D92-90BA-4A0A-8591-F16AB8EA6650}"/>
              </a:ext>
            </a:extLst>
          </p:cNvPr>
          <p:cNvSpPr>
            <a:spLocks xmlns:a="http://schemas.openxmlformats.org/drawingml/2006/main" noGrp="1"/>
          </p:cNvSpPr>
          <p:nvPr/>
        </p:nvSpPr>
        <p:spPr>
          <a:xfrm xmlns:a="http://schemas.openxmlformats.org/drawingml/2006/main">
            <a:off x="428625" y="6076950"/>
            <a:ext cx="114300" cy="114300"/>
          </a:xfrm>
          <a:prstGeom xmlns:a="http://schemas.openxmlformats.org/drawingml/2006/main" prst="rect">
            <a:avLst/>
          </a:prstGeom>
          <a:solidFill xmlns:a="http://schemas.openxmlformats.org/drawingml/2006/main">
            <a:srgbClr val="B6D7A8"/>
          </a:solidFill>
          <a:ln xmlns:a="http://schemas.openxmlformats.org/drawingml/2006/main" w="4763">
            <a:solidFill>
              <a:srgbClr val="EAF2F5"/>
            </a:solidFill>
          </a:ln>
        </p:spPr>
      </p:sp>
      <p:sp>
        <p:nvSpPr>
          <p:cNvPr id="59" name="Family matrix 4 1">
            <a:extLst xmlns:a="http://schemas.openxmlformats.org/drawingml/2006/main">
              <a:ext uri="{FF2B5EF4-FFF2-40B4-BE49-F238E27FC236}">
                <a16:creationId xmlns:a16="http://schemas.microsoft.com/office/drawing/2014/main" id="{F962204F-1AA0-4B41-A959-46561467F649}"/>
              </a:ext>
            </a:extLst>
          </p:cNvPr>
          <p:cNvSpPr>
            <a:spLocks xmlns:a="http://schemas.openxmlformats.org/drawingml/2006/main" noGrp="1"/>
          </p:cNvSpPr>
          <p:nvPr/>
        </p:nvSpPr>
        <p:spPr>
          <a:xfrm xmlns:a="http://schemas.openxmlformats.org/drawingml/2006/main">
            <a:off x="552450" y="6076950"/>
            <a:ext cx="114300" cy="114300"/>
          </a:xfrm>
          <a:prstGeom xmlns:a="http://schemas.openxmlformats.org/drawingml/2006/main" prst="rect">
            <a:avLst/>
          </a:prstGeom>
          <a:solidFill xmlns:a="http://schemas.openxmlformats.org/drawingml/2006/main">
            <a:srgbClr val="A2C4C9"/>
          </a:solidFill>
          <a:ln xmlns:a="http://schemas.openxmlformats.org/drawingml/2006/main" w="4763">
            <a:solidFill>
              <a:srgbClr val="EAF2F5"/>
            </a:solidFill>
          </a:ln>
        </p:spPr>
      </p:sp>
      <p:sp>
        <p:nvSpPr>
          <p:cNvPr id="60" name="Family matrix 4 2">
            <a:extLst xmlns:a="http://schemas.openxmlformats.org/drawingml/2006/main">
              <a:ext uri="{FF2B5EF4-FFF2-40B4-BE49-F238E27FC236}">
                <a16:creationId xmlns:a16="http://schemas.microsoft.com/office/drawing/2014/main" id="{B2A02696-615F-41CE-ABD0-DAE595DAEB48}"/>
              </a:ext>
            </a:extLst>
          </p:cNvPr>
          <p:cNvSpPr>
            <a:spLocks xmlns:a="http://schemas.openxmlformats.org/drawingml/2006/main" noGrp="1"/>
          </p:cNvSpPr>
          <p:nvPr/>
        </p:nvSpPr>
        <p:spPr>
          <a:xfrm xmlns:a="http://schemas.openxmlformats.org/drawingml/2006/main">
            <a:off x="676275" y="6076950"/>
            <a:ext cx="114300" cy="114300"/>
          </a:xfrm>
          <a:prstGeom xmlns:a="http://schemas.openxmlformats.org/drawingml/2006/main" prst="rect">
            <a:avLst/>
          </a:prstGeom>
          <a:solidFill xmlns:a="http://schemas.openxmlformats.org/drawingml/2006/main">
            <a:srgbClr val="B6D7A8"/>
          </a:solidFill>
          <a:ln xmlns:a="http://schemas.openxmlformats.org/drawingml/2006/main" w="4763">
            <a:solidFill>
              <a:srgbClr val="EAF2F5"/>
            </a:solidFill>
          </a:ln>
        </p:spPr>
      </p:sp>
      <p:sp>
        <p:nvSpPr>
          <p:cNvPr id="61" name="Family matrix 4 3">
            <a:extLst xmlns:a="http://schemas.openxmlformats.org/drawingml/2006/main">
              <a:ext uri="{FF2B5EF4-FFF2-40B4-BE49-F238E27FC236}">
                <a16:creationId xmlns:a16="http://schemas.microsoft.com/office/drawing/2014/main" id="{2CA1C979-AB76-4C3E-8F21-665B271A1075}"/>
              </a:ext>
            </a:extLst>
          </p:cNvPr>
          <p:cNvSpPr>
            <a:spLocks xmlns:a="http://schemas.openxmlformats.org/drawingml/2006/main" noGrp="1"/>
          </p:cNvSpPr>
          <p:nvPr/>
        </p:nvSpPr>
        <p:spPr>
          <a:xfrm xmlns:a="http://schemas.openxmlformats.org/drawingml/2006/main">
            <a:off x="800100" y="6076950"/>
            <a:ext cx="114300" cy="114300"/>
          </a:xfrm>
          <a:prstGeom xmlns:a="http://schemas.openxmlformats.org/drawingml/2006/main" prst="rect">
            <a:avLst/>
          </a:prstGeom>
          <a:solidFill xmlns:a="http://schemas.openxmlformats.org/drawingml/2006/main">
            <a:srgbClr val="A2C4C9"/>
          </a:solidFill>
          <a:ln xmlns:a="http://schemas.openxmlformats.org/drawingml/2006/main" w="4763">
            <a:solidFill>
              <a:srgbClr val="EAF2F5"/>
            </a:solidFill>
          </a:ln>
        </p:spPr>
      </p:sp>
      <p:sp>
        <p:nvSpPr>
          <p:cNvPr id="62" name="Family matrix 4 4">
            <a:extLst xmlns:a="http://schemas.openxmlformats.org/drawingml/2006/main">
              <a:ext uri="{FF2B5EF4-FFF2-40B4-BE49-F238E27FC236}">
                <a16:creationId xmlns:a16="http://schemas.microsoft.com/office/drawing/2014/main" id="{A13C609D-0010-469B-9825-F57761A69D6A}"/>
              </a:ext>
            </a:extLst>
          </p:cNvPr>
          <p:cNvSpPr>
            <a:spLocks xmlns:a="http://schemas.openxmlformats.org/drawingml/2006/main" noGrp="1"/>
          </p:cNvSpPr>
          <p:nvPr/>
        </p:nvSpPr>
        <p:spPr>
          <a:xfrm xmlns:a="http://schemas.openxmlformats.org/drawingml/2006/main">
            <a:off x="923925" y="6076950"/>
            <a:ext cx="114300" cy="114300"/>
          </a:xfrm>
          <a:prstGeom xmlns:a="http://schemas.openxmlformats.org/drawingml/2006/main" prst="rect">
            <a:avLst/>
          </a:prstGeom>
          <a:solidFill xmlns:a="http://schemas.openxmlformats.org/drawingml/2006/main">
            <a:srgbClr val="B6D7A8"/>
          </a:solidFill>
          <a:ln xmlns:a="http://schemas.openxmlformats.org/drawingml/2006/main" w="4763">
            <a:solidFill>
              <a:srgbClr val="EAF2F5"/>
            </a:solidFill>
          </a:ln>
        </p:spPr>
      </p:sp>
      <p:sp>
        <p:nvSpPr>
          <p:cNvPr id="63" name="Family matrix 4 5">
            <a:extLst xmlns:a="http://schemas.openxmlformats.org/drawingml/2006/main">
              <a:ext uri="{FF2B5EF4-FFF2-40B4-BE49-F238E27FC236}">
                <a16:creationId xmlns:a16="http://schemas.microsoft.com/office/drawing/2014/main" id="{F31F87FD-C5DC-4425-8158-5D947B32B1B6}"/>
              </a:ext>
            </a:extLst>
          </p:cNvPr>
          <p:cNvSpPr>
            <a:spLocks xmlns:a="http://schemas.openxmlformats.org/drawingml/2006/main" noGrp="1"/>
          </p:cNvSpPr>
          <p:nvPr/>
        </p:nvSpPr>
        <p:spPr>
          <a:xfrm xmlns:a="http://schemas.openxmlformats.org/drawingml/2006/main">
            <a:off x="1047750" y="6076950"/>
            <a:ext cx="114300" cy="114300"/>
          </a:xfrm>
          <a:prstGeom xmlns:a="http://schemas.openxmlformats.org/drawingml/2006/main" prst="rect">
            <a:avLst/>
          </a:prstGeom>
          <a:solidFill xmlns:a="http://schemas.openxmlformats.org/drawingml/2006/main">
            <a:srgbClr val="A2C4C9"/>
          </a:solidFill>
          <a:ln xmlns:a="http://schemas.openxmlformats.org/drawingml/2006/main" w="4763">
            <a:solidFill>
              <a:srgbClr val="EAF2F5"/>
            </a:solidFill>
          </a:ln>
        </p:spPr>
      </p:sp>
      <p:sp>
        <p:nvSpPr>
          <p:cNvPr id="64" name="Family matrix 4 6">
            <a:extLst xmlns:a="http://schemas.openxmlformats.org/drawingml/2006/main">
              <a:ext uri="{FF2B5EF4-FFF2-40B4-BE49-F238E27FC236}">
                <a16:creationId xmlns:a16="http://schemas.microsoft.com/office/drawing/2014/main" id="{64B3612D-06B8-43FE-B5EC-45600779E5AB}"/>
              </a:ext>
            </a:extLst>
          </p:cNvPr>
          <p:cNvSpPr>
            <a:spLocks xmlns:a="http://schemas.openxmlformats.org/drawingml/2006/main" noGrp="1"/>
          </p:cNvSpPr>
          <p:nvPr/>
        </p:nvSpPr>
        <p:spPr>
          <a:xfrm xmlns:a="http://schemas.openxmlformats.org/drawingml/2006/main">
            <a:off x="1171575" y="6076950"/>
            <a:ext cx="114300" cy="114300"/>
          </a:xfrm>
          <a:prstGeom xmlns:a="http://schemas.openxmlformats.org/drawingml/2006/main" prst="rect">
            <a:avLst/>
          </a:prstGeom>
          <a:solidFill xmlns:a="http://schemas.openxmlformats.org/drawingml/2006/main">
            <a:srgbClr val="B6D7A8"/>
          </a:solidFill>
          <a:ln xmlns:a="http://schemas.openxmlformats.org/drawingml/2006/main" w="4763">
            <a:solidFill>
              <a:srgbClr val="EAF2F5"/>
            </a:solidFill>
          </a:ln>
        </p:spPr>
      </p:sp>
      <p:sp>
        <p:nvSpPr>
          <p:cNvPr id="65" name="Family matrix 4 7">
            <a:extLst xmlns:a="http://schemas.openxmlformats.org/drawingml/2006/main">
              <a:ext uri="{FF2B5EF4-FFF2-40B4-BE49-F238E27FC236}">
                <a16:creationId xmlns:a16="http://schemas.microsoft.com/office/drawing/2014/main" id="{F0076AAD-5FA6-4830-9985-E36E6C8E9B2B}"/>
              </a:ext>
            </a:extLst>
          </p:cNvPr>
          <p:cNvSpPr>
            <a:spLocks xmlns:a="http://schemas.openxmlformats.org/drawingml/2006/main" noGrp="1"/>
          </p:cNvSpPr>
          <p:nvPr/>
        </p:nvSpPr>
        <p:spPr>
          <a:xfrm xmlns:a="http://schemas.openxmlformats.org/drawingml/2006/main">
            <a:off x="1295400" y="6076950"/>
            <a:ext cx="114300" cy="114300"/>
          </a:xfrm>
          <a:prstGeom xmlns:a="http://schemas.openxmlformats.org/drawingml/2006/main" prst="rect">
            <a:avLst/>
          </a:prstGeom>
          <a:solidFill xmlns:a="http://schemas.openxmlformats.org/drawingml/2006/main">
            <a:srgbClr val="A2C4C9"/>
          </a:solidFill>
          <a:ln xmlns:a="http://schemas.openxmlformats.org/drawingml/2006/main" w="4763">
            <a:solidFill>
              <a:srgbClr val="EAF2F5"/>
            </a:solidFill>
          </a:ln>
        </p:spPr>
      </p:sp>
      <p:sp>
        <p:nvSpPr>
          <p:cNvPr id="66" name="Family matrix 5 0">
            <a:extLst xmlns:a="http://schemas.openxmlformats.org/drawingml/2006/main">
              <a:ext uri="{FF2B5EF4-FFF2-40B4-BE49-F238E27FC236}">
                <a16:creationId xmlns:a16="http://schemas.microsoft.com/office/drawing/2014/main" id="{CDB4ADB4-8309-4836-866A-6B4E73DDDD3A}"/>
              </a:ext>
            </a:extLst>
          </p:cNvPr>
          <p:cNvSpPr>
            <a:spLocks xmlns:a="http://schemas.openxmlformats.org/drawingml/2006/main" noGrp="1"/>
          </p:cNvSpPr>
          <p:nvPr/>
        </p:nvSpPr>
        <p:spPr>
          <a:xfrm xmlns:a="http://schemas.openxmlformats.org/drawingml/2006/main">
            <a:off x="428625" y="6200775"/>
            <a:ext cx="114300" cy="114300"/>
          </a:xfrm>
          <a:prstGeom xmlns:a="http://schemas.openxmlformats.org/drawingml/2006/main" prst="rect">
            <a:avLst/>
          </a:prstGeom>
          <a:solidFill xmlns:a="http://schemas.openxmlformats.org/drawingml/2006/main">
            <a:srgbClr val="93C47D"/>
          </a:solidFill>
          <a:ln xmlns:a="http://schemas.openxmlformats.org/drawingml/2006/main" w="4763">
            <a:solidFill>
              <a:srgbClr val="EAF2F5"/>
            </a:solidFill>
          </a:ln>
        </p:spPr>
      </p:sp>
      <p:sp>
        <p:nvSpPr>
          <p:cNvPr id="67" name="Family matrix 5 1">
            <a:extLst xmlns:a="http://schemas.openxmlformats.org/drawingml/2006/main">
              <a:ext uri="{FF2B5EF4-FFF2-40B4-BE49-F238E27FC236}">
                <a16:creationId xmlns:a16="http://schemas.microsoft.com/office/drawing/2014/main" id="{0D738759-DBE7-437F-9090-F96DB8EE1FEF}"/>
              </a:ext>
            </a:extLst>
          </p:cNvPr>
          <p:cNvSpPr>
            <a:spLocks xmlns:a="http://schemas.openxmlformats.org/drawingml/2006/main" noGrp="1"/>
          </p:cNvSpPr>
          <p:nvPr/>
        </p:nvSpPr>
        <p:spPr>
          <a:xfrm xmlns:a="http://schemas.openxmlformats.org/drawingml/2006/main">
            <a:off x="552450" y="6200775"/>
            <a:ext cx="114300" cy="114300"/>
          </a:xfrm>
          <a:prstGeom xmlns:a="http://schemas.openxmlformats.org/drawingml/2006/main" prst="rect">
            <a:avLst/>
          </a:prstGeom>
          <a:solidFill xmlns:a="http://schemas.openxmlformats.org/drawingml/2006/main">
            <a:srgbClr val="3D85C6"/>
          </a:solidFill>
          <a:ln xmlns:a="http://schemas.openxmlformats.org/drawingml/2006/main" w="4763">
            <a:solidFill>
              <a:srgbClr val="EAF2F5"/>
            </a:solidFill>
          </a:ln>
        </p:spPr>
      </p:sp>
      <p:sp>
        <p:nvSpPr>
          <p:cNvPr id="68" name="Family matrix 5 2">
            <a:extLst xmlns:a="http://schemas.openxmlformats.org/drawingml/2006/main">
              <a:ext uri="{FF2B5EF4-FFF2-40B4-BE49-F238E27FC236}">
                <a16:creationId xmlns:a16="http://schemas.microsoft.com/office/drawing/2014/main" id="{34C92C6C-031E-4FD1-A675-6B543BFD37DB}"/>
              </a:ext>
            </a:extLst>
          </p:cNvPr>
          <p:cNvSpPr>
            <a:spLocks xmlns:a="http://schemas.openxmlformats.org/drawingml/2006/main" noGrp="1"/>
          </p:cNvSpPr>
          <p:nvPr/>
        </p:nvSpPr>
        <p:spPr>
          <a:xfrm xmlns:a="http://schemas.openxmlformats.org/drawingml/2006/main">
            <a:off x="676275" y="6200775"/>
            <a:ext cx="114300" cy="114300"/>
          </a:xfrm>
          <a:prstGeom xmlns:a="http://schemas.openxmlformats.org/drawingml/2006/main" prst="rect">
            <a:avLst/>
          </a:prstGeom>
          <a:solidFill xmlns:a="http://schemas.openxmlformats.org/drawingml/2006/main">
            <a:srgbClr val="93C47D"/>
          </a:solidFill>
          <a:ln xmlns:a="http://schemas.openxmlformats.org/drawingml/2006/main" w="4763">
            <a:solidFill>
              <a:srgbClr val="EAF2F5"/>
            </a:solidFill>
          </a:ln>
        </p:spPr>
      </p:sp>
      <p:sp>
        <p:nvSpPr>
          <p:cNvPr id="69" name="Family matrix 5 3">
            <a:extLst xmlns:a="http://schemas.openxmlformats.org/drawingml/2006/main">
              <a:ext uri="{FF2B5EF4-FFF2-40B4-BE49-F238E27FC236}">
                <a16:creationId xmlns:a16="http://schemas.microsoft.com/office/drawing/2014/main" id="{D8561D76-EEC5-4F0C-A271-0A757D1E06FA}"/>
              </a:ext>
            </a:extLst>
          </p:cNvPr>
          <p:cNvSpPr>
            <a:spLocks xmlns:a="http://schemas.openxmlformats.org/drawingml/2006/main" noGrp="1"/>
          </p:cNvSpPr>
          <p:nvPr/>
        </p:nvSpPr>
        <p:spPr>
          <a:xfrm xmlns:a="http://schemas.openxmlformats.org/drawingml/2006/main">
            <a:off x="800100" y="6200775"/>
            <a:ext cx="114300" cy="114300"/>
          </a:xfrm>
          <a:prstGeom xmlns:a="http://schemas.openxmlformats.org/drawingml/2006/main" prst="rect">
            <a:avLst/>
          </a:prstGeom>
          <a:solidFill xmlns:a="http://schemas.openxmlformats.org/drawingml/2006/main">
            <a:srgbClr val="3D85C6"/>
          </a:solidFill>
          <a:ln xmlns:a="http://schemas.openxmlformats.org/drawingml/2006/main" w="4763">
            <a:solidFill>
              <a:srgbClr val="EAF2F5"/>
            </a:solidFill>
          </a:ln>
        </p:spPr>
      </p:sp>
      <p:sp>
        <p:nvSpPr>
          <p:cNvPr id="70" name="Family matrix 5 4">
            <a:extLst xmlns:a="http://schemas.openxmlformats.org/drawingml/2006/main">
              <a:ext uri="{FF2B5EF4-FFF2-40B4-BE49-F238E27FC236}">
                <a16:creationId xmlns:a16="http://schemas.microsoft.com/office/drawing/2014/main" id="{ED91B255-55BE-432A-B463-37861589D178}"/>
              </a:ext>
            </a:extLst>
          </p:cNvPr>
          <p:cNvSpPr>
            <a:spLocks xmlns:a="http://schemas.openxmlformats.org/drawingml/2006/main" noGrp="1"/>
          </p:cNvSpPr>
          <p:nvPr/>
        </p:nvSpPr>
        <p:spPr>
          <a:xfrm xmlns:a="http://schemas.openxmlformats.org/drawingml/2006/main">
            <a:off x="923925" y="6200775"/>
            <a:ext cx="114300" cy="114300"/>
          </a:xfrm>
          <a:prstGeom xmlns:a="http://schemas.openxmlformats.org/drawingml/2006/main" prst="rect">
            <a:avLst/>
          </a:prstGeom>
          <a:solidFill xmlns:a="http://schemas.openxmlformats.org/drawingml/2006/main">
            <a:srgbClr val="93C47D"/>
          </a:solidFill>
          <a:ln xmlns:a="http://schemas.openxmlformats.org/drawingml/2006/main" w="4763">
            <a:solidFill>
              <a:srgbClr val="EAF2F5"/>
            </a:solidFill>
          </a:ln>
        </p:spPr>
      </p:sp>
      <p:sp>
        <p:nvSpPr>
          <p:cNvPr id="71" name="Family matrix 5 5">
            <a:extLst xmlns:a="http://schemas.openxmlformats.org/drawingml/2006/main">
              <a:ext uri="{FF2B5EF4-FFF2-40B4-BE49-F238E27FC236}">
                <a16:creationId xmlns:a16="http://schemas.microsoft.com/office/drawing/2014/main" id="{BDC2EB7A-8766-4E5F-9FDA-AE1350A9E67D}"/>
              </a:ext>
            </a:extLst>
          </p:cNvPr>
          <p:cNvSpPr>
            <a:spLocks xmlns:a="http://schemas.openxmlformats.org/drawingml/2006/main" noGrp="1"/>
          </p:cNvSpPr>
          <p:nvPr/>
        </p:nvSpPr>
        <p:spPr>
          <a:xfrm xmlns:a="http://schemas.openxmlformats.org/drawingml/2006/main">
            <a:off x="1047750" y="6200775"/>
            <a:ext cx="114300" cy="114300"/>
          </a:xfrm>
          <a:prstGeom xmlns:a="http://schemas.openxmlformats.org/drawingml/2006/main" prst="rect">
            <a:avLst/>
          </a:prstGeom>
          <a:solidFill xmlns:a="http://schemas.openxmlformats.org/drawingml/2006/main">
            <a:srgbClr val="3D85C6"/>
          </a:solidFill>
          <a:ln xmlns:a="http://schemas.openxmlformats.org/drawingml/2006/main" w="4763">
            <a:solidFill>
              <a:srgbClr val="EAF2F5"/>
            </a:solidFill>
          </a:ln>
        </p:spPr>
      </p:sp>
      <p:sp>
        <p:nvSpPr>
          <p:cNvPr id="72" name="Family matrix 5 6">
            <a:extLst xmlns:a="http://schemas.openxmlformats.org/drawingml/2006/main">
              <a:ext uri="{FF2B5EF4-FFF2-40B4-BE49-F238E27FC236}">
                <a16:creationId xmlns:a16="http://schemas.microsoft.com/office/drawing/2014/main" id="{88C3BA0D-971C-4B1C-AB60-B4CDBFDFC388}"/>
              </a:ext>
            </a:extLst>
          </p:cNvPr>
          <p:cNvSpPr>
            <a:spLocks xmlns:a="http://schemas.openxmlformats.org/drawingml/2006/main" noGrp="1"/>
          </p:cNvSpPr>
          <p:nvPr/>
        </p:nvSpPr>
        <p:spPr>
          <a:xfrm xmlns:a="http://schemas.openxmlformats.org/drawingml/2006/main">
            <a:off x="1171575" y="6200775"/>
            <a:ext cx="114300" cy="114300"/>
          </a:xfrm>
          <a:prstGeom xmlns:a="http://schemas.openxmlformats.org/drawingml/2006/main" prst="rect">
            <a:avLst/>
          </a:prstGeom>
          <a:solidFill xmlns:a="http://schemas.openxmlformats.org/drawingml/2006/main">
            <a:srgbClr val="93C47D"/>
          </a:solidFill>
          <a:ln xmlns:a="http://schemas.openxmlformats.org/drawingml/2006/main" w="4763">
            <a:solidFill>
              <a:srgbClr val="EAF2F5"/>
            </a:solidFill>
          </a:ln>
        </p:spPr>
      </p:sp>
      <p:sp>
        <p:nvSpPr>
          <p:cNvPr id="73" name="Family matrix 5 7">
            <a:extLst xmlns:a="http://schemas.openxmlformats.org/drawingml/2006/main">
              <a:ext uri="{FF2B5EF4-FFF2-40B4-BE49-F238E27FC236}">
                <a16:creationId xmlns:a16="http://schemas.microsoft.com/office/drawing/2014/main" id="{1001DD93-1365-41C5-8B7C-6C8027149DBB}"/>
              </a:ext>
            </a:extLst>
          </p:cNvPr>
          <p:cNvSpPr>
            <a:spLocks xmlns:a="http://schemas.openxmlformats.org/drawingml/2006/main" noGrp="1"/>
          </p:cNvSpPr>
          <p:nvPr/>
        </p:nvSpPr>
        <p:spPr>
          <a:xfrm xmlns:a="http://schemas.openxmlformats.org/drawingml/2006/main">
            <a:off x="1295400" y="6200775"/>
            <a:ext cx="114300" cy="114300"/>
          </a:xfrm>
          <a:prstGeom xmlns:a="http://schemas.openxmlformats.org/drawingml/2006/main" prst="rect">
            <a:avLst/>
          </a:prstGeom>
          <a:solidFill xmlns:a="http://schemas.openxmlformats.org/drawingml/2006/main">
            <a:srgbClr val="3D85C6"/>
          </a:solidFill>
          <a:ln xmlns:a="http://schemas.openxmlformats.org/drawingml/2006/main" w="4763">
            <a:solidFill>
              <a:srgbClr val="EAF2F5"/>
            </a:solidFill>
          </a:ln>
        </p:spPr>
      </p:sp>
      <p:sp>
        <p:nvSpPr>
          <p:cNvPr id="74" name="Family matrix 6 0">
            <a:extLst xmlns:a="http://schemas.openxmlformats.org/drawingml/2006/main">
              <a:ext uri="{FF2B5EF4-FFF2-40B4-BE49-F238E27FC236}">
                <a16:creationId xmlns:a16="http://schemas.microsoft.com/office/drawing/2014/main" id="{6275A7E1-28D3-480C-BCF7-EB22F1BE8037}"/>
              </a:ext>
            </a:extLst>
          </p:cNvPr>
          <p:cNvSpPr>
            <a:spLocks xmlns:a="http://schemas.openxmlformats.org/drawingml/2006/main" noGrp="1"/>
          </p:cNvSpPr>
          <p:nvPr/>
        </p:nvSpPr>
        <p:spPr>
          <a:xfrm xmlns:a="http://schemas.openxmlformats.org/drawingml/2006/main">
            <a:off x="428625" y="6324600"/>
            <a:ext cx="114300" cy="114300"/>
          </a:xfrm>
          <a:prstGeom xmlns:a="http://schemas.openxmlformats.org/drawingml/2006/main" prst="rect">
            <a:avLst/>
          </a:prstGeom>
          <a:solidFill xmlns:a="http://schemas.openxmlformats.org/drawingml/2006/main">
            <a:srgbClr val="6FA8DC"/>
          </a:solidFill>
          <a:ln xmlns:a="http://schemas.openxmlformats.org/drawingml/2006/main" w="4763">
            <a:solidFill>
              <a:srgbClr val="EAF2F5"/>
            </a:solidFill>
          </a:ln>
        </p:spPr>
      </p:sp>
      <p:sp>
        <p:nvSpPr>
          <p:cNvPr id="75" name="Family matrix 6 1">
            <a:extLst xmlns:a="http://schemas.openxmlformats.org/drawingml/2006/main">
              <a:ext uri="{FF2B5EF4-FFF2-40B4-BE49-F238E27FC236}">
                <a16:creationId xmlns:a16="http://schemas.microsoft.com/office/drawing/2014/main" id="{F54D6B52-7E97-44BA-B029-DB609453EBFA}"/>
              </a:ext>
            </a:extLst>
          </p:cNvPr>
          <p:cNvSpPr>
            <a:spLocks xmlns:a="http://schemas.openxmlformats.org/drawingml/2006/main" noGrp="1"/>
          </p:cNvSpPr>
          <p:nvPr/>
        </p:nvSpPr>
        <p:spPr>
          <a:xfrm xmlns:a="http://schemas.openxmlformats.org/drawingml/2006/main">
            <a:off x="552450" y="6324600"/>
            <a:ext cx="114300" cy="114300"/>
          </a:xfrm>
          <a:prstGeom xmlns:a="http://schemas.openxmlformats.org/drawingml/2006/main" prst="rect">
            <a:avLst/>
          </a:prstGeom>
          <a:solidFill xmlns:a="http://schemas.openxmlformats.org/drawingml/2006/main">
            <a:srgbClr val="D9EAD3"/>
          </a:solidFill>
          <a:ln xmlns:a="http://schemas.openxmlformats.org/drawingml/2006/main" w="4763">
            <a:solidFill>
              <a:srgbClr val="EAF2F5"/>
            </a:solidFill>
          </a:ln>
        </p:spPr>
      </p:sp>
      <p:sp>
        <p:nvSpPr>
          <p:cNvPr id="76" name="Family matrix 6 2">
            <a:extLst xmlns:a="http://schemas.openxmlformats.org/drawingml/2006/main">
              <a:ext uri="{FF2B5EF4-FFF2-40B4-BE49-F238E27FC236}">
                <a16:creationId xmlns:a16="http://schemas.microsoft.com/office/drawing/2014/main" id="{3CEFE0BD-0796-4220-94DE-800723857D2B}"/>
              </a:ext>
            </a:extLst>
          </p:cNvPr>
          <p:cNvSpPr>
            <a:spLocks xmlns:a="http://schemas.openxmlformats.org/drawingml/2006/main" noGrp="1"/>
          </p:cNvSpPr>
          <p:nvPr/>
        </p:nvSpPr>
        <p:spPr>
          <a:xfrm xmlns:a="http://schemas.openxmlformats.org/drawingml/2006/main">
            <a:off x="676275" y="6324600"/>
            <a:ext cx="114300" cy="114300"/>
          </a:xfrm>
          <a:prstGeom xmlns:a="http://schemas.openxmlformats.org/drawingml/2006/main" prst="rect">
            <a:avLst/>
          </a:prstGeom>
          <a:solidFill xmlns:a="http://schemas.openxmlformats.org/drawingml/2006/main">
            <a:srgbClr val="6FA8DC"/>
          </a:solidFill>
          <a:ln xmlns:a="http://schemas.openxmlformats.org/drawingml/2006/main" w="4763">
            <a:solidFill>
              <a:srgbClr val="EAF2F5"/>
            </a:solidFill>
          </a:ln>
        </p:spPr>
      </p:sp>
      <p:sp>
        <p:nvSpPr>
          <p:cNvPr id="77" name="Family matrix 6 3">
            <a:extLst xmlns:a="http://schemas.openxmlformats.org/drawingml/2006/main">
              <a:ext uri="{FF2B5EF4-FFF2-40B4-BE49-F238E27FC236}">
                <a16:creationId xmlns:a16="http://schemas.microsoft.com/office/drawing/2014/main" id="{31BD0EA2-0E28-458E-878D-75B25487D8CA}"/>
              </a:ext>
            </a:extLst>
          </p:cNvPr>
          <p:cNvSpPr>
            <a:spLocks xmlns:a="http://schemas.openxmlformats.org/drawingml/2006/main" noGrp="1"/>
          </p:cNvSpPr>
          <p:nvPr/>
        </p:nvSpPr>
        <p:spPr>
          <a:xfrm xmlns:a="http://schemas.openxmlformats.org/drawingml/2006/main">
            <a:off x="800100" y="6324600"/>
            <a:ext cx="114300" cy="114300"/>
          </a:xfrm>
          <a:prstGeom xmlns:a="http://schemas.openxmlformats.org/drawingml/2006/main" prst="rect">
            <a:avLst/>
          </a:prstGeom>
          <a:solidFill xmlns:a="http://schemas.openxmlformats.org/drawingml/2006/main">
            <a:srgbClr val="D9EAD3"/>
          </a:solidFill>
          <a:ln xmlns:a="http://schemas.openxmlformats.org/drawingml/2006/main" w="4763">
            <a:solidFill>
              <a:srgbClr val="EAF2F5"/>
            </a:solidFill>
          </a:ln>
        </p:spPr>
      </p:sp>
      <p:sp>
        <p:nvSpPr>
          <p:cNvPr id="78" name="Family matrix 6 4">
            <a:extLst xmlns:a="http://schemas.openxmlformats.org/drawingml/2006/main">
              <a:ext uri="{FF2B5EF4-FFF2-40B4-BE49-F238E27FC236}">
                <a16:creationId xmlns:a16="http://schemas.microsoft.com/office/drawing/2014/main" id="{4B7FF74C-8527-4694-84CC-193E65523334}"/>
              </a:ext>
            </a:extLst>
          </p:cNvPr>
          <p:cNvSpPr>
            <a:spLocks xmlns:a="http://schemas.openxmlformats.org/drawingml/2006/main" noGrp="1"/>
          </p:cNvSpPr>
          <p:nvPr/>
        </p:nvSpPr>
        <p:spPr>
          <a:xfrm xmlns:a="http://schemas.openxmlformats.org/drawingml/2006/main">
            <a:off x="923925" y="6324600"/>
            <a:ext cx="114300" cy="114300"/>
          </a:xfrm>
          <a:prstGeom xmlns:a="http://schemas.openxmlformats.org/drawingml/2006/main" prst="rect">
            <a:avLst/>
          </a:prstGeom>
          <a:solidFill xmlns:a="http://schemas.openxmlformats.org/drawingml/2006/main">
            <a:srgbClr val="6FA8DC"/>
          </a:solidFill>
          <a:ln xmlns:a="http://schemas.openxmlformats.org/drawingml/2006/main" w="4763">
            <a:solidFill>
              <a:srgbClr val="EAF2F5"/>
            </a:solidFill>
          </a:ln>
        </p:spPr>
      </p:sp>
      <p:sp>
        <p:nvSpPr>
          <p:cNvPr id="79" name="Family matrix 6 5">
            <a:extLst xmlns:a="http://schemas.openxmlformats.org/drawingml/2006/main">
              <a:ext uri="{FF2B5EF4-FFF2-40B4-BE49-F238E27FC236}">
                <a16:creationId xmlns:a16="http://schemas.microsoft.com/office/drawing/2014/main" id="{A8E0EC70-DBE0-48F7-8BAC-1FB8297A603A}"/>
              </a:ext>
            </a:extLst>
          </p:cNvPr>
          <p:cNvSpPr>
            <a:spLocks xmlns:a="http://schemas.openxmlformats.org/drawingml/2006/main" noGrp="1"/>
          </p:cNvSpPr>
          <p:nvPr/>
        </p:nvSpPr>
        <p:spPr>
          <a:xfrm xmlns:a="http://schemas.openxmlformats.org/drawingml/2006/main">
            <a:off x="1047750" y="6324600"/>
            <a:ext cx="114300" cy="114300"/>
          </a:xfrm>
          <a:prstGeom xmlns:a="http://schemas.openxmlformats.org/drawingml/2006/main" prst="rect">
            <a:avLst/>
          </a:prstGeom>
          <a:solidFill xmlns:a="http://schemas.openxmlformats.org/drawingml/2006/main">
            <a:srgbClr val="D9EAD3"/>
          </a:solidFill>
          <a:ln xmlns:a="http://schemas.openxmlformats.org/drawingml/2006/main" w="4763">
            <a:solidFill>
              <a:srgbClr val="EAF2F5"/>
            </a:solidFill>
          </a:ln>
        </p:spPr>
      </p:sp>
      <p:sp>
        <p:nvSpPr>
          <p:cNvPr id="80" name="Family matrix 6 6">
            <a:extLst xmlns:a="http://schemas.openxmlformats.org/drawingml/2006/main">
              <a:ext uri="{FF2B5EF4-FFF2-40B4-BE49-F238E27FC236}">
                <a16:creationId xmlns:a16="http://schemas.microsoft.com/office/drawing/2014/main" id="{A2339F66-C3B8-4BCC-B6F7-E655C90F43D2}"/>
              </a:ext>
            </a:extLst>
          </p:cNvPr>
          <p:cNvSpPr>
            <a:spLocks xmlns:a="http://schemas.openxmlformats.org/drawingml/2006/main" noGrp="1"/>
          </p:cNvSpPr>
          <p:nvPr/>
        </p:nvSpPr>
        <p:spPr>
          <a:xfrm xmlns:a="http://schemas.openxmlformats.org/drawingml/2006/main">
            <a:off x="1171575" y="6324600"/>
            <a:ext cx="114300" cy="114300"/>
          </a:xfrm>
          <a:prstGeom xmlns:a="http://schemas.openxmlformats.org/drawingml/2006/main" prst="rect">
            <a:avLst/>
          </a:prstGeom>
          <a:solidFill xmlns:a="http://schemas.openxmlformats.org/drawingml/2006/main">
            <a:srgbClr val="6FA8DC"/>
          </a:solidFill>
          <a:ln xmlns:a="http://schemas.openxmlformats.org/drawingml/2006/main" w="4763">
            <a:solidFill>
              <a:srgbClr val="EAF2F5"/>
            </a:solidFill>
          </a:ln>
        </p:spPr>
      </p:sp>
      <p:sp>
        <p:nvSpPr>
          <p:cNvPr id="81" name="Family matrix 6 7">
            <a:extLst xmlns:a="http://schemas.openxmlformats.org/drawingml/2006/main">
              <a:ext uri="{FF2B5EF4-FFF2-40B4-BE49-F238E27FC236}">
                <a16:creationId xmlns:a16="http://schemas.microsoft.com/office/drawing/2014/main" id="{6E3F1F3A-EBF3-43AC-A060-C770041B420B}"/>
              </a:ext>
            </a:extLst>
          </p:cNvPr>
          <p:cNvSpPr>
            <a:spLocks xmlns:a="http://schemas.openxmlformats.org/drawingml/2006/main" noGrp="1"/>
          </p:cNvSpPr>
          <p:nvPr/>
        </p:nvSpPr>
        <p:spPr>
          <a:xfrm xmlns:a="http://schemas.openxmlformats.org/drawingml/2006/main">
            <a:off x="1295400" y="6324600"/>
            <a:ext cx="114300" cy="114300"/>
          </a:xfrm>
          <a:prstGeom xmlns:a="http://schemas.openxmlformats.org/drawingml/2006/main" prst="rect">
            <a:avLst/>
          </a:prstGeom>
          <a:solidFill xmlns:a="http://schemas.openxmlformats.org/drawingml/2006/main">
            <a:srgbClr val="D9EAD3"/>
          </a:solidFill>
          <a:ln xmlns:a="http://schemas.openxmlformats.org/drawingml/2006/main" w="4763">
            <a:solidFill>
              <a:srgbClr val="EAF2F5"/>
            </a:solidFill>
          </a:ln>
        </p:spPr>
      </p:sp>
      <p:sp>
        <p:nvSpPr>
          <p:cNvPr id="82" name="Clustering label">
            <a:extLst xmlns:a="http://schemas.openxmlformats.org/drawingml/2006/main">
              <a:ext uri="{FF2B5EF4-FFF2-40B4-BE49-F238E27FC236}">
                <a16:creationId xmlns:a16="http://schemas.microsoft.com/office/drawing/2014/main" id="{B4431FB8-6EB3-403A-874D-567D5FCAD692}"/>
              </a:ext>
            </a:extLst>
          </p:cNvPr>
          <p:cNvSpPr>
            <a:spLocks xmlns:a="http://schemas.openxmlformats.org/drawingml/2006/main" noGrp="1"/>
          </p:cNvSpPr>
          <p:nvPr/>
        </p:nvSpPr>
        <p:spPr>
          <a:xfrm xmlns:a="http://schemas.openxmlformats.org/drawingml/2006/main">
            <a:off x="1562100" y="5553075"/>
            <a:ext cx="14382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2175" b="0">
                <a:solidFill>
                  <a:srgbClr val="172D38"/>
                </a:solidFill>
                <a:latin typeface="Calibri"/>
                <a:ea typeface="Calibri"/>
                <a:cs typeface="Calibri"/>
              </a:defRPr>
            </a:pPr>
            <a:r>
              <a:rPr sz="2175" b="0">
                <a:solidFill>
                  <a:srgbClr val="172D38"/>
                </a:solidFill>
                <a:latin typeface="Calibri"/>
                <a:ea typeface="Calibri"/>
                <a:cs typeface="Calibri"/>
              </a:rPr>
              <a:t>MMseqs2</a:t>
            </a:r>
          </a:p>
          <a:p xmlns:a="http://schemas.openxmlformats.org/drawingml/2006/main">
            <a:pPr algn="l">
              <a:buNone/>
              <a:defRPr sz="2175" b="0">
                <a:solidFill>
                  <a:srgbClr val="172D38"/>
                </a:solidFill>
                <a:latin typeface="Calibri"/>
                <a:ea typeface="Calibri"/>
                <a:cs typeface="Calibri"/>
              </a:defRPr>
            </a:pPr>
            <a:r>
              <a:rPr sz="2175" b="0">
                <a:solidFill>
                  <a:srgbClr val="172D38"/>
                </a:solidFill>
                <a:latin typeface="Calibri"/>
                <a:ea typeface="Calibri"/>
                <a:cs typeface="Calibri"/>
              </a:rPr>
              <a:t>family matrix</a:t>
            </a:r>
          </a:p>
        </p:txBody>
      </p:sp>
      <p:sp>
        <p:nvSpPr>
          <p:cNvPr id="83" name="Matrix dimensions">
            <a:extLst xmlns:a="http://schemas.openxmlformats.org/drawingml/2006/main">
              <a:ext uri="{FF2B5EF4-FFF2-40B4-BE49-F238E27FC236}">
                <a16:creationId xmlns:a16="http://schemas.microsoft.com/office/drawing/2014/main" id="{11A36778-1608-4B7C-8752-95D08634D7F1}"/>
              </a:ext>
            </a:extLst>
          </p:cNvPr>
          <p:cNvSpPr>
            <a:spLocks xmlns:a="http://schemas.openxmlformats.org/drawingml/2006/main" noGrp="1"/>
          </p:cNvSpPr>
          <p:nvPr/>
        </p:nvSpPr>
        <p:spPr>
          <a:xfrm xmlns:a="http://schemas.openxmlformats.org/drawingml/2006/main">
            <a:off x="381000" y="6572250"/>
            <a:ext cx="2619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2400" b="1">
                <a:solidFill>
                  <a:srgbClr val="172D38"/>
                </a:solidFill>
                <a:latin typeface="Calibri"/>
                <a:ea typeface="Calibri"/>
                <a:cs typeface="Calibri"/>
              </a:defRPr>
            </a:pPr>
            <a:r>
              <a:rPr sz="2400" b="1">
                <a:solidFill>
                  <a:srgbClr val="172D38"/>
                </a:solidFill>
                <a:latin typeface="Calibri"/>
                <a:ea typeface="Calibri"/>
                <a:cs typeface="Calibri"/>
              </a:rPr>
              <a:t>426 × 2,286</a:t>
            </a:r>
          </a:p>
        </p:txBody>
      </p:sp>
      <p:sp>
        <p:nvSpPr>
          <p:cNvPr id="84" name="Matrix to evaluation">
            <a:extLst xmlns:a="http://schemas.openxmlformats.org/drawingml/2006/main">
              <a:ext uri="{FF2B5EF4-FFF2-40B4-BE49-F238E27FC236}">
                <a16:creationId xmlns:a16="http://schemas.microsoft.com/office/drawing/2014/main" id="{031F55C8-254E-4059-B32A-9F87D6B3C976}"/>
              </a:ext>
            </a:extLst>
          </p:cNvPr>
          <p:cNvSpPr>
            <a:spLocks xmlns:a="http://schemas.openxmlformats.org/drawingml/2006/main" noGrp="1"/>
          </p:cNvSpPr>
          <p:nvPr/>
        </p:nvSpPr>
        <p:spPr>
          <a:xfrm xmlns:a="http://schemas.openxmlformats.org/drawingml/2006/main">
            <a:off x="1685925" y="7143750"/>
            <a:ext cx="9525" cy="552450"/>
          </a:xfrm>
          <a:custGeom xmlns:a="http://schemas.openxmlformats.org/drawingml/2006/main">
            <a:pathLst>
              <a:path w="9525" h="552450">
                <a:moveTo>
                  <a:pt x="0" y="0"/>
                </a:moveTo>
                <a:lnTo>
                  <a:pt x="0" y="552450"/>
                </a:lnTo>
              </a:path>
            </a:pathLst>
          </a:custGeom>
          <a:noFill xmlns:a="http://schemas.openxmlformats.org/drawingml/2006/main"/>
          <a:ln xmlns:a="http://schemas.openxmlformats.org/drawingml/2006/main" w="28575">
            <a:solidFill>
              <a:srgbClr val="2F6F96"/>
            </a:solidFill>
          </a:ln>
        </p:spPr>
      </p:sp>
      <p:sp>
        <p:nvSpPr>
          <p:cNvPr id="85" name="Matrix to evaluation arrowhead">
            <a:extLst xmlns:a="http://schemas.openxmlformats.org/drawingml/2006/main">
              <a:ext uri="{FF2B5EF4-FFF2-40B4-BE49-F238E27FC236}">
                <a16:creationId xmlns:a16="http://schemas.microsoft.com/office/drawing/2014/main" id="{2DA35D4F-ADA0-4727-980C-B2858C3EBF6E}"/>
              </a:ext>
            </a:extLst>
          </p:cNvPr>
          <p:cNvSpPr>
            <a:spLocks xmlns:a="http://schemas.openxmlformats.org/drawingml/2006/main" noGrp="1"/>
          </p:cNvSpPr>
          <p:nvPr/>
        </p:nvSpPr>
        <p:spPr>
          <a:xfrm xmlns:a="http://schemas.openxmlformats.org/drawingml/2006/main">
            <a:off x="1628775" y="7581900"/>
            <a:ext cx="114300" cy="114300"/>
          </a:xfrm>
          <a:custGeom xmlns:a="http://schemas.openxmlformats.org/drawingml/2006/main">
            <a:pathLst>
              <a:path w="114300" h="114300">
                <a:moveTo>
                  <a:pt x="57150" y="114300"/>
                </a:moveTo>
                <a:lnTo>
                  <a:pt x="114300" y="0"/>
                </a:lnTo>
                <a:lnTo>
                  <a:pt x="0" y="0"/>
                </a:lnTo>
                <a:close/>
              </a:path>
            </a:pathLst>
          </a:custGeom>
          <a:solidFill xmlns:a="http://schemas.openxmlformats.org/drawingml/2006/main">
            <a:srgbClr val="2F6F96"/>
          </a:solidFill>
          <a:ln xmlns:a="http://schemas.openxmlformats.org/drawingml/2006/main" w="0">
            <a:solidFill>
              <a:srgbClr val="2F6F96"/>
            </a:solidFill>
          </a:ln>
        </p:spPr>
      </p:sp>
      <p:sp>
        <p:nvSpPr>
          <p:cNvPr id="86" name="Separate predictive evaluation">
            <a:extLst xmlns:a="http://schemas.openxmlformats.org/drawingml/2006/main">
              <a:ext uri="{FF2B5EF4-FFF2-40B4-BE49-F238E27FC236}">
                <a16:creationId xmlns:a16="http://schemas.microsoft.com/office/drawing/2014/main" id="{D10B4787-EBFB-4BA9-9E9F-8344BBBAD493}"/>
              </a:ext>
            </a:extLst>
          </p:cNvPr>
          <p:cNvSpPr>
            <a:spLocks xmlns:a="http://schemas.openxmlformats.org/drawingml/2006/main" noGrp="1"/>
          </p:cNvSpPr>
          <p:nvPr/>
        </p:nvSpPr>
        <p:spPr>
          <a:xfrm xmlns:a="http://schemas.openxmlformats.org/drawingml/2006/main">
            <a:off x="190500" y="7743825"/>
            <a:ext cx="3000375" cy="1971675"/>
          </a:xfrm>
          <a:prstGeom xmlns:a="http://schemas.openxmlformats.org/drawingml/2006/main" prst="roundRect">
            <a:avLst>
              <a:gd name="adj" fmla="val 8696"/>
            </a:avLst>
          </a:prstGeom>
          <a:solidFill xmlns:a="http://schemas.openxmlformats.org/drawingml/2006/main">
            <a:srgbClr val="F2F8FC"/>
          </a:solidFill>
          <a:ln xmlns:a="http://schemas.openxmlformats.org/drawingml/2006/main" w="23813">
            <a:solidFill>
              <a:srgbClr val="2F6F96"/>
            </a:solidFill>
          </a:ln>
        </p:spPr>
      </p:sp>
      <p:sp>
        <p:nvSpPr>
          <p:cNvPr id="87" name="Evaluation analysis">
            <a:extLst xmlns:a="http://schemas.openxmlformats.org/drawingml/2006/main">
              <a:ext uri="{FF2B5EF4-FFF2-40B4-BE49-F238E27FC236}">
                <a16:creationId xmlns:a16="http://schemas.microsoft.com/office/drawing/2014/main" id="{5598F6B6-D45C-4D0E-8C59-686D1EF39530}"/>
              </a:ext>
            </a:extLst>
          </p:cNvPr>
          <p:cNvSpPr>
            <a:spLocks xmlns:a="http://schemas.openxmlformats.org/drawingml/2006/main" noGrp="1"/>
          </p:cNvSpPr>
          <p:nvPr/>
        </p:nvSpPr>
        <p:spPr>
          <a:xfrm xmlns:a="http://schemas.openxmlformats.org/drawingml/2006/main">
            <a:off x="361950" y="7943850"/>
            <a:ext cx="26574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2325" b="1">
                <a:solidFill>
                  <a:srgbClr val="172D38"/>
                </a:solidFill>
                <a:latin typeface="Calibri"/>
                <a:ea typeface="Calibri"/>
                <a:cs typeface="Calibri"/>
              </a:defRPr>
            </a:pPr>
            <a:r>
              <a:rPr sz="2325" b="1">
                <a:solidFill>
                  <a:srgbClr val="172D38"/>
                </a:solidFill>
                <a:latin typeface="Calibri"/>
                <a:ea typeface="Calibri"/>
                <a:cs typeface="Calibri"/>
              </a:rPr>
              <a:t>Genus-blocked</a:t>
            </a:r>
          </a:p>
          <a:p xmlns:a="http://schemas.openxmlformats.org/drawingml/2006/main">
            <a:pPr algn="ctr">
              <a:buNone/>
              <a:defRPr sz="2325" b="1">
                <a:solidFill>
                  <a:srgbClr val="172D38"/>
                </a:solidFill>
                <a:latin typeface="Calibri"/>
                <a:ea typeface="Calibri"/>
                <a:cs typeface="Calibri"/>
              </a:defRPr>
            </a:pPr>
            <a:r>
              <a:rPr sz="2325" b="1">
                <a:solidFill>
                  <a:srgbClr val="172D38"/>
                </a:solidFill>
                <a:latin typeface="Calibri"/>
                <a:ea typeface="Calibri"/>
                <a:cs typeface="Calibri"/>
              </a:rPr>
              <a:t>prediction</a:t>
            </a:r>
          </a:p>
        </p:txBody>
      </p:sp>
      <p:sp>
        <p:nvSpPr>
          <p:cNvPr id="88" name="Evaluation filtering">
            <a:extLst xmlns:a="http://schemas.openxmlformats.org/drawingml/2006/main">
              <a:ext uri="{FF2B5EF4-FFF2-40B4-BE49-F238E27FC236}">
                <a16:creationId xmlns:a16="http://schemas.microsoft.com/office/drawing/2014/main" id="{09B91B63-F90E-4BB3-8952-09B246B897BF}"/>
              </a:ext>
            </a:extLst>
          </p:cNvPr>
          <p:cNvSpPr>
            <a:spLocks xmlns:a="http://schemas.openxmlformats.org/drawingml/2006/main" noGrp="1"/>
          </p:cNvSpPr>
          <p:nvPr/>
        </p:nvSpPr>
        <p:spPr>
          <a:xfrm xmlns:a="http://schemas.openxmlformats.org/drawingml/2006/main">
            <a:off x="323850" y="8772525"/>
            <a:ext cx="27336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2100" b="0">
                <a:solidFill>
                  <a:srgbClr val="172D38"/>
                </a:solidFill>
                <a:latin typeface="Calibri"/>
                <a:ea typeface="Calibri"/>
                <a:cs typeface="Calibri"/>
              </a:defRPr>
            </a:pPr>
            <a:r>
              <a:rPr sz="2100" b="0">
                <a:solidFill>
                  <a:srgbClr val="172D38"/>
                </a:solidFill>
                <a:latin typeface="Calibri"/>
                <a:ea typeface="Calibri"/>
                <a:cs typeface="Calibri"/>
              </a:rPr>
              <a:t>Training-fold filters</a:t>
            </a:r>
          </a:p>
        </p:txBody>
      </p:sp>
      <p:sp>
        <p:nvSpPr>
          <p:cNvPr id="89" name="Prediction figure reference">
            <a:extLst xmlns:a="http://schemas.openxmlformats.org/drawingml/2006/main">
              <a:ext uri="{FF2B5EF4-FFF2-40B4-BE49-F238E27FC236}">
                <a16:creationId xmlns:a16="http://schemas.microsoft.com/office/drawing/2014/main" id="{2909CF1A-3447-4B7E-9AC5-777B6D00CCCC}"/>
              </a:ext>
            </a:extLst>
          </p:cNvPr>
          <p:cNvSpPr>
            <a:spLocks xmlns:a="http://schemas.openxmlformats.org/drawingml/2006/main" noGrp="1"/>
          </p:cNvSpPr>
          <p:nvPr/>
        </p:nvSpPr>
        <p:spPr>
          <a:xfrm xmlns:a="http://schemas.openxmlformats.org/drawingml/2006/main">
            <a:off x="361950" y="9229725"/>
            <a:ext cx="26574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2100" b="1">
                <a:solidFill>
                  <a:srgbClr val="2F6F96"/>
                </a:solidFill>
                <a:latin typeface="Calibri"/>
                <a:ea typeface="Calibri"/>
                <a:cs typeface="Calibri"/>
              </a:defRPr>
            </a:pPr>
            <a:r>
              <a:rPr sz="2100" b="1">
                <a:solidFill>
                  <a:srgbClr val="2F6F96"/>
                </a:solidFill>
                <a:latin typeface="Calibri"/>
                <a:ea typeface="Calibri"/>
                <a:cs typeface="Calibri"/>
              </a:rPr>
              <a:t>Figure 2</a:t>
            </a:r>
          </a:p>
        </p:txBody>
      </p:sp>
      <p:sp>
        <p:nvSpPr>
          <p:cNvPr id="90" name="Highly Pure inventory">
            <a:extLst xmlns:a="http://schemas.openxmlformats.org/drawingml/2006/main">
              <a:ext uri="{FF2B5EF4-FFF2-40B4-BE49-F238E27FC236}">
                <a16:creationId xmlns:a16="http://schemas.microsoft.com/office/drawing/2014/main" id="{8D933030-7D9B-4065-87EE-A8C87E37DBA4}"/>
              </a:ext>
            </a:extLst>
          </p:cNvPr>
          <p:cNvSpPr>
            <a:spLocks xmlns:a="http://schemas.openxmlformats.org/drawingml/2006/main" noGrp="1"/>
          </p:cNvSpPr>
          <p:nvPr/>
        </p:nvSpPr>
        <p:spPr>
          <a:xfrm xmlns:a="http://schemas.openxmlformats.org/drawingml/2006/main">
            <a:off x="3333750" y="1714500"/>
            <a:ext cx="2952750" cy="3400425"/>
          </a:xfrm>
          <a:prstGeom xmlns:a="http://schemas.openxmlformats.org/drawingml/2006/main" prst="roundRect">
            <a:avLst>
              <a:gd name="adj" fmla="val 5806"/>
            </a:avLst>
          </a:prstGeom>
          <a:solidFill xmlns:a="http://schemas.openxmlformats.org/drawingml/2006/main">
            <a:srgbClr val="A9D99C"/>
          </a:solidFill>
          <a:ln xmlns:a="http://schemas.openxmlformats.org/drawingml/2006/main" w="28575">
            <a:solidFill>
              <a:srgbClr val="3B7D3B"/>
            </a:solidFill>
          </a:ln>
        </p:spPr>
      </p:sp>
      <p:sp>
        <p:nvSpPr>
          <p:cNvPr id="91" name="Highly Pure heading">
            <a:extLst xmlns:a="http://schemas.openxmlformats.org/drawingml/2006/main">
              <a:ext uri="{FF2B5EF4-FFF2-40B4-BE49-F238E27FC236}">
                <a16:creationId xmlns:a16="http://schemas.microsoft.com/office/drawing/2014/main" id="{B3832875-E79A-42F3-B648-FFC78C61F6C1}"/>
              </a:ext>
            </a:extLst>
          </p:cNvPr>
          <p:cNvSpPr>
            <a:spLocks xmlns:a="http://schemas.openxmlformats.org/drawingml/2006/main" noGrp="1"/>
          </p:cNvSpPr>
          <p:nvPr/>
        </p:nvSpPr>
        <p:spPr>
          <a:xfrm xmlns:a="http://schemas.openxmlformats.org/drawingml/2006/main">
            <a:off x="3514725" y="2076450"/>
            <a:ext cx="2590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2550" b="1">
                <a:solidFill>
                  <a:srgbClr val="172D38"/>
                </a:solidFill>
                <a:latin typeface="Calibri"/>
                <a:ea typeface="Calibri"/>
                <a:cs typeface="Calibri"/>
              </a:defRPr>
            </a:pPr>
            <a:r>
              <a:rPr sz="2550" b="1">
                <a:solidFill>
                  <a:srgbClr val="172D38"/>
                </a:solidFill>
                <a:latin typeface="Calibri"/>
                <a:ea typeface="Calibri"/>
                <a:cs typeface="Calibri"/>
              </a:rPr>
              <a:t>High purity</a:t>
            </a:r>
          </a:p>
        </p:txBody>
      </p:sp>
      <p:sp>
        <p:nvSpPr>
          <p:cNvPr id="92" name="Highly Pure count">
            <a:extLst xmlns:a="http://schemas.openxmlformats.org/drawingml/2006/main">
              <a:ext uri="{FF2B5EF4-FFF2-40B4-BE49-F238E27FC236}">
                <a16:creationId xmlns:a16="http://schemas.microsoft.com/office/drawing/2014/main" id="{C151073E-B628-4513-8475-25B2DDB4AC50}"/>
              </a:ext>
            </a:extLst>
          </p:cNvPr>
          <p:cNvSpPr>
            <a:spLocks xmlns:a="http://schemas.openxmlformats.org/drawingml/2006/main" noGrp="1"/>
          </p:cNvSpPr>
          <p:nvPr/>
        </p:nvSpPr>
        <p:spPr>
          <a:xfrm xmlns:a="http://schemas.openxmlformats.org/drawingml/2006/main">
            <a:off x="3514725" y="2800350"/>
            <a:ext cx="2590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4050" b="1">
                <a:solidFill>
                  <a:srgbClr val="234F28"/>
                </a:solidFill>
                <a:latin typeface="Calibri"/>
                <a:ea typeface="Calibri"/>
                <a:cs typeface="Calibri"/>
              </a:defRPr>
            </a:pPr>
            <a:r>
              <a:rPr sz="4050" b="1">
                <a:solidFill>
                  <a:srgbClr val="234F28"/>
                </a:solidFill>
                <a:latin typeface="Calibri"/>
                <a:ea typeface="Calibri"/>
                <a:cs typeface="Calibri"/>
              </a:rPr>
              <a:t>981</a:t>
            </a:r>
          </a:p>
        </p:txBody>
      </p:sp>
      <p:sp>
        <p:nvSpPr>
          <p:cNvPr id="93" name="Highly Pure unit">
            <a:extLst xmlns:a="http://schemas.openxmlformats.org/drawingml/2006/main">
              <a:ext uri="{FF2B5EF4-FFF2-40B4-BE49-F238E27FC236}">
                <a16:creationId xmlns:a16="http://schemas.microsoft.com/office/drawing/2014/main" id="{00063856-201C-4304-8693-7F84A4A94F80}"/>
              </a:ext>
            </a:extLst>
          </p:cNvPr>
          <p:cNvSpPr>
            <a:spLocks xmlns:a="http://schemas.openxmlformats.org/drawingml/2006/main" noGrp="1"/>
          </p:cNvSpPr>
          <p:nvPr/>
        </p:nvSpPr>
        <p:spPr>
          <a:xfrm xmlns:a="http://schemas.openxmlformats.org/drawingml/2006/main">
            <a:off x="3514725" y="3505200"/>
            <a:ext cx="2590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2400" b="0">
                <a:solidFill>
                  <a:srgbClr val="172D38"/>
                </a:solidFill>
                <a:latin typeface="Calibri"/>
                <a:ea typeface="Calibri"/>
                <a:cs typeface="Calibri"/>
              </a:defRPr>
            </a:pPr>
            <a:r>
              <a:rPr sz="2400" b="0">
                <a:solidFill>
                  <a:srgbClr val="172D38"/>
                </a:solidFill>
                <a:latin typeface="Calibri"/>
                <a:ea typeface="Calibri"/>
                <a:cs typeface="Calibri"/>
              </a:rPr>
              <a:t>families</a:t>
            </a:r>
          </a:p>
        </p:txBody>
      </p:sp>
      <p:sp>
        <p:nvSpPr>
          <p:cNvPr id="94" name="Highly Pure context">
            <a:extLst xmlns:a="http://schemas.openxmlformats.org/drawingml/2006/main">
              <a:ext uri="{FF2B5EF4-FFF2-40B4-BE49-F238E27FC236}">
                <a16:creationId xmlns:a16="http://schemas.microsoft.com/office/drawing/2014/main" id="{67B2FEE4-5D55-4099-95C2-5BFE6A3D533E}"/>
              </a:ext>
            </a:extLst>
          </p:cNvPr>
          <p:cNvSpPr>
            <a:spLocks xmlns:a="http://schemas.openxmlformats.org/drawingml/2006/main" noGrp="1"/>
          </p:cNvSpPr>
          <p:nvPr/>
        </p:nvSpPr>
        <p:spPr>
          <a:xfrm xmlns:a="http://schemas.openxmlformats.org/drawingml/2006/main">
            <a:off x="3543300" y="4295775"/>
            <a:ext cx="25336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2175" b="0">
                <a:solidFill>
                  <a:srgbClr val="172D38"/>
                </a:solidFill>
                <a:latin typeface="Calibri"/>
                <a:ea typeface="Calibri"/>
                <a:cs typeface="Calibri"/>
              </a:defRPr>
            </a:pPr>
            <a:r>
              <a:rPr sz="2175" b="0">
                <a:solidFill>
                  <a:srgbClr val="172D38"/>
                </a:solidFill>
                <a:latin typeface="Calibri"/>
                <a:ea typeface="Calibri"/>
                <a:cs typeface="Calibri"/>
              </a:rPr>
              <a:t>High-purity</a:t>
            </a:r>
          </a:p>
          <a:p xmlns:a="http://schemas.openxmlformats.org/drawingml/2006/main">
            <a:pPr algn="ctr">
              <a:buNone/>
              <a:defRPr sz="2175" b="0">
                <a:solidFill>
                  <a:srgbClr val="172D38"/>
                </a:solidFill>
                <a:latin typeface="Calibri"/>
                <a:ea typeface="Calibri"/>
                <a:cs typeface="Calibri"/>
              </a:defRPr>
            </a:pPr>
            <a:r>
              <a:rPr sz="2175" b="0">
                <a:solidFill>
                  <a:srgbClr val="172D38"/>
                </a:solidFill>
                <a:latin typeface="Calibri"/>
                <a:ea typeface="Calibri"/>
                <a:cs typeface="Calibri"/>
              </a:rPr>
              <a:t>diazotrophy context</a:t>
            </a:r>
          </a:p>
        </p:txBody>
      </p:sp>
      <p:sp>
        <p:nvSpPr>
          <p:cNvPr id="95" name="Model-Supported inventory">
            <a:extLst xmlns:a="http://schemas.openxmlformats.org/drawingml/2006/main">
              <a:ext uri="{FF2B5EF4-FFF2-40B4-BE49-F238E27FC236}">
                <a16:creationId xmlns:a16="http://schemas.microsoft.com/office/drawing/2014/main" id="{8BFE3BFC-77B6-4458-9CA5-97D818911116}"/>
              </a:ext>
            </a:extLst>
          </p:cNvPr>
          <p:cNvSpPr>
            <a:spLocks xmlns:a="http://schemas.openxmlformats.org/drawingml/2006/main" noGrp="1"/>
          </p:cNvSpPr>
          <p:nvPr/>
        </p:nvSpPr>
        <p:spPr>
          <a:xfrm xmlns:a="http://schemas.openxmlformats.org/drawingml/2006/main">
            <a:off x="3333750" y="5581650"/>
            <a:ext cx="2952750" cy="3562350"/>
          </a:xfrm>
          <a:prstGeom xmlns:a="http://schemas.openxmlformats.org/drawingml/2006/main" prst="roundRect">
            <a:avLst>
              <a:gd name="adj" fmla="val 5806"/>
            </a:avLst>
          </a:prstGeom>
          <a:solidFill xmlns:a="http://schemas.openxmlformats.org/drawingml/2006/main">
            <a:srgbClr val="F2C964"/>
          </a:solidFill>
          <a:ln xmlns:a="http://schemas.openxmlformats.org/drawingml/2006/main" w="28575">
            <a:solidFill>
              <a:srgbClr val="A66B00"/>
            </a:solidFill>
          </a:ln>
        </p:spPr>
      </p:sp>
      <p:sp>
        <p:nvSpPr>
          <p:cNvPr id="96" name="Model-Supported heading">
            <a:extLst xmlns:a="http://schemas.openxmlformats.org/drawingml/2006/main">
              <a:ext uri="{FF2B5EF4-FFF2-40B4-BE49-F238E27FC236}">
                <a16:creationId xmlns:a16="http://schemas.microsoft.com/office/drawing/2014/main" id="{96FE4DF4-DC76-4708-9AA5-B90DB6488EFE}"/>
              </a:ext>
            </a:extLst>
          </p:cNvPr>
          <p:cNvSpPr>
            <a:spLocks xmlns:a="http://schemas.openxmlformats.org/drawingml/2006/main" noGrp="1"/>
          </p:cNvSpPr>
          <p:nvPr/>
        </p:nvSpPr>
        <p:spPr>
          <a:xfrm xmlns:a="http://schemas.openxmlformats.org/drawingml/2006/main">
            <a:off x="3467100" y="5810250"/>
            <a:ext cx="26860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2400" b="1">
                <a:solidFill>
                  <a:srgbClr val="172D38"/>
                </a:solidFill>
                <a:latin typeface="Calibri"/>
                <a:ea typeface="Calibri"/>
                <a:cs typeface="Calibri"/>
              </a:defRPr>
            </a:pPr>
            <a:r>
              <a:rPr sz="2400" b="1">
                <a:solidFill>
                  <a:srgbClr val="172D38"/>
                </a:solidFill>
                <a:latin typeface="Calibri"/>
                <a:ea typeface="Calibri"/>
                <a:cs typeface="Calibri"/>
              </a:rPr>
              <a:t>Residual
association</a:t>
            </a:r>
          </a:p>
        </p:txBody>
      </p:sp>
      <p:sp>
        <p:nvSpPr>
          <p:cNvPr id="97" name="Model-Supported count">
            <a:extLst xmlns:a="http://schemas.openxmlformats.org/drawingml/2006/main">
              <a:ext uri="{FF2B5EF4-FFF2-40B4-BE49-F238E27FC236}">
                <a16:creationId xmlns:a16="http://schemas.microsoft.com/office/drawing/2014/main" id="{3CCC17DC-519A-4972-8D6F-F2ECD1DB5670}"/>
              </a:ext>
            </a:extLst>
          </p:cNvPr>
          <p:cNvSpPr>
            <a:spLocks xmlns:a="http://schemas.openxmlformats.org/drawingml/2006/main" noGrp="1"/>
          </p:cNvSpPr>
          <p:nvPr/>
        </p:nvSpPr>
        <p:spPr>
          <a:xfrm xmlns:a="http://schemas.openxmlformats.org/drawingml/2006/main">
            <a:off x="3514725" y="6762750"/>
            <a:ext cx="2590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4050" b="1">
                <a:solidFill>
                  <a:srgbClr val="725116"/>
                </a:solidFill>
                <a:latin typeface="Calibri"/>
                <a:ea typeface="Calibri"/>
                <a:cs typeface="Calibri"/>
              </a:defRPr>
            </a:pPr>
            <a:r>
              <a:rPr sz="4050" b="1">
                <a:solidFill>
                  <a:srgbClr val="725116"/>
                </a:solidFill>
                <a:latin typeface="Calibri"/>
                <a:ea typeface="Calibri"/>
                <a:cs typeface="Calibri"/>
              </a:rPr>
              <a:t>476</a:t>
            </a:r>
          </a:p>
        </p:txBody>
      </p:sp>
      <p:sp>
        <p:nvSpPr>
          <p:cNvPr id="98" name="Model-Supported unit">
            <a:extLst xmlns:a="http://schemas.openxmlformats.org/drawingml/2006/main">
              <a:ext uri="{FF2B5EF4-FFF2-40B4-BE49-F238E27FC236}">
                <a16:creationId xmlns:a16="http://schemas.microsoft.com/office/drawing/2014/main" id="{9F52A6FE-7203-4DC7-91DF-2D4EAEA1BD1F}"/>
              </a:ext>
            </a:extLst>
          </p:cNvPr>
          <p:cNvSpPr>
            <a:spLocks xmlns:a="http://schemas.openxmlformats.org/drawingml/2006/main" noGrp="1"/>
          </p:cNvSpPr>
          <p:nvPr/>
        </p:nvSpPr>
        <p:spPr>
          <a:xfrm xmlns:a="http://schemas.openxmlformats.org/drawingml/2006/main">
            <a:off x="3514725" y="7467600"/>
            <a:ext cx="2590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2400" b="0">
                <a:solidFill>
                  <a:srgbClr val="172D38"/>
                </a:solidFill>
                <a:latin typeface="Calibri"/>
                <a:ea typeface="Calibri"/>
                <a:cs typeface="Calibri"/>
              </a:defRPr>
            </a:pPr>
            <a:r>
              <a:rPr sz="2400" b="0">
                <a:solidFill>
                  <a:srgbClr val="172D38"/>
                </a:solidFill>
                <a:latin typeface="Calibri"/>
                <a:ea typeface="Calibri"/>
                <a:cs typeface="Calibri"/>
              </a:rPr>
              <a:t>families</a:t>
            </a:r>
          </a:p>
        </p:txBody>
      </p:sp>
      <p:sp>
        <p:nvSpPr>
          <p:cNvPr id="99" name="Model-Supported context">
            <a:extLst xmlns:a="http://schemas.openxmlformats.org/drawingml/2006/main">
              <a:ext uri="{FF2B5EF4-FFF2-40B4-BE49-F238E27FC236}">
                <a16:creationId xmlns:a16="http://schemas.microsoft.com/office/drawing/2014/main" id="{538CF63A-83DC-42B9-AE3F-95D9CD7606D7}"/>
              </a:ext>
            </a:extLst>
          </p:cNvPr>
          <p:cNvSpPr>
            <a:spLocks xmlns:a="http://schemas.openxmlformats.org/drawingml/2006/main" noGrp="1"/>
          </p:cNvSpPr>
          <p:nvPr/>
        </p:nvSpPr>
        <p:spPr>
          <a:xfrm xmlns:a="http://schemas.openxmlformats.org/drawingml/2006/main">
            <a:off x="3543300" y="8315325"/>
            <a:ext cx="25336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2175" b="0">
                <a:solidFill>
                  <a:srgbClr val="172D38"/>
                </a:solidFill>
                <a:latin typeface="Calibri"/>
                <a:ea typeface="Calibri"/>
                <a:cs typeface="Calibri"/>
              </a:defRPr>
            </a:pPr>
            <a:r>
              <a:rPr sz="2175" b="0">
                <a:solidFill>
                  <a:srgbClr val="172D38"/>
                </a:solidFill>
                <a:latin typeface="Calibri"/>
                <a:ea typeface="Calibri"/>
                <a:cs typeface="Calibri"/>
              </a:rPr>
              <a:t>473 candidates</a:t>
            </a:r>
          </a:p>
          <a:p xmlns:a="http://schemas.openxmlformats.org/drawingml/2006/main">
            <a:pPr algn="ctr">
              <a:buNone/>
              <a:defRPr sz="2175" b="0">
                <a:solidFill>
                  <a:srgbClr val="172D38"/>
                </a:solidFill>
                <a:latin typeface="Calibri"/>
                <a:ea typeface="Calibri"/>
                <a:cs typeface="Calibri"/>
              </a:defRPr>
            </a:pPr>
            <a:r>
              <a:rPr sz="2175" b="0">
                <a:solidFill>
                  <a:srgbClr val="172D38"/>
                </a:solidFill>
                <a:latin typeface="Calibri"/>
                <a:ea typeface="Calibri"/>
                <a:cs typeface="Calibri"/>
              </a:rPr>
              <a:t>+ 3 controls</a:t>
            </a:r>
          </a:p>
        </p:txBody>
      </p:sp>
      <p:sp>
        <p:nvSpPr>
          <p:cNvPr id="100" name="Proteomics annotation">
            <a:extLst xmlns:a="http://schemas.openxmlformats.org/drawingml/2006/main">
              <a:ext uri="{FF2B5EF4-FFF2-40B4-BE49-F238E27FC236}">
                <a16:creationId xmlns:a16="http://schemas.microsoft.com/office/drawing/2014/main" id="{133348FF-FA51-41CA-B723-656507F22B0D}"/>
              </a:ext>
            </a:extLst>
          </p:cNvPr>
          <p:cNvSpPr>
            <a:spLocks xmlns:a="http://schemas.openxmlformats.org/drawingml/2006/main" noGrp="1"/>
          </p:cNvSpPr>
          <p:nvPr/>
        </p:nvSpPr>
        <p:spPr>
          <a:xfrm xmlns:a="http://schemas.openxmlformats.org/drawingml/2006/main">
            <a:off x="6429375" y="1714500"/>
            <a:ext cx="3048000" cy="2286000"/>
          </a:xfrm>
          <a:prstGeom xmlns:a="http://schemas.openxmlformats.org/drawingml/2006/main" prst="roundRect">
            <a:avLst>
              <a:gd name="adj" fmla="val 7500"/>
            </a:avLst>
          </a:prstGeom>
          <a:solidFill xmlns:a="http://schemas.openxmlformats.org/drawingml/2006/main">
            <a:srgbClr val="F2F8FC"/>
          </a:solidFill>
          <a:ln xmlns:a="http://schemas.openxmlformats.org/drawingml/2006/main" w="23813">
            <a:solidFill>
              <a:srgbClr val="2F6F96"/>
            </a:solidFill>
          </a:ln>
        </p:spPr>
      </p:sp>
      <p:sp>
        <p:nvSpPr>
          <p:cNvPr id="101" name="Proteomics vertical axis">
            <a:extLst xmlns:a="http://schemas.openxmlformats.org/drawingml/2006/main">
              <a:ext uri="{FF2B5EF4-FFF2-40B4-BE49-F238E27FC236}">
                <a16:creationId xmlns:a16="http://schemas.microsoft.com/office/drawing/2014/main" id="{873525A2-50D0-42D5-B227-5DF321DBDA84}"/>
              </a:ext>
            </a:extLst>
          </p:cNvPr>
          <p:cNvSpPr>
            <a:spLocks xmlns:a="http://schemas.openxmlformats.org/drawingml/2006/main" noGrp="1"/>
          </p:cNvSpPr>
          <p:nvPr/>
        </p:nvSpPr>
        <p:spPr>
          <a:xfrm xmlns:a="http://schemas.openxmlformats.org/drawingml/2006/main">
            <a:off x="7448550" y="1952625"/>
            <a:ext cx="9525" cy="762000"/>
          </a:xfrm>
          <a:custGeom xmlns:a="http://schemas.openxmlformats.org/drawingml/2006/main">
            <a:pathLst>
              <a:path w="9525" h="762000">
                <a:moveTo>
                  <a:pt x="0" y="0"/>
                </a:moveTo>
                <a:lnTo>
                  <a:pt x="0" y="762000"/>
                </a:lnTo>
              </a:path>
            </a:pathLst>
          </a:custGeom>
          <a:noFill xmlns:a="http://schemas.openxmlformats.org/drawingml/2006/main"/>
          <a:ln xmlns:a="http://schemas.openxmlformats.org/drawingml/2006/main" w="23813">
            <a:solidFill>
              <a:srgbClr val="2F6F96"/>
            </a:solidFill>
          </a:ln>
        </p:spPr>
      </p:sp>
      <p:sp>
        <p:nvSpPr>
          <p:cNvPr id="102" name="Proteomics horizontal axis">
            <a:extLst xmlns:a="http://schemas.openxmlformats.org/drawingml/2006/main">
              <a:ext uri="{FF2B5EF4-FFF2-40B4-BE49-F238E27FC236}">
                <a16:creationId xmlns:a16="http://schemas.microsoft.com/office/drawing/2014/main" id="{80A97A3E-100B-43FA-8C60-22324F732292}"/>
              </a:ext>
            </a:extLst>
          </p:cNvPr>
          <p:cNvSpPr>
            <a:spLocks xmlns:a="http://schemas.openxmlformats.org/drawingml/2006/main" noGrp="1"/>
          </p:cNvSpPr>
          <p:nvPr/>
        </p:nvSpPr>
        <p:spPr>
          <a:xfrm xmlns:a="http://schemas.openxmlformats.org/drawingml/2006/main">
            <a:off x="7448550" y="2714625"/>
            <a:ext cx="1019175" cy="9525"/>
          </a:xfrm>
          <a:custGeom xmlns:a="http://schemas.openxmlformats.org/drawingml/2006/main">
            <a:pathLst>
              <a:path w="1019175" h="9525">
                <a:moveTo>
                  <a:pt x="0" y="0"/>
                </a:moveTo>
                <a:lnTo>
                  <a:pt x="1019175" y="0"/>
                </a:lnTo>
              </a:path>
            </a:pathLst>
          </a:custGeom>
          <a:noFill xmlns:a="http://schemas.openxmlformats.org/drawingml/2006/main"/>
          <a:ln xmlns:a="http://schemas.openxmlformats.org/drawingml/2006/main" w="23813">
            <a:solidFill>
              <a:srgbClr val="2F6F96"/>
            </a:solidFill>
          </a:ln>
        </p:spPr>
      </p:sp>
      <p:sp>
        <p:nvSpPr>
          <p:cNvPr id="103" name="Proteomics bar 0">
            <a:extLst xmlns:a="http://schemas.openxmlformats.org/drawingml/2006/main">
              <a:ext uri="{FF2B5EF4-FFF2-40B4-BE49-F238E27FC236}">
                <a16:creationId xmlns:a16="http://schemas.microsoft.com/office/drawing/2014/main" id="{3121FB58-40E4-4F66-BDF7-4B4619FEA644}"/>
              </a:ext>
            </a:extLst>
          </p:cNvPr>
          <p:cNvSpPr>
            <a:spLocks xmlns:a="http://schemas.openxmlformats.org/drawingml/2006/main" noGrp="1"/>
          </p:cNvSpPr>
          <p:nvPr/>
        </p:nvSpPr>
        <p:spPr>
          <a:xfrm xmlns:a="http://schemas.openxmlformats.org/drawingml/2006/main">
            <a:off x="7572375" y="2352675"/>
            <a:ext cx="152400" cy="361950"/>
          </a:xfrm>
          <a:prstGeom xmlns:a="http://schemas.openxmlformats.org/drawingml/2006/main" prst="rect">
            <a:avLst/>
          </a:prstGeom>
          <a:solidFill xmlns:a="http://schemas.openxmlformats.org/drawingml/2006/main">
            <a:srgbClr val="A9D99C"/>
          </a:solidFill>
          <a:ln xmlns:a="http://schemas.openxmlformats.org/drawingml/2006/main" w="14288">
            <a:solidFill>
              <a:srgbClr val="2F6F96"/>
            </a:solidFill>
          </a:ln>
        </p:spPr>
      </p:sp>
      <p:sp>
        <p:nvSpPr>
          <p:cNvPr id="104" name="Proteomics bar 1">
            <a:extLst xmlns:a="http://schemas.openxmlformats.org/drawingml/2006/main">
              <a:ext uri="{FF2B5EF4-FFF2-40B4-BE49-F238E27FC236}">
                <a16:creationId xmlns:a16="http://schemas.microsoft.com/office/drawing/2014/main" id="{3538E99E-BD79-42F4-AC9F-D4032F2FC50A}"/>
              </a:ext>
            </a:extLst>
          </p:cNvPr>
          <p:cNvSpPr>
            <a:spLocks xmlns:a="http://schemas.openxmlformats.org/drawingml/2006/main" noGrp="1"/>
          </p:cNvSpPr>
          <p:nvPr/>
        </p:nvSpPr>
        <p:spPr>
          <a:xfrm xmlns:a="http://schemas.openxmlformats.org/drawingml/2006/main">
            <a:off x="7800975" y="2143125"/>
            <a:ext cx="152400" cy="571500"/>
          </a:xfrm>
          <a:prstGeom xmlns:a="http://schemas.openxmlformats.org/drawingml/2006/main" prst="rect">
            <a:avLst/>
          </a:prstGeom>
          <a:solidFill xmlns:a="http://schemas.openxmlformats.org/drawingml/2006/main">
            <a:srgbClr val="75ADCC"/>
          </a:solidFill>
          <a:ln xmlns:a="http://schemas.openxmlformats.org/drawingml/2006/main" w="14288">
            <a:solidFill>
              <a:srgbClr val="2F6F96"/>
            </a:solidFill>
          </a:ln>
        </p:spPr>
      </p:sp>
      <p:sp>
        <p:nvSpPr>
          <p:cNvPr id="105" name="Proteomics bar 2">
            <a:extLst xmlns:a="http://schemas.openxmlformats.org/drawingml/2006/main">
              <a:ext uri="{FF2B5EF4-FFF2-40B4-BE49-F238E27FC236}">
                <a16:creationId xmlns:a16="http://schemas.microsoft.com/office/drawing/2014/main" id="{454AE6A3-B846-444D-81E0-3D4766B975C0}"/>
              </a:ext>
            </a:extLst>
          </p:cNvPr>
          <p:cNvSpPr>
            <a:spLocks xmlns:a="http://schemas.openxmlformats.org/drawingml/2006/main" noGrp="1"/>
          </p:cNvSpPr>
          <p:nvPr/>
        </p:nvSpPr>
        <p:spPr>
          <a:xfrm xmlns:a="http://schemas.openxmlformats.org/drawingml/2006/main">
            <a:off x="8029575" y="2419350"/>
            <a:ext cx="152400" cy="295275"/>
          </a:xfrm>
          <a:prstGeom xmlns:a="http://schemas.openxmlformats.org/drawingml/2006/main" prst="rect">
            <a:avLst/>
          </a:prstGeom>
          <a:solidFill xmlns:a="http://schemas.openxmlformats.org/drawingml/2006/main">
            <a:srgbClr val="A9D99C"/>
          </a:solidFill>
          <a:ln xmlns:a="http://schemas.openxmlformats.org/drawingml/2006/main" w="14288">
            <a:solidFill>
              <a:srgbClr val="2F6F96"/>
            </a:solidFill>
          </a:ln>
        </p:spPr>
      </p:sp>
      <p:sp>
        <p:nvSpPr>
          <p:cNvPr id="106" name="Proteomics bar 3">
            <a:extLst xmlns:a="http://schemas.openxmlformats.org/drawingml/2006/main">
              <a:ext uri="{FF2B5EF4-FFF2-40B4-BE49-F238E27FC236}">
                <a16:creationId xmlns:a16="http://schemas.microsoft.com/office/drawing/2014/main" id="{D245DBA3-9632-482A-A6BC-F79E6E0D3F9A}"/>
              </a:ext>
            </a:extLst>
          </p:cNvPr>
          <p:cNvSpPr>
            <a:spLocks xmlns:a="http://schemas.openxmlformats.org/drawingml/2006/main" noGrp="1"/>
          </p:cNvSpPr>
          <p:nvPr/>
        </p:nvSpPr>
        <p:spPr>
          <a:xfrm xmlns:a="http://schemas.openxmlformats.org/drawingml/2006/main">
            <a:off x="8258175" y="2000250"/>
            <a:ext cx="152400" cy="714375"/>
          </a:xfrm>
          <a:prstGeom xmlns:a="http://schemas.openxmlformats.org/drawingml/2006/main" prst="rect">
            <a:avLst/>
          </a:prstGeom>
          <a:solidFill xmlns:a="http://schemas.openxmlformats.org/drawingml/2006/main">
            <a:srgbClr val="75ADCC"/>
          </a:solidFill>
          <a:ln xmlns:a="http://schemas.openxmlformats.org/drawingml/2006/main" w="14288">
            <a:solidFill>
              <a:srgbClr val="2F6F96"/>
            </a:solidFill>
          </a:ln>
        </p:spPr>
      </p:sp>
      <p:sp>
        <p:nvSpPr>
          <p:cNvPr id="107" name="Proteomics label">
            <a:extLst xmlns:a="http://schemas.openxmlformats.org/drawingml/2006/main">
              <a:ext uri="{FF2B5EF4-FFF2-40B4-BE49-F238E27FC236}">
                <a16:creationId xmlns:a16="http://schemas.microsoft.com/office/drawing/2014/main" id="{C54BBCF3-9BF4-4299-87CF-57910D207C68}"/>
              </a:ext>
            </a:extLst>
          </p:cNvPr>
          <p:cNvSpPr>
            <a:spLocks xmlns:a="http://schemas.openxmlformats.org/drawingml/2006/main" noGrp="1"/>
          </p:cNvSpPr>
          <p:nvPr/>
        </p:nvSpPr>
        <p:spPr>
          <a:xfrm xmlns:a="http://schemas.openxmlformats.org/drawingml/2006/main">
            <a:off x="6581775" y="3038475"/>
            <a:ext cx="27432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2325" b="1">
                <a:solidFill>
                  <a:srgbClr val="172D38"/>
                </a:solidFill>
                <a:latin typeface="Calibri"/>
                <a:ea typeface="Calibri"/>
                <a:cs typeface="Calibri"/>
              </a:defRPr>
            </a:pPr>
            <a:r>
              <a:rPr sz="2325" b="1">
                <a:solidFill>
                  <a:srgbClr val="172D38"/>
                </a:solidFill>
                <a:latin typeface="Calibri"/>
                <a:ea typeface="Calibri"/>
                <a:cs typeface="Calibri"/>
              </a:rPr>
              <a:t>Active-phase-up</a:t>
            </a:r>
          </a:p>
          <a:p xmlns:a="http://schemas.openxmlformats.org/drawingml/2006/main">
            <a:pPr algn="ctr">
              <a:buNone/>
              <a:defRPr sz="2325" b="1">
                <a:solidFill>
                  <a:srgbClr val="172D38"/>
                </a:solidFill>
                <a:latin typeface="Calibri"/>
                <a:ea typeface="Calibri"/>
                <a:cs typeface="Calibri"/>
              </a:defRPr>
            </a:pPr>
            <a:r>
              <a:rPr sz="2325" b="1">
                <a:solidFill>
                  <a:srgbClr val="172D38"/>
                </a:solidFill>
                <a:latin typeface="Calibri"/>
                <a:ea typeface="Calibri"/>
                <a:cs typeface="Calibri"/>
              </a:rPr>
              <a:t>proteomics</a:t>
            </a:r>
          </a:p>
        </p:txBody>
      </p:sp>
      <p:sp>
        <p:nvSpPr>
          <p:cNvPr id="108" name="Morphotype annotation">
            <a:extLst xmlns:a="http://schemas.openxmlformats.org/drawingml/2006/main">
              <a:ext uri="{FF2B5EF4-FFF2-40B4-BE49-F238E27FC236}">
                <a16:creationId xmlns:a16="http://schemas.microsoft.com/office/drawing/2014/main" id="{0A3CF6B2-43E8-4CE7-B98E-53D1E28AF572}"/>
              </a:ext>
            </a:extLst>
          </p:cNvPr>
          <p:cNvSpPr>
            <a:spLocks xmlns:a="http://schemas.openxmlformats.org/drawingml/2006/main" noGrp="1"/>
          </p:cNvSpPr>
          <p:nvPr/>
        </p:nvSpPr>
        <p:spPr>
          <a:xfrm xmlns:a="http://schemas.openxmlformats.org/drawingml/2006/main">
            <a:off x="6429375" y="4286250"/>
            <a:ext cx="3048000" cy="2286000"/>
          </a:xfrm>
          <a:prstGeom xmlns:a="http://schemas.openxmlformats.org/drawingml/2006/main" prst="roundRect">
            <a:avLst>
              <a:gd name="adj" fmla="val 7500"/>
            </a:avLst>
          </a:prstGeom>
          <a:solidFill xmlns:a="http://schemas.openxmlformats.org/drawingml/2006/main">
            <a:srgbClr val="F2F8FC"/>
          </a:solidFill>
          <a:ln xmlns:a="http://schemas.openxmlformats.org/drawingml/2006/main" w="23813">
            <a:solidFill>
              <a:srgbClr val="2F6F96"/>
            </a:solidFill>
          </a:ln>
        </p:spPr>
      </p:sp>
      <p:sp>
        <p:nvSpPr>
          <p:cNvPr id="109" name="Annotation sheet">
            <a:extLst xmlns:a="http://schemas.openxmlformats.org/drawingml/2006/main">
              <a:ext uri="{FF2B5EF4-FFF2-40B4-BE49-F238E27FC236}">
                <a16:creationId xmlns:a16="http://schemas.microsoft.com/office/drawing/2014/main" id="{FCD40BEE-C09D-4E60-BF08-77BD493061CF}"/>
              </a:ext>
            </a:extLst>
          </p:cNvPr>
          <p:cNvSpPr>
            <a:spLocks xmlns:a="http://schemas.openxmlformats.org/drawingml/2006/main" noGrp="1"/>
          </p:cNvSpPr>
          <p:nvPr/>
        </p:nvSpPr>
        <p:spPr>
          <a:xfrm xmlns:a="http://schemas.openxmlformats.org/drawingml/2006/main">
            <a:off x="7534275" y="4524375"/>
            <a:ext cx="628650" cy="771525"/>
          </a:xfrm>
          <a:prstGeom xmlns:a="http://schemas.openxmlformats.org/drawingml/2006/main" prst="roundRect">
            <a:avLst>
              <a:gd name="adj" fmla="val 27273"/>
            </a:avLst>
          </a:prstGeom>
          <a:solidFill xmlns:a="http://schemas.openxmlformats.org/drawingml/2006/main">
            <a:srgbClr val="FFFFFF"/>
          </a:solidFill>
          <a:ln xmlns:a="http://schemas.openxmlformats.org/drawingml/2006/main" w="19050">
            <a:solidFill>
              <a:srgbClr val="2F6F96"/>
            </a:solidFill>
          </a:ln>
        </p:spPr>
      </p:sp>
      <p:sp>
        <p:nvSpPr>
          <p:cNvPr id="110" name="Annotation rule 0">
            <a:extLst xmlns:a="http://schemas.openxmlformats.org/drawingml/2006/main">
              <a:ext uri="{FF2B5EF4-FFF2-40B4-BE49-F238E27FC236}">
                <a16:creationId xmlns:a16="http://schemas.microsoft.com/office/drawing/2014/main" id="{77C0A49A-251E-4780-A257-2D552E2F1C3A}"/>
              </a:ext>
            </a:extLst>
          </p:cNvPr>
          <p:cNvSpPr>
            <a:spLocks xmlns:a="http://schemas.openxmlformats.org/drawingml/2006/main" noGrp="1"/>
          </p:cNvSpPr>
          <p:nvPr/>
        </p:nvSpPr>
        <p:spPr>
          <a:xfrm xmlns:a="http://schemas.openxmlformats.org/drawingml/2006/main">
            <a:off x="7639050" y="4714875"/>
            <a:ext cx="400050" cy="9525"/>
          </a:xfrm>
          <a:custGeom xmlns:a="http://schemas.openxmlformats.org/drawingml/2006/main">
            <a:pathLst>
              <a:path w="400050" h="9525">
                <a:moveTo>
                  <a:pt x="0" y="0"/>
                </a:moveTo>
                <a:lnTo>
                  <a:pt x="400050" y="0"/>
                </a:lnTo>
              </a:path>
            </a:pathLst>
          </a:custGeom>
          <a:noFill xmlns:a="http://schemas.openxmlformats.org/drawingml/2006/main"/>
          <a:ln xmlns:a="http://schemas.openxmlformats.org/drawingml/2006/main" w="19050">
            <a:solidFill>
              <a:srgbClr val="899DA9"/>
            </a:solidFill>
          </a:ln>
        </p:spPr>
      </p:sp>
      <p:sp>
        <p:nvSpPr>
          <p:cNvPr id="111" name="Annotation rule 1">
            <a:extLst xmlns:a="http://schemas.openxmlformats.org/drawingml/2006/main">
              <a:ext uri="{FF2B5EF4-FFF2-40B4-BE49-F238E27FC236}">
                <a16:creationId xmlns:a16="http://schemas.microsoft.com/office/drawing/2014/main" id="{3162C614-3A4D-4C33-8AE7-438A0962E480}"/>
              </a:ext>
            </a:extLst>
          </p:cNvPr>
          <p:cNvSpPr>
            <a:spLocks xmlns:a="http://schemas.openxmlformats.org/drawingml/2006/main" noGrp="1"/>
          </p:cNvSpPr>
          <p:nvPr/>
        </p:nvSpPr>
        <p:spPr>
          <a:xfrm xmlns:a="http://schemas.openxmlformats.org/drawingml/2006/main">
            <a:off x="7639050" y="4876800"/>
            <a:ext cx="400050" cy="9525"/>
          </a:xfrm>
          <a:custGeom xmlns:a="http://schemas.openxmlformats.org/drawingml/2006/main">
            <a:pathLst>
              <a:path w="400050" h="9525">
                <a:moveTo>
                  <a:pt x="0" y="0"/>
                </a:moveTo>
                <a:lnTo>
                  <a:pt x="400050" y="0"/>
                </a:lnTo>
              </a:path>
            </a:pathLst>
          </a:custGeom>
          <a:noFill xmlns:a="http://schemas.openxmlformats.org/drawingml/2006/main"/>
          <a:ln xmlns:a="http://schemas.openxmlformats.org/drawingml/2006/main" w="19050">
            <a:solidFill>
              <a:srgbClr val="899DA9"/>
            </a:solidFill>
          </a:ln>
        </p:spPr>
      </p:sp>
      <p:sp>
        <p:nvSpPr>
          <p:cNvPr id="112" name="Annotation rule 2">
            <a:extLst xmlns:a="http://schemas.openxmlformats.org/drawingml/2006/main">
              <a:ext uri="{FF2B5EF4-FFF2-40B4-BE49-F238E27FC236}">
                <a16:creationId xmlns:a16="http://schemas.microsoft.com/office/drawing/2014/main" id="{DAFABF70-8367-4B25-9F4A-2AD35301C896}"/>
              </a:ext>
            </a:extLst>
          </p:cNvPr>
          <p:cNvSpPr>
            <a:spLocks xmlns:a="http://schemas.openxmlformats.org/drawingml/2006/main" noGrp="1"/>
          </p:cNvSpPr>
          <p:nvPr/>
        </p:nvSpPr>
        <p:spPr>
          <a:xfrm xmlns:a="http://schemas.openxmlformats.org/drawingml/2006/main">
            <a:off x="7639050" y="5038725"/>
            <a:ext cx="400050" cy="9525"/>
          </a:xfrm>
          <a:custGeom xmlns:a="http://schemas.openxmlformats.org/drawingml/2006/main">
            <a:pathLst>
              <a:path w="400050" h="9525">
                <a:moveTo>
                  <a:pt x="0" y="0"/>
                </a:moveTo>
                <a:lnTo>
                  <a:pt x="400050" y="0"/>
                </a:lnTo>
              </a:path>
            </a:pathLst>
          </a:custGeom>
          <a:noFill xmlns:a="http://schemas.openxmlformats.org/drawingml/2006/main"/>
          <a:ln xmlns:a="http://schemas.openxmlformats.org/drawingml/2006/main" w="19050">
            <a:solidFill>
              <a:srgbClr val="899DA9"/>
            </a:solidFill>
          </a:ln>
        </p:spPr>
      </p:sp>
      <p:sp>
        <p:nvSpPr>
          <p:cNvPr id="113" name="Annotation magnifier">
            <a:extLst xmlns:a="http://schemas.openxmlformats.org/drawingml/2006/main">
              <a:ext uri="{FF2B5EF4-FFF2-40B4-BE49-F238E27FC236}">
                <a16:creationId xmlns:a16="http://schemas.microsoft.com/office/drawing/2014/main" id="{64368C65-6F1F-4FA0-B94D-F51182AD3397}"/>
              </a:ext>
            </a:extLst>
          </p:cNvPr>
          <p:cNvSpPr>
            <a:spLocks xmlns:a="http://schemas.openxmlformats.org/drawingml/2006/main" noGrp="1"/>
          </p:cNvSpPr>
          <p:nvPr/>
        </p:nvSpPr>
        <p:spPr>
          <a:xfrm xmlns:a="http://schemas.openxmlformats.org/drawingml/2006/main">
            <a:off x="7972425" y="4981575"/>
            <a:ext cx="361950" cy="361950"/>
          </a:xfrm>
          <a:prstGeom xmlns:a="http://schemas.openxmlformats.org/drawingml/2006/main" prst="ellipse">
            <a:avLst/>
          </a:prstGeom>
          <a:noFill xmlns:a="http://schemas.openxmlformats.org/drawingml/2006/main"/>
          <a:ln xmlns:a="http://schemas.openxmlformats.org/drawingml/2006/main" w="28575">
            <a:solidFill>
              <a:srgbClr val="2F6F96"/>
            </a:solidFill>
          </a:ln>
        </p:spPr>
      </p:sp>
      <p:sp>
        <p:nvSpPr>
          <p:cNvPr id="114" name="Annotation magnifier handle">
            <a:extLst xmlns:a="http://schemas.openxmlformats.org/drawingml/2006/main">
              <a:ext uri="{FF2B5EF4-FFF2-40B4-BE49-F238E27FC236}">
                <a16:creationId xmlns:a16="http://schemas.microsoft.com/office/drawing/2014/main" id="{20BEB640-39E6-4CDF-B651-625CDFA644F9}"/>
              </a:ext>
            </a:extLst>
          </p:cNvPr>
          <p:cNvSpPr>
            <a:spLocks xmlns:a="http://schemas.openxmlformats.org/drawingml/2006/main" noGrp="1"/>
          </p:cNvSpPr>
          <p:nvPr/>
        </p:nvSpPr>
        <p:spPr>
          <a:xfrm xmlns:a="http://schemas.openxmlformats.org/drawingml/2006/main">
            <a:off x="8267700" y="5276850"/>
            <a:ext cx="200025" cy="200025"/>
          </a:xfrm>
          <a:custGeom xmlns:a="http://schemas.openxmlformats.org/drawingml/2006/main">
            <a:pathLst>
              <a:path w="200025" h="200025">
                <a:moveTo>
                  <a:pt x="0" y="0"/>
                </a:moveTo>
                <a:lnTo>
                  <a:pt x="200025" y="200025"/>
                </a:lnTo>
              </a:path>
            </a:pathLst>
          </a:custGeom>
          <a:noFill xmlns:a="http://schemas.openxmlformats.org/drawingml/2006/main"/>
          <a:ln xmlns:a="http://schemas.openxmlformats.org/drawingml/2006/main" w="38100">
            <a:solidFill>
              <a:srgbClr val="2F6F96"/>
            </a:solidFill>
          </a:ln>
        </p:spPr>
      </p:sp>
      <p:sp>
        <p:nvSpPr>
          <p:cNvPr id="115" name="Morphotype label">
            <a:extLst xmlns:a="http://schemas.openxmlformats.org/drawingml/2006/main">
              <a:ext uri="{FF2B5EF4-FFF2-40B4-BE49-F238E27FC236}">
                <a16:creationId xmlns:a16="http://schemas.microsoft.com/office/drawing/2014/main" id="{E8D33F6E-C52C-4F55-B56C-FD3747A61A19}"/>
              </a:ext>
            </a:extLst>
          </p:cNvPr>
          <p:cNvSpPr>
            <a:spLocks xmlns:a="http://schemas.openxmlformats.org/drawingml/2006/main" noGrp="1"/>
          </p:cNvSpPr>
          <p:nvPr/>
        </p:nvSpPr>
        <p:spPr>
          <a:xfrm xmlns:a="http://schemas.openxmlformats.org/drawingml/2006/main">
            <a:off x="6562725" y="5591175"/>
            <a:ext cx="27813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2250" b="1">
                <a:solidFill>
                  <a:srgbClr val="172D38"/>
                </a:solidFill>
                <a:latin typeface="Calibri"/>
                <a:ea typeface="Calibri"/>
                <a:cs typeface="Calibri"/>
              </a:defRPr>
            </a:pPr>
            <a:r>
              <a:rPr sz="2250" b="1">
                <a:solidFill>
                  <a:srgbClr val="172D38"/>
                </a:solidFill>
                <a:latin typeface="Calibri"/>
                <a:ea typeface="Calibri"/>
                <a:cs typeface="Calibri"/>
              </a:rPr>
              <a:t>Genus-based</a:t>
            </a:r>
          </a:p>
          <a:p xmlns:a="http://schemas.openxmlformats.org/drawingml/2006/main">
            <a:pPr algn="ctr">
              <a:buNone/>
              <a:defRPr sz="2250" b="1">
                <a:solidFill>
                  <a:srgbClr val="172D38"/>
                </a:solidFill>
                <a:latin typeface="Calibri"/>
                <a:ea typeface="Calibri"/>
                <a:cs typeface="Calibri"/>
              </a:defRPr>
            </a:pPr>
            <a:r>
              <a:rPr sz="2250" b="1">
                <a:solidFill>
                  <a:srgbClr val="172D38"/>
                </a:solidFill>
                <a:latin typeface="Calibri"/>
                <a:ea typeface="Calibri"/>
                <a:cs typeface="Calibri"/>
              </a:rPr>
              <a:t>morphotype proxies</a:t>
            </a:r>
          </a:p>
        </p:txBody>
      </p:sp>
      <p:sp>
        <p:nvSpPr>
          <p:cNvPr id="116" name="Condensate annotation">
            <a:extLst xmlns:a="http://schemas.openxmlformats.org/drawingml/2006/main">
              <a:ext uri="{FF2B5EF4-FFF2-40B4-BE49-F238E27FC236}">
                <a16:creationId xmlns:a16="http://schemas.microsoft.com/office/drawing/2014/main" id="{D21325AF-1C8E-46BD-8EE3-042C80E45305}"/>
              </a:ext>
            </a:extLst>
          </p:cNvPr>
          <p:cNvSpPr>
            <a:spLocks xmlns:a="http://schemas.openxmlformats.org/drawingml/2006/main" noGrp="1"/>
          </p:cNvSpPr>
          <p:nvPr/>
        </p:nvSpPr>
        <p:spPr>
          <a:xfrm xmlns:a="http://schemas.openxmlformats.org/drawingml/2006/main">
            <a:off x="6429375" y="6858000"/>
            <a:ext cx="3048000" cy="2286000"/>
          </a:xfrm>
          <a:prstGeom xmlns:a="http://schemas.openxmlformats.org/drawingml/2006/main" prst="roundRect">
            <a:avLst>
              <a:gd name="adj" fmla="val 7500"/>
            </a:avLst>
          </a:prstGeom>
          <a:solidFill xmlns:a="http://schemas.openxmlformats.org/drawingml/2006/main">
            <a:srgbClr val="F2F8FC"/>
          </a:solidFill>
          <a:ln xmlns:a="http://schemas.openxmlformats.org/drawingml/2006/main" w="23813">
            <a:solidFill>
              <a:srgbClr val="2F6F96"/>
            </a:solidFill>
          </a:ln>
        </p:spPr>
      </p:sp>
      <p:sp>
        <p:nvSpPr>
          <p:cNvPr id="117" name="Condensate outline">
            <a:extLst xmlns:a="http://schemas.openxmlformats.org/drawingml/2006/main">
              <a:ext uri="{FF2B5EF4-FFF2-40B4-BE49-F238E27FC236}">
                <a16:creationId xmlns:a16="http://schemas.microsoft.com/office/drawing/2014/main" id="{4D96565B-E49C-4688-8541-CF7632A9F888}"/>
              </a:ext>
            </a:extLst>
          </p:cNvPr>
          <p:cNvSpPr>
            <a:spLocks xmlns:a="http://schemas.openxmlformats.org/drawingml/2006/main" noGrp="1"/>
          </p:cNvSpPr>
          <p:nvPr/>
        </p:nvSpPr>
        <p:spPr>
          <a:xfrm xmlns:a="http://schemas.openxmlformats.org/drawingml/2006/main">
            <a:off x="7477125" y="7096125"/>
            <a:ext cx="952500" cy="952500"/>
          </a:xfrm>
          <a:prstGeom xmlns:a="http://schemas.openxmlformats.org/drawingml/2006/main" prst="ellipse">
            <a:avLst/>
          </a:prstGeom>
          <a:noFill xmlns:a="http://schemas.openxmlformats.org/drawingml/2006/main"/>
          <a:ln xmlns:a="http://schemas.openxmlformats.org/drawingml/2006/main" w="23813">
            <a:solidFill>
              <a:srgbClr val="2F6F96"/>
            </a:solidFill>
          </a:ln>
        </p:spPr>
      </p:sp>
      <p:sp>
        <p:nvSpPr>
          <p:cNvPr id="118" name="Condensate constituent 0">
            <a:extLst xmlns:a="http://schemas.openxmlformats.org/drawingml/2006/main">
              <a:ext uri="{FF2B5EF4-FFF2-40B4-BE49-F238E27FC236}">
                <a16:creationId xmlns:a16="http://schemas.microsoft.com/office/drawing/2014/main" id="{0B926F6C-EA41-4585-A816-4D2138F9D008}"/>
              </a:ext>
            </a:extLst>
          </p:cNvPr>
          <p:cNvSpPr>
            <a:spLocks xmlns:a="http://schemas.openxmlformats.org/drawingml/2006/main" noGrp="1"/>
          </p:cNvSpPr>
          <p:nvPr/>
        </p:nvSpPr>
        <p:spPr>
          <a:xfrm xmlns:a="http://schemas.openxmlformats.org/drawingml/2006/main">
            <a:off x="8201025" y="7524750"/>
            <a:ext cx="95250" cy="95250"/>
          </a:xfrm>
          <a:prstGeom xmlns:a="http://schemas.openxmlformats.org/drawingml/2006/main" prst="ellipse">
            <a:avLst/>
          </a:prstGeom>
          <a:solidFill xmlns:a="http://schemas.openxmlformats.org/drawingml/2006/main">
            <a:srgbClr val="8FB8D0"/>
          </a:solidFill>
          <a:ln xmlns:a="http://schemas.openxmlformats.org/drawingml/2006/main" w="0">
            <a:noFill/>
          </a:ln>
        </p:spPr>
      </p:sp>
      <p:sp>
        <p:nvSpPr>
          <p:cNvPr id="119" name="Condensate constituent 1">
            <a:extLst xmlns:a="http://schemas.openxmlformats.org/drawingml/2006/main">
              <a:ext uri="{FF2B5EF4-FFF2-40B4-BE49-F238E27FC236}">
                <a16:creationId xmlns:a16="http://schemas.microsoft.com/office/drawing/2014/main" id="{B10617A3-D512-46FE-8255-F3BBE34F42DD}"/>
              </a:ext>
            </a:extLst>
          </p:cNvPr>
          <p:cNvSpPr>
            <a:spLocks xmlns:a="http://schemas.openxmlformats.org/drawingml/2006/main" noGrp="1"/>
          </p:cNvSpPr>
          <p:nvPr/>
        </p:nvSpPr>
        <p:spPr>
          <a:xfrm xmlns:a="http://schemas.openxmlformats.org/drawingml/2006/main">
            <a:off x="8131944" y="7714549"/>
            <a:ext cx="95250" cy="95250"/>
          </a:xfrm>
          <a:prstGeom xmlns:a="http://schemas.openxmlformats.org/drawingml/2006/main" prst="ellipse">
            <a:avLst/>
          </a:prstGeom>
          <a:solidFill xmlns:a="http://schemas.openxmlformats.org/drawingml/2006/main">
            <a:srgbClr val="2F6F96"/>
          </a:solidFill>
          <a:ln xmlns:a="http://schemas.openxmlformats.org/drawingml/2006/main" w="0">
            <a:noFill/>
          </a:ln>
        </p:spPr>
      </p:sp>
      <p:sp>
        <p:nvSpPr>
          <p:cNvPr id="120" name="Condensate constituent 2">
            <a:extLst xmlns:a="http://schemas.openxmlformats.org/drawingml/2006/main">
              <a:ext uri="{FF2B5EF4-FFF2-40B4-BE49-F238E27FC236}">
                <a16:creationId xmlns:a16="http://schemas.microsoft.com/office/drawing/2014/main" id="{8DCCA223-340A-43EB-9AB2-34C5BBEB06EE}"/>
              </a:ext>
            </a:extLst>
          </p:cNvPr>
          <p:cNvSpPr>
            <a:spLocks xmlns:a="http://schemas.openxmlformats.org/drawingml/2006/main" noGrp="1"/>
          </p:cNvSpPr>
          <p:nvPr/>
        </p:nvSpPr>
        <p:spPr>
          <a:xfrm xmlns:a="http://schemas.openxmlformats.org/drawingml/2006/main">
            <a:off x="7957024" y="7815539"/>
            <a:ext cx="95250" cy="95250"/>
          </a:xfrm>
          <a:prstGeom xmlns:a="http://schemas.openxmlformats.org/drawingml/2006/main" prst="ellipse">
            <a:avLst/>
          </a:prstGeom>
          <a:solidFill xmlns:a="http://schemas.openxmlformats.org/drawingml/2006/main">
            <a:srgbClr val="8FB8D0"/>
          </a:solidFill>
          <a:ln xmlns:a="http://schemas.openxmlformats.org/drawingml/2006/main" w="0">
            <a:noFill/>
          </a:ln>
        </p:spPr>
      </p:sp>
      <p:sp>
        <p:nvSpPr>
          <p:cNvPr id="121" name="Condensate constituent 3">
            <a:extLst xmlns:a="http://schemas.openxmlformats.org/drawingml/2006/main">
              <a:ext uri="{FF2B5EF4-FFF2-40B4-BE49-F238E27FC236}">
                <a16:creationId xmlns:a16="http://schemas.microsoft.com/office/drawing/2014/main" id="{806505FE-D0C3-4346-98EB-F015DF64B32F}"/>
              </a:ext>
            </a:extLst>
          </p:cNvPr>
          <p:cNvSpPr>
            <a:spLocks xmlns:a="http://schemas.openxmlformats.org/drawingml/2006/main" noGrp="1"/>
          </p:cNvSpPr>
          <p:nvPr/>
        </p:nvSpPr>
        <p:spPr>
          <a:xfrm xmlns:a="http://schemas.openxmlformats.org/drawingml/2006/main">
            <a:off x="7758113" y="7780466"/>
            <a:ext cx="95250" cy="95250"/>
          </a:xfrm>
          <a:prstGeom xmlns:a="http://schemas.openxmlformats.org/drawingml/2006/main" prst="ellipse">
            <a:avLst/>
          </a:prstGeom>
          <a:solidFill xmlns:a="http://schemas.openxmlformats.org/drawingml/2006/main">
            <a:srgbClr val="2F6F96"/>
          </a:solidFill>
          <a:ln xmlns:a="http://schemas.openxmlformats.org/drawingml/2006/main" w="0">
            <a:noFill/>
          </a:ln>
        </p:spPr>
      </p:sp>
      <p:sp>
        <p:nvSpPr>
          <p:cNvPr id="122" name="Condensate constituent 4">
            <a:extLst xmlns:a="http://schemas.openxmlformats.org/drawingml/2006/main">
              <a:ext uri="{FF2B5EF4-FFF2-40B4-BE49-F238E27FC236}">
                <a16:creationId xmlns:a16="http://schemas.microsoft.com/office/drawing/2014/main" id="{81E3E223-A5FC-4A19-B663-BCA950FEC496}"/>
              </a:ext>
            </a:extLst>
          </p:cNvPr>
          <p:cNvSpPr>
            <a:spLocks xmlns:a="http://schemas.openxmlformats.org/drawingml/2006/main" noGrp="1"/>
          </p:cNvSpPr>
          <p:nvPr/>
        </p:nvSpPr>
        <p:spPr>
          <a:xfrm xmlns:a="http://schemas.openxmlformats.org/drawingml/2006/main">
            <a:off x="7628282" y="7625740"/>
            <a:ext cx="95250" cy="95250"/>
          </a:xfrm>
          <a:prstGeom xmlns:a="http://schemas.openxmlformats.org/drawingml/2006/main" prst="ellipse">
            <a:avLst/>
          </a:prstGeom>
          <a:solidFill xmlns:a="http://schemas.openxmlformats.org/drawingml/2006/main">
            <a:srgbClr val="8FB8D0"/>
          </a:solidFill>
          <a:ln xmlns:a="http://schemas.openxmlformats.org/drawingml/2006/main" w="0">
            <a:noFill/>
          </a:ln>
        </p:spPr>
      </p:sp>
      <p:sp>
        <p:nvSpPr>
          <p:cNvPr id="123" name="Condensate constituent 5">
            <a:extLst xmlns:a="http://schemas.openxmlformats.org/drawingml/2006/main">
              <a:ext uri="{FF2B5EF4-FFF2-40B4-BE49-F238E27FC236}">
                <a16:creationId xmlns:a16="http://schemas.microsoft.com/office/drawing/2014/main" id="{9E7DAE6D-06ED-4707-A2AB-D511445A741E}"/>
              </a:ext>
            </a:extLst>
          </p:cNvPr>
          <p:cNvSpPr>
            <a:spLocks xmlns:a="http://schemas.openxmlformats.org/drawingml/2006/main" noGrp="1"/>
          </p:cNvSpPr>
          <p:nvPr/>
        </p:nvSpPr>
        <p:spPr>
          <a:xfrm xmlns:a="http://schemas.openxmlformats.org/drawingml/2006/main">
            <a:off x="7628282" y="7423760"/>
            <a:ext cx="95250" cy="95250"/>
          </a:xfrm>
          <a:prstGeom xmlns:a="http://schemas.openxmlformats.org/drawingml/2006/main" prst="ellipse">
            <a:avLst/>
          </a:prstGeom>
          <a:solidFill xmlns:a="http://schemas.openxmlformats.org/drawingml/2006/main">
            <a:srgbClr val="2F6F96"/>
          </a:solidFill>
          <a:ln xmlns:a="http://schemas.openxmlformats.org/drawingml/2006/main" w="0">
            <a:noFill/>
          </a:ln>
        </p:spPr>
      </p:sp>
      <p:sp>
        <p:nvSpPr>
          <p:cNvPr id="124" name="Condensate constituent 6">
            <a:extLst xmlns:a="http://schemas.openxmlformats.org/drawingml/2006/main">
              <a:ext uri="{FF2B5EF4-FFF2-40B4-BE49-F238E27FC236}">
                <a16:creationId xmlns:a16="http://schemas.microsoft.com/office/drawing/2014/main" id="{9C4369AE-A4A5-4DCD-9C8C-D542B4A20D3F}"/>
              </a:ext>
            </a:extLst>
          </p:cNvPr>
          <p:cNvSpPr>
            <a:spLocks xmlns:a="http://schemas.openxmlformats.org/drawingml/2006/main" noGrp="1"/>
          </p:cNvSpPr>
          <p:nvPr/>
        </p:nvSpPr>
        <p:spPr>
          <a:xfrm xmlns:a="http://schemas.openxmlformats.org/drawingml/2006/main">
            <a:off x="7758113" y="7269034"/>
            <a:ext cx="95250" cy="95250"/>
          </a:xfrm>
          <a:prstGeom xmlns:a="http://schemas.openxmlformats.org/drawingml/2006/main" prst="ellipse">
            <a:avLst/>
          </a:prstGeom>
          <a:solidFill xmlns:a="http://schemas.openxmlformats.org/drawingml/2006/main">
            <a:srgbClr val="8FB8D0"/>
          </a:solidFill>
          <a:ln xmlns:a="http://schemas.openxmlformats.org/drawingml/2006/main" w="0">
            <a:noFill/>
          </a:ln>
        </p:spPr>
      </p:sp>
      <p:sp>
        <p:nvSpPr>
          <p:cNvPr id="125" name="Condensate constituent 7">
            <a:extLst xmlns:a="http://schemas.openxmlformats.org/drawingml/2006/main">
              <a:ext uri="{FF2B5EF4-FFF2-40B4-BE49-F238E27FC236}">
                <a16:creationId xmlns:a16="http://schemas.microsoft.com/office/drawing/2014/main" id="{18731D3C-64C5-4218-A8D6-C0E460A40959}"/>
              </a:ext>
            </a:extLst>
          </p:cNvPr>
          <p:cNvSpPr>
            <a:spLocks xmlns:a="http://schemas.openxmlformats.org/drawingml/2006/main" noGrp="1"/>
          </p:cNvSpPr>
          <p:nvPr/>
        </p:nvSpPr>
        <p:spPr>
          <a:xfrm xmlns:a="http://schemas.openxmlformats.org/drawingml/2006/main">
            <a:off x="7957024" y="7233961"/>
            <a:ext cx="95250" cy="95250"/>
          </a:xfrm>
          <a:prstGeom xmlns:a="http://schemas.openxmlformats.org/drawingml/2006/main" prst="ellipse">
            <a:avLst/>
          </a:prstGeom>
          <a:solidFill xmlns:a="http://schemas.openxmlformats.org/drawingml/2006/main">
            <a:srgbClr val="2F6F96"/>
          </a:solidFill>
          <a:ln xmlns:a="http://schemas.openxmlformats.org/drawingml/2006/main" w="0">
            <a:noFill/>
          </a:ln>
        </p:spPr>
      </p:sp>
      <p:sp>
        <p:nvSpPr>
          <p:cNvPr id="126" name="Condensate constituent 8">
            <a:extLst xmlns:a="http://schemas.openxmlformats.org/drawingml/2006/main">
              <a:ext uri="{FF2B5EF4-FFF2-40B4-BE49-F238E27FC236}">
                <a16:creationId xmlns:a16="http://schemas.microsoft.com/office/drawing/2014/main" id="{A2A081DC-5BCB-46CC-A71C-ECC7B18E76EC}"/>
              </a:ext>
            </a:extLst>
          </p:cNvPr>
          <p:cNvSpPr>
            <a:spLocks xmlns:a="http://schemas.openxmlformats.org/drawingml/2006/main" noGrp="1"/>
          </p:cNvSpPr>
          <p:nvPr/>
        </p:nvSpPr>
        <p:spPr>
          <a:xfrm xmlns:a="http://schemas.openxmlformats.org/drawingml/2006/main">
            <a:off x="8131944" y="7334951"/>
            <a:ext cx="95250" cy="95250"/>
          </a:xfrm>
          <a:prstGeom xmlns:a="http://schemas.openxmlformats.org/drawingml/2006/main" prst="ellipse">
            <a:avLst/>
          </a:prstGeom>
          <a:solidFill xmlns:a="http://schemas.openxmlformats.org/drawingml/2006/main">
            <a:srgbClr val="8FB8D0"/>
          </a:solidFill>
          <a:ln xmlns:a="http://schemas.openxmlformats.org/drawingml/2006/main" w="0">
            <a:noFill/>
          </a:ln>
        </p:spPr>
      </p:sp>
      <p:sp>
        <p:nvSpPr>
          <p:cNvPr id="127" name="Condensate centre">
            <a:extLst xmlns:a="http://schemas.openxmlformats.org/drawingml/2006/main">
              <a:ext uri="{FF2B5EF4-FFF2-40B4-BE49-F238E27FC236}">
                <a16:creationId xmlns:a16="http://schemas.microsoft.com/office/drawing/2014/main" id="{0B02EDDF-8715-4CFB-A7D8-D4E4C2AF08AC}"/>
              </a:ext>
            </a:extLst>
          </p:cNvPr>
          <p:cNvSpPr>
            <a:spLocks xmlns:a="http://schemas.openxmlformats.org/drawingml/2006/main" noGrp="1"/>
          </p:cNvSpPr>
          <p:nvPr/>
        </p:nvSpPr>
        <p:spPr>
          <a:xfrm xmlns:a="http://schemas.openxmlformats.org/drawingml/2006/main">
            <a:off x="7886700" y="7505700"/>
            <a:ext cx="133350" cy="133350"/>
          </a:xfrm>
          <a:prstGeom xmlns:a="http://schemas.openxmlformats.org/drawingml/2006/main" prst="ellipse">
            <a:avLst/>
          </a:prstGeom>
          <a:solidFill xmlns:a="http://schemas.openxmlformats.org/drawingml/2006/main">
            <a:srgbClr val="8FB8D0"/>
          </a:solidFill>
          <a:ln xmlns:a="http://schemas.openxmlformats.org/drawingml/2006/main" w="0">
            <a:noFill/>
          </a:ln>
        </p:spPr>
      </p:sp>
      <p:sp>
        <p:nvSpPr>
          <p:cNvPr id="128" name="Condensate label">
            <a:extLst xmlns:a="http://schemas.openxmlformats.org/drawingml/2006/main">
              <a:ext uri="{FF2B5EF4-FFF2-40B4-BE49-F238E27FC236}">
                <a16:creationId xmlns:a16="http://schemas.microsoft.com/office/drawing/2014/main" id="{D401DE3A-0C48-45E6-B86A-7F8A05E57CAE}"/>
              </a:ext>
            </a:extLst>
          </p:cNvPr>
          <p:cNvSpPr>
            <a:spLocks xmlns:a="http://schemas.openxmlformats.org/drawingml/2006/main" noGrp="1"/>
          </p:cNvSpPr>
          <p:nvPr/>
        </p:nvSpPr>
        <p:spPr>
          <a:xfrm xmlns:a="http://schemas.openxmlformats.org/drawingml/2006/main">
            <a:off x="6581775" y="8277225"/>
            <a:ext cx="274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2325" b="1">
                <a:solidFill>
                  <a:srgbClr val="172D38"/>
                </a:solidFill>
                <a:latin typeface="Calibri"/>
                <a:ea typeface="Calibri"/>
                <a:cs typeface="Calibri"/>
              </a:defRPr>
            </a:pPr>
            <a:r>
              <a:rPr sz="2325" b="1">
                <a:solidFill>
                  <a:srgbClr val="172D38"/>
                </a:solidFill>
                <a:latin typeface="Calibri"/>
                <a:ea typeface="Calibri"/>
                <a:cs typeface="Calibri"/>
              </a:rPr>
              <a:t>Condensate-</a:t>
            </a:r>
          </a:p>
          <a:p xmlns:a="http://schemas.openxmlformats.org/drawingml/2006/main">
            <a:pPr algn="ctr">
              <a:buNone/>
              <a:defRPr sz="2325" b="1">
                <a:solidFill>
                  <a:srgbClr val="172D38"/>
                </a:solidFill>
                <a:latin typeface="Calibri"/>
                <a:ea typeface="Calibri"/>
                <a:cs typeface="Calibri"/>
              </a:defRPr>
            </a:pPr>
            <a:r>
              <a:rPr sz="2325" b="1">
                <a:solidFill>
                  <a:srgbClr val="172D38"/>
                </a:solidFill>
                <a:latin typeface="Calibri"/>
                <a:ea typeface="Calibri"/>
                <a:cs typeface="Calibri"/>
              </a:rPr>
              <a:t>driver ranks</a:t>
            </a:r>
          </a:p>
        </p:txBody>
      </p:sp>
      <p:sp>
        <p:nvSpPr>
          <p:cNvPr id="129" name="Redox context">
            <a:extLst xmlns:a="http://schemas.openxmlformats.org/drawingml/2006/main">
              <a:ext uri="{FF2B5EF4-FFF2-40B4-BE49-F238E27FC236}">
                <a16:creationId xmlns:a16="http://schemas.microsoft.com/office/drawing/2014/main" id="{0D6C12DF-7BB8-4D8E-B3AB-867FADB05295}"/>
              </a:ext>
            </a:extLst>
          </p:cNvPr>
          <p:cNvSpPr>
            <a:spLocks xmlns:a="http://schemas.openxmlformats.org/drawingml/2006/main" noGrp="1"/>
          </p:cNvSpPr>
          <p:nvPr/>
        </p:nvSpPr>
        <p:spPr>
          <a:xfrm xmlns:a="http://schemas.openxmlformats.org/drawingml/2006/main">
            <a:off x="9620250" y="1714500"/>
            <a:ext cx="2162175" cy="1809750"/>
          </a:xfrm>
          <a:prstGeom xmlns:a="http://schemas.openxmlformats.org/drawingml/2006/main" prst="roundRect">
            <a:avLst>
              <a:gd name="adj" fmla="val 9474"/>
            </a:avLst>
          </a:prstGeom>
          <a:solidFill xmlns:a="http://schemas.openxmlformats.org/drawingml/2006/main">
            <a:srgbClr val="F2F8FC"/>
          </a:solidFill>
          <a:ln xmlns:a="http://schemas.openxmlformats.org/drawingml/2006/main" w="21908">
            <a:solidFill>
              <a:srgbClr val="A4BECF"/>
            </a:solidFill>
          </a:ln>
        </p:spPr>
      </p:sp>
      <p:sp>
        <p:nvSpPr>
          <p:cNvPr id="130" name="Cofactor context">
            <a:extLst xmlns:a="http://schemas.openxmlformats.org/drawingml/2006/main">
              <a:ext uri="{FF2B5EF4-FFF2-40B4-BE49-F238E27FC236}">
                <a16:creationId xmlns:a16="http://schemas.microsoft.com/office/drawing/2014/main" id="{3C763C21-C238-4592-BCD3-5EB9AF115C87}"/>
              </a:ext>
            </a:extLst>
          </p:cNvPr>
          <p:cNvSpPr>
            <a:spLocks xmlns:a="http://schemas.openxmlformats.org/drawingml/2006/main" noGrp="1"/>
          </p:cNvSpPr>
          <p:nvPr/>
        </p:nvSpPr>
        <p:spPr>
          <a:xfrm xmlns:a="http://schemas.openxmlformats.org/drawingml/2006/main">
            <a:off x="11934825" y="1714500"/>
            <a:ext cx="2162175" cy="1809750"/>
          </a:xfrm>
          <a:prstGeom xmlns:a="http://schemas.openxmlformats.org/drawingml/2006/main" prst="roundRect">
            <a:avLst>
              <a:gd name="adj" fmla="val 9474"/>
            </a:avLst>
          </a:prstGeom>
          <a:solidFill xmlns:a="http://schemas.openxmlformats.org/drawingml/2006/main">
            <a:srgbClr val="F2F8FC"/>
          </a:solidFill>
          <a:ln xmlns:a="http://schemas.openxmlformats.org/drawingml/2006/main" w="21908">
            <a:solidFill>
              <a:srgbClr val="A4BECF"/>
            </a:solidFill>
          </a:ln>
        </p:spPr>
      </p:sp>
      <p:sp>
        <p:nvSpPr>
          <p:cNvPr id="131" name="Redox connection 0">
            <a:extLst xmlns:a="http://schemas.openxmlformats.org/drawingml/2006/main">
              <a:ext uri="{FF2B5EF4-FFF2-40B4-BE49-F238E27FC236}">
                <a16:creationId xmlns:a16="http://schemas.microsoft.com/office/drawing/2014/main" id="{F0D588CC-AB71-4B92-A4A6-36471846865F}"/>
              </a:ext>
            </a:extLst>
          </p:cNvPr>
          <p:cNvSpPr>
            <a:spLocks xmlns:a="http://schemas.openxmlformats.org/drawingml/2006/main" noGrp="1"/>
          </p:cNvSpPr>
          <p:nvPr/>
        </p:nvSpPr>
        <p:spPr>
          <a:xfrm xmlns:a="http://schemas.openxmlformats.org/drawingml/2006/main">
            <a:off x="10220325" y="2038350"/>
            <a:ext cx="457200" cy="219075"/>
          </a:xfrm>
          <a:custGeom xmlns:a="http://schemas.openxmlformats.org/drawingml/2006/main">
            <a:pathLst>
              <a:path w="457200" h="219075">
                <a:moveTo>
                  <a:pt x="0" y="219075"/>
                </a:moveTo>
                <a:lnTo>
                  <a:pt x="457200" y="0"/>
                </a:lnTo>
              </a:path>
            </a:pathLst>
          </a:custGeom>
          <a:noFill xmlns:a="http://schemas.openxmlformats.org/drawingml/2006/main"/>
          <a:ln xmlns:a="http://schemas.openxmlformats.org/drawingml/2006/main" w="19050">
            <a:solidFill>
              <a:srgbClr val="2F6F96"/>
            </a:solidFill>
          </a:ln>
        </p:spPr>
      </p:sp>
      <p:sp>
        <p:nvSpPr>
          <p:cNvPr id="132" name="Redox connection 1">
            <a:extLst xmlns:a="http://schemas.openxmlformats.org/drawingml/2006/main">
              <a:ext uri="{FF2B5EF4-FFF2-40B4-BE49-F238E27FC236}">
                <a16:creationId xmlns:a16="http://schemas.microsoft.com/office/drawing/2014/main" id="{A7A105C7-23E3-4812-9E95-5B5D2DF0110C}"/>
              </a:ext>
            </a:extLst>
          </p:cNvPr>
          <p:cNvSpPr>
            <a:spLocks xmlns:a="http://schemas.openxmlformats.org/drawingml/2006/main" noGrp="1"/>
          </p:cNvSpPr>
          <p:nvPr/>
        </p:nvSpPr>
        <p:spPr>
          <a:xfrm xmlns:a="http://schemas.openxmlformats.org/drawingml/2006/main">
            <a:off x="10677525" y="2038350"/>
            <a:ext cx="447675" cy="219075"/>
          </a:xfrm>
          <a:custGeom xmlns:a="http://schemas.openxmlformats.org/drawingml/2006/main">
            <a:pathLst>
              <a:path w="447675" h="219075">
                <a:moveTo>
                  <a:pt x="0" y="0"/>
                </a:moveTo>
                <a:lnTo>
                  <a:pt x="447675" y="219075"/>
                </a:lnTo>
              </a:path>
            </a:pathLst>
          </a:custGeom>
          <a:noFill xmlns:a="http://schemas.openxmlformats.org/drawingml/2006/main"/>
          <a:ln xmlns:a="http://schemas.openxmlformats.org/drawingml/2006/main" w="19050">
            <a:solidFill>
              <a:srgbClr val="2F6F96"/>
            </a:solidFill>
          </a:ln>
        </p:spPr>
      </p:sp>
      <p:sp>
        <p:nvSpPr>
          <p:cNvPr id="133" name="Redox connection 2">
            <a:extLst xmlns:a="http://schemas.openxmlformats.org/drawingml/2006/main">
              <a:ext uri="{FF2B5EF4-FFF2-40B4-BE49-F238E27FC236}">
                <a16:creationId xmlns:a16="http://schemas.microsoft.com/office/drawing/2014/main" id="{F722101D-1FC2-4A9F-A838-1373E650C8BC}"/>
              </a:ext>
            </a:extLst>
          </p:cNvPr>
          <p:cNvSpPr>
            <a:spLocks xmlns:a="http://schemas.openxmlformats.org/drawingml/2006/main" noGrp="1"/>
          </p:cNvSpPr>
          <p:nvPr/>
        </p:nvSpPr>
        <p:spPr>
          <a:xfrm xmlns:a="http://schemas.openxmlformats.org/drawingml/2006/main">
            <a:off x="10677525" y="2257425"/>
            <a:ext cx="447675" cy="285750"/>
          </a:xfrm>
          <a:custGeom xmlns:a="http://schemas.openxmlformats.org/drawingml/2006/main">
            <a:pathLst>
              <a:path w="447675" h="285750">
                <a:moveTo>
                  <a:pt x="447675" y="0"/>
                </a:moveTo>
                <a:lnTo>
                  <a:pt x="0" y="285750"/>
                </a:lnTo>
              </a:path>
            </a:pathLst>
          </a:custGeom>
          <a:noFill xmlns:a="http://schemas.openxmlformats.org/drawingml/2006/main"/>
          <a:ln xmlns:a="http://schemas.openxmlformats.org/drawingml/2006/main" w="19050">
            <a:solidFill>
              <a:srgbClr val="2F6F96"/>
            </a:solidFill>
          </a:ln>
        </p:spPr>
      </p:sp>
      <p:sp>
        <p:nvSpPr>
          <p:cNvPr id="134" name="Redox connection 3">
            <a:extLst xmlns:a="http://schemas.openxmlformats.org/drawingml/2006/main">
              <a:ext uri="{FF2B5EF4-FFF2-40B4-BE49-F238E27FC236}">
                <a16:creationId xmlns:a16="http://schemas.microsoft.com/office/drawing/2014/main" id="{36D15142-213D-4088-908B-786A4418C79B}"/>
              </a:ext>
            </a:extLst>
          </p:cNvPr>
          <p:cNvSpPr>
            <a:spLocks xmlns:a="http://schemas.openxmlformats.org/drawingml/2006/main" noGrp="1"/>
          </p:cNvSpPr>
          <p:nvPr/>
        </p:nvSpPr>
        <p:spPr>
          <a:xfrm xmlns:a="http://schemas.openxmlformats.org/drawingml/2006/main">
            <a:off x="10220325" y="2257425"/>
            <a:ext cx="457200" cy="285750"/>
          </a:xfrm>
          <a:custGeom xmlns:a="http://schemas.openxmlformats.org/drawingml/2006/main">
            <a:pathLst>
              <a:path w="457200" h="285750">
                <a:moveTo>
                  <a:pt x="457200" y="285750"/>
                </a:moveTo>
                <a:lnTo>
                  <a:pt x="0" y="0"/>
                </a:lnTo>
              </a:path>
            </a:pathLst>
          </a:custGeom>
          <a:noFill xmlns:a="http://schemas.openxmlformats.org/drawingml/2006/main"/>
          <a:ln xmlns:a="http://schemas.openxmlformats.org/drawingml/2006/main" w="19050">
            <a:solidFill>
              <a:srgbClr val="2F6F96"/>
            </a:solidFill>
          </a:ln>
        </p:spPr>
      </p:sp>
      <p:sp>
        <p:nvSpPr>
          <p:cNvPr id="135" name="Redox constituent 0">
            <a:extLst xmlns:a="http://schemas.openxmlformats.org/drawingml/2006/main">
              <a:ext uri="{FF2B5EF4-FFF2-40B4-BE49-F238E27FC236}">
                <a16:creationId xmlns:a16="http://schemas.microsoft.com/office/drawing/2014/main" id="{C907C3AE-8CD8-40F2-8FA1-86116171B549}"/>
              </a:ext>
            </a:extLst>
          </p:cNvPr>
          <p:cNvSpPr>
            <a:spLocks xmlns:a="http://schemas.openxmlformats.org/drawingml/2006/main" noGrp="1"/>
          </p:cNvSpPr>
          <p:nvPr/>
        </p:nvSpPr>
        <p:spPr>
          <a:xfrm xmlns:a="http://schemas.openxmlformats.org/drawingml/2006/main">
            <a:off x="10125075" y="2162175"/>
            <a:ext cx="190500" cy="190500"/>
          </a:xfrm>
          <a:prstGeom xmlns:a="http://schemas.openxmlformats.org/drawingml/2006/main" prst="ellipse">
            <a:avLst/>
          </a:prstGeom>
          <a:solidFill xmlns:a="http://schemas.openxmlformats.org/drawingml/2006/main">
            <a:srgbClr val="CFE3EF"/>
          </a:solidFill>
          <a:ln xmlns:a="http://schemas.openxmlformats.org/drawingml/2006/main" w="9525">
            <a:solidFill>
              <a:srgbClr val="637782"/>
            </a:solidFill>
          </a:ln>
        </p:spPr>
      </p:sp>
      <p:sp>
        <p:nvSpPr>
          <p:cNvPr id="136" name="Redox constituent 1">
            <a:extLst xmlns:a="http://schemas.openxmlformats.org/drawingml/2006/main">
              <a:ext uri="{FF2B5EF4-FFF2-40B4-BE49-F238E27FC236}">
                <a16:creationId xmlns:a16="http://schemas.microsoft.com/office/drawing/2014/main" id="{09EFBE1A-1C80-4956-8101-219E88518B68}"/>
              </a:ext>
            </a:extLst>
          </p:cNvPr>
          <p:cNvSpPr>
            <a:spLocks xmlns:a="http://schemas.openxmlformats.org/drawingml/2006/main" noGrp="1"/>
          </p:cNvSpPr>
          <p:nvPr/>
        </p:nvSpPr>
        <p:spPr>
          <a:xfrm xmlns:a="http://schemas.openxmlformats.org/drawingml/2006/main">
            <a:off x="10582275" y="1943100"/>
            <a:ext cx="190500" cy="190500"/>
          </a:xfrm>
          <a:prstGeom xmlns:a="http://schemas.openxmlformats.org/drawingml/2006/main" prst="ellipse">
            <a:avLst/>
          </a:prstGeom>
          <a:solidFill xmlns:a="http://schemas.openxmlformats.org/drawingml/2006/main">
            <a:srgbClr val="E97C68"/>
          </a:solidFill>
          <a:ln xmlns:a="http://schemas.openxmlformats.org/drawingml/2006/main" w="9525">
            <a:solidFill>
              <a:srgbClr val="637782"/>
            </a:solidFill>
          </a:ln>
        </p:spPr>
      </p:sp>
      <p:sp>
        <p:nvSpPr>
          <p:cNvPr id="137" name="Redox constituent 2">
            <a:extLst xmlns:a="http://schemas.openxmlformats.org/drawingml/2006/main">
              <a:ext uri="{FF2B5EF4-FFF2-40B4-BE49-F238E27FC236}">
                <a16:creationId xmlns:a16="http://schemas.microsoft.com/office/drawing/2014/main" id="{E98EB4A5-481E-4A78-A97E-8BD6B663417F}"/>
              </a:ext>
            </a:extLst>
          </p:cNvPr>
          <p:cNvSpPr>
            <a:spLocks xmlns:a="http://schemas.openxmlformats.org/drawingml/2006/main" noGrp="1"/>
          </p:cNvSpPr>
          <p:nvPr/>
        </p:nvSpPr>
        <p:spPr>
          <a:xfrm xmlns:a="http://schemas.openxmlformats.org/drawingml/2006/main">
            <a:off x="11029950" y="2162175"/>
            <a:ext cx="190500" cy="190500"/>
          </a:xfrm>
          <a:prstGeom xmlns:a="http://schemas.openxmlformats.org/drawingml/2006/main" prst="ellipse">
            <a:avLst/>
          </a:prstGeom>
          <a:solidFill xmlns:a="http://schemas.openxmlformats.org/drawingml/2006/main">
            <a:srgbClr val="BFE4B8"/>
          </a:solidFill>
          <a:ln xmlns:a="http://schemas.openxmlformats.org/drawingml/2006/main" w="9525">
            <a:solidFill>
              <a:srgbClr val="637782"/>
            </a:solidFill>
          </a:ln>
        </p:spPr>
      </p:sp>
      <p:sp>
        <p:nvSpPr>
          <p:cNvPr id="138" name="Redox constituent 3">
            <a:extLst xmlns:a="http://schemas.openxmlformats.org/drawingml/2006/main">
              <a:ext uri="{FF2B5EF4-FFF2-40B4-BE49-F238E27FC236}">
                <a16:creationId xmlns:a16="http://schemas.microsoft.com/office/drawing/2014/main" id="{7E45612B-27F3-43DF-97CC-86BD3F3C54FD}"/>
              </a:ext>
            </a:extLst>
          </p:cNvPr>
          <p:cNvSpPr>
            <a:spLocks xmlns:a="http://schemas.openxmlformats.org/drawingml/2006/main" noGrp="1"/>
          </p:cNvSpPr>
          <p:nvPr/>
        </p:nvSpPr>
        <p:spPr>
          <a:xfrm xmlns:a="http://schemas.openxmlformats.org/drawingml/2006/main">
            <a:off x="10582275" y="2447925"/>
            <a:ext cx="190500" cy="190500"/>
          </a:xfrm>
          <a:prstGeom xmlns:a="http://schemas.openxmlformats.org/drawingml/2006/main" prst="ellipse">
            <a:avLst/>
          </a:prstGeom>
          <a:solidFill xmlns:a="http://schemas.openxmlformats.org/drawingml/2006/main">
            <a:srgbClr val="D9EEF2"/>
          </a:solidFill>
          <a:ln xmlns:a="http://schemas.openxmlformats.org/drawingml/2006/main" w="9525">
            <a:solidFill>
              <a:srgbClr val="637782"/>
            </a:solidFill>
          </a:ln>
        </p:spPr>
      </p:sp>
      <p:sp>
        <p:nvSpPr>
          <p:cNvPr id="139" name="Redox electron">
            <a:extLst xmlns:a="http://schemas.openxmlformats.org/drawingml/2006/main">
              <a:ext uri="{FF2B5EF4-FFF2-40B4-BE49-F238E27FC236}">
                <a16:creationId xmlns:a16="http://schemas.microsoft.com/office/drawing/2014/main" id="{7F4ECBA6-E8B6-4123-8E78-CD7BFF4E897B}"/>
              </a:ext>
            </a:extLst>
          </p:cNvPr>
          <p:cNvSpPr>
            <a:spLocks xmlns:a="http://schemas.openxmlformats.org/drawingml/2006/main" noGrp="1"/>
          </p:cNvSpPr>
          <p:nvPr/>
        </p:nvSpPr>
        <p:spPr>
          <a:xfrm xmlns:a="http://schemas.openxmlformats.org/drawingml/2006/main">
            <a:off x="10525125" y="2162175"/>
            <a:ext cx="3238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2100" b="1">
                <a:solidFill>
                  <a:srgbClr val="A66B00"/>
                </a:solidFill>
                <a:latin typeface="Calibri"/>
                <a:ea typeface="Calibri"/>
                <a:cs typeface="Calibri"/>
              </a:defRPr>
            </a:pPr>
            <a:r>
              <a:rPr sz="2100" b="1">
                <a:solidFill>
                  <a:srgbClr val="A66B00"/>
                </a:solidFill>
                <a:latin typeface="Calibri"/>
                <a:ea typeface="Calibri"/>
                <a:cs typeface="Calibri"/>
              </a:rPr>
              <a:t>e⁻</a:t>
            </a:r>
          </a:p>
        </p:txBody>
      </p:sp>
      <p:sp>
        <p:nvSpPr>
          <p:cNvPr id="140" name="Cofactor bond 0">
            <a:extLst xmlns:a="http://schemas.openxmlformats.org/drawingml/2006/main">
              <a:ext uri="{FF2B5EF4-FFF2-40B4-BE49-F238E27FC236}">
                <a16:creationId xmlns:a16="http://schemas.microsoft.com/office/drawing/2014/main" id="{D67813B5-D2AD-46F8-80D5-8F6F443B9C9F}"/>
              </a:ext>
            </a:extLst>
          </p:cNvPr>
          <p:cNvSpPr>
            <a:spLocks xmlns:a="http://schemas.openxmlformats.org/drawingml/2006/main" noGrp="1"/>
          </p:cNvSpPr>
          <p:nvPr/>
        </p:nvSpPr>
        <p:spPr>
          <a:xfrm xmlns:a="http://schemas.openxmlformats.org/drawingml/2006/main">
            <a:off x="13011150" y="1933575"/>
            <a:ext cx="361950" cy="361950"/>
          </a:xfrm>
          <a:custGeom xmlns:a="http://schemas.openxmlformats.org/drawingml/2006/main">
            <a:pathLst>
              <a:path w="361950" h="361950">
                <a:moveTo>
                  <a:pt x="0" y="0"/>
                </a:moveTo>
                <a:lnTo>
                  <a:pt x="361950" y="361950"/>
                </a:lnTo>
              </a:path>
            </a:pathLst>
          </a:custGeom>
          <a:noFill xmlns:a="http://schemas.openxmlformats.org/drawingml/2006/main"/>
          <a:ln xmlns:a="http://schemas.openxmlformats.org/drawingml/2006/main" w="19050">
            <a:solidFill>
              <a:srgbClr val="8D6A1F"/>
            </a:solidFill>
          </a:ln>
        </p:spPr>
      </p:sp>
      <p:sp>
        <p:nvSpPr>
          <p:cNvPr id="141" name="Cofactor bond 1">
            <a:extLst xmlns:a="http://schemas.openxmlformats.org/drawingml/2006/main">
              <a:ext uri="{FF2B5EF4-FFF2-40B4-BE49-F238E27FC236}">
                <a16:creationId xmlns:a16="http://schemas.microsoft.com/office/drawing/2014/main" id="{25FD0566-DD70-4BF3-811D-D9A6368910CD}"/>
              </a:ext>
            </a:extLst>
          </p:cNvPr>
          <p:cNvSpPr>
            <a:spLocks xmlns:a="http://schemas.openxmlformats.org/drawingml/2006/main" noGrp="1"/>
          </p:cNvSpPr>
          <p:nvPr/>
        </p:nvSpPr>
        <p:spPr>
          <a:xfrm xmlns:a="http://schemas.openxmlformats.org/drawingml/2006/main">
            <a:off x="13011150" y="2295525"/>
            <a:ext cx="361950" cy="361950"/>
          </a:xfrm>
          <a:custGeom xmlns:a="http://schemas.openxmlformats.org/drawingml/2006/main">
            <a:pathLst>
              <a:path w="361950" h="361950">
                <a:moveTo>
                  <a:pt x="361950" y="0"/>
                </a:moveTo>
                <a:lnTo>
                  <a:pt x="0" y="361950"/>
                </a:lnTo>
              </a:path>
            </a:pathLst>
          </a:custGeom>
          <a:noFill xmlns:a="http://schemas.openxmlformats.org/drawingml/2006/main"/>
          <a:ln xmlns:a="http://schemas.openxmlformats.org/drawingml/2006/main" w="19050">
            <a:solidFill>
              <a:srgbClr val="8D6A1F"/>
            </a:solidFill>
          </a:ln>
        </p:spPr>
      </p:sp>
      <p:sp>
        <p:nvSpPr>
          <p:cNvPr id="142" name="Cofactor bond 2">
            <a:extLst xmlns:a="http://schemas.openxmlformats.org/drawingml/2006/main">
              <a:ext uri="{FF2B5EF4-FFF2-40B4-BE49-F238E27FC236}">
                <a16:creationId xmlns:a16="http://schemas.microsoft.com/office/drawing/2014/main" id="{EB24CE0B-C3AC-4EE8-A83F-88F4951E52A3}"/>
              </a:ext>
            </a:extLst>
          </p:cNvPr>
          <p:cNvSpPr>
            <a:spLocks xmlns:a="http://schemas.openxmlformats.org/drawingml/2006/main" noGrp="1"/>
          </p:cNvSpPr>
          <p:nvPr/>
        </p:nvSpPr>
        <p:spPr>
          <a:xfrm xmlns:a="http://schemas.openxmlformats.org/drawingml/2006/main">
            <a:off x="12649200" y="2295525"/>
            <a:ext cx="361950" cy="361950"/>
          </a:xfrm>
          <a:custGeom xmlns:a="http://schemas.openxmlformats.org/drawingml/2006/main">
            <a:pathLst>
              <a:path w="361950" h="361950">
                <a:moveTo>
                  <a:pt x="361950" y="361950"/>
                </a:moveTo>
                <a:lnTo>
                  <a:pt x="0" y="0"/>
                </a:lnTo>
              </a:path>
            </a:pathLst>
          </a:custGeom>
          <a:noFill xmlns:a="http://schemas.openxmlformats.org/drawingml/2006/main"/>
          <a:ln xmlns:a="http://schemas.openxmlformats.org/drawingml/2006/main" w="19050">
            <a:solidFill>
              <a:srgbClr val="8D6A1F"/>
            </a:solidFill>
          </a:ln>
        </p:spPr>
      </p:sp>
      <p:sp>
        <p:nvSpPr>
          <p:cNvPr id="143" name="Cofactor bond 3">
            <a:extLst xmlns:a="http://schemas.openxmlformats.org/drawingml/2006/main">
              <a:ext uri="{FF2B5EF4-FFF2-40B4-BE49-F238E27FC236}">
                <a16:creationId xmlns:a16="http://schemas.microsoft.com/office/drawing/2014/main" id="{10B4A84B-BD04-46F7-BCA8-788D047711FA}"/>
              </a:ext>
            </a:extLst>
          </p:cNvPr>
          <p:cNvSpPr>
            <a:spLocks xmlns:a="http://schemas.openxmlformats.org/drawingml/2006/main" noGrp="1"/>
          </p:cNvSpPr>
          <p:nvPr/>
        </p:nvSpPr>
        <p:spPr>
          <a:xfrm xmlns:a="http://schemas.openxmlformats.org/drawingml/2006/main">
            <a:off x="12649200" y="1933575"/>
            <a:ext cx="361950" cy="361950"/>
          </a:xfrm>
          <a:custGeom xmlns:a="http://schemas.openxmlformats.org/drawingml/2006/main">
            <a:pathLst>
              <a:path w="361950" h="361950">
                <a:moveTo>
                  <a:pt x="0" y="361950"/>
                </a:moveTo>
                <a:lnTo>
                  <a:pt x="361950" y="0"/>
                </a:lnTo>
              </a:path>
            </a:pathLst>
          </a:custGeom>
          <a:noFill xmlns:a="http://schemas.openxmlformats.org/drawingml/2006/main"/>
          <a:ln xmlns:a="http://schemas.openxmlformats.org/drawingml/2006/main" w="19050">
            <a:solidFill>
              <a:srgbClr val="8D6A1F"/>
            </a:solidFill>
          </a:ln>
        </p:spPr>
      </p:sp>
      <p:sp>
        <p:nvSpPr>
          <p:cNvPr id="144" name="Cofactor constituent 0">
            <a:extLst xmlns:a="http://schemas.openxmlformats.org/drawingml/2006/main">
              <a:ext uri="{FF2B5EF4-FFF2-40B4-BE49-F238E27FC236}">
                <a16:creationId xmlns:a16="http://schemas.microsoft.com/office/drawing/2014/main" id="{FC23ED7F-B080-4B97-8D88-AE57EB62BADF}"/>
              </a:ext>
            </a:extLst>
          </p:cNvPr>
          <p:cNvSpPr>
            <a:spLocks xmlns:a="http://schemas.openxmlformats.org/drawingml/2006/main" noGrp="1"/>
          </p:cNvSpPr>
          <p:nvPr/>
        </p:nvSpPr>
        <p:spPr>
          <a:xfrm xmlns:a="http://schemas.openxmlformats.org/drawingml/2006/main">
            <a:off x="12906375" y="1828800"/>
            <a:ext cx="209550" cy="209550"/>
          </a:xfrm>
          <a:prstGeom xmlns:a="http://schemas.openxmlformats.org/drawingml/2006/main" prst="ellipse">
            <a:avLst/>
          </a:prstGeom>
          <a:solidFill xmlns:a="http://schemas.openxmlformats.org/drawingml/2006/main">
            <a:srgbClr val="F1C84A"/>
          </a:solidFill>
          <a:ln xmlns:a="http://schemas.openxmlformats.org/drawingml/2006/main" w="14288">
            <a:solidFill>
              <a:srgbClr val="8D6A1F"/>
            </a:solidFill>
          </a:ln>
        </p:spPr>
      </p:sp>
      <p:sp>
        <p:nvSpPr>
          <p:cNvPr id="145" name="Cofactor constituent 1">
            <a:extLst xmlns:a="http://schemas.openxmlformats.org/drawingml/2006/main">
              <a:ext uri="{FF2B5EF4-FFF2-40B4-BE49-F238E27FC236}">
                <a16:creationId xmlns:a16="http://schemas.microsoft.com/office/drawing/2014/main" id="{D988728B-0435-4406-8660-0D94C7AB40BE}"/>
              </a:ext>
            </a:extLst>
          </p:cNvPr>
          <p:cNvSpPr>
            <a:spLocks xmlns:a="http://schemas.openxmlformats.org/drawingml/2006/main" noGrp="1"/>
          </p:cNvSpPr>
          <p:nvPr/>
        </p:nvSpPr>
        <p:spPr>
          <a:xfrm xmlns:a="http://schemas.openxmlformats.org/drawingml/2006/main">
            <a:off x="13268325" y="2190750"/>
            <a:ext cx="209550" cy="209550"/>
          </a:xfrm>
          <a:prstGeom xmlns:a="http://schemas.openxmlformats.org/drawingml/2006/main" prst="ellipse">
            <a:avLst/>
          </a:prstGeom>
          <a:solidFill xmlns:a="http://schemas.openxmlformats.org/drawingml/2006/main">
            <a:srgbClr val="D9A323"/>
          </a:solidFill>
          <a:ln xmlns:a="http://schemas.openxmlformats.org/drawingml/2006/main" w="14288">
            <a:solidFill>
              <a:srgbClr val="8D6A1F"/>
            </a:solidFill>
          </a:ln>
        </p:spPr>
      </p:sp>
      <p:sp>
        <p:nvSpPr>
          <p:cNvPr id="146" name="Cofactor constituent 2">
            <a:extLst xmlns:a="http://schemas.openxmlformats.org/drawingml/2006/main">
              <a:ext uri="{FF2B5EF4-FFF2-40B4-BE49-F238E27FC236}">
                <a16:creationId xmlns:a16="http://schemas.microsoft.com/office/drawing/2014/main" id="{8052AC26-9444-477F-B152-86C68F32388F}"/>
              </a:ext>
            </a:extLst>
          </p:cNvPr>
          <p:cNvSpPr>
            <a:spLocks xmlns:a="http://schemas.openxmlformats.org/drawingml/2006/main" noGrp="1"/>
          </p:cNvSpPr>
          <p:nvPr/>
        </p:nvSpPr>
        <p:spPr>
          <a:xfrm xmlns:a="http://schemas.openxmlformats.org/drawingml/2006/main">
            <a:off x="12906375" y="2552700"/>
            <a:ext cx="209550" cy="209550"/>
          </a:xfrm>
          <a:prstGeom xmlns:a="http://schemas.openxmlformats.org/drawingml/2006/main" prst="ellipse">
            <a:avLst/>
          </a:prstGeom>
          <a:solidFill xmlns:a="http://schemas.openxmlformats.org/drawingml/2006/main">
            <a:srgbClr val="F1C84A"/>
          </a:solidFill>
          <a:ln xmlns:a="http://schemas.openxmlformats.org/drawingml/2006/main" w="14288">
            <a:solidFill>
              <a:srgbClr val="8D6A1F"/>
            </a:solidFill>
          </a:ln>
        </p:spPr>
      </p:sp>
      <p:sp>
        <p:nvSpPr>
          <p:cNvPr id="147" name="Cofactor constituent 3">
            <a:extLst xmlns:a="http://schemas.openxmlformats.org/drawingml/2006/main">
              <a:ext uri="{FF2B5EF4-FFF2-40B4-BE49-F238E27FC236}">
                <a16:creationId xmlns:a16="http://schemas.microsoft.com/office/drawing/2014/main" id="{788FE941-3CB8-4D6F-9BC3-101A55368D77}"/>
              </a:ext>
            </a:extLst>
          </p:cNvPr>
          <p:cNvSpPr>
            <a:spLocks xmlns:a="http://schemas.openxmlformats.org/drawingml/2006/main" noGrp="1"/>
          </p:cNvSpPr>
          <p:nvPr/>
        </p:nvSpPr>
        <p:spPr>
          <a:xfrm xmlns:a="http://schemas.openxmlformats.org/drawingml/2006/main">
            <a:off x="12544425" y="2190750"/>
            <a:ext cx="209550" cy="209550"/>
          </a:xfrm>
          <a:prstGeom xmlns:a="http://schemas.openxmlformats.org/drawingml/2006/main" prst="ellipse">
            <a:avLst/>
          </a:prstGeom>
          <a:solidFill xmlns:a="http://schemas.openxmlformats.org/drawingml/2006/main">
            <a:srgbClr val="D9A323"/>
          </a:solidFill>
          <a:ln xmlns:a="http://schemas.openxmlformats.org/drawingml/2006/main" w="14288">
            <a:solidFill>
              <a:srgbClr val="8D6A1F"/>
            </a:solidFill>
          </a:ln>
        </p:spPr>
      </p:sp>
      <p:sp>
        <p:nvSpPr>
          <p:cNvPr id="148" name="Cofactor centre">
            <a:extLst xmlns:a="http://schemas.openxmlformats.org/drawingml/2006/main">
              <a:ext uri="{FF2B5EF4-FFF2-40B4-BE49-F238E27FC236}">
                <a16:creationId xmlns:a16="http://schemas.microsoft.com/office/drawing/2014/main" id="{DFCE216A-44EC-4259-82D5-45A5AEB08B79}"/>
              </a:ext>
            </a:extLst>
          </p:cNvPr>
          <p:cNvSpPr>
            <a:spLocks xmlns:a="http://schemas.openxmlformats.org/drawingml/2006/main" noGrp="1"/>
          </p:cNvSpPr>
          <p:nvPr/>
        </p:nvSpPr>
        <p:spPr>
          <a:xfrm xmlns:a="http://schemas.openxmlformats.org/drawingml/2006/main">
            <a:off x="12944475" y="2228850"/>
            <a:ext cx="133350" cy="133350"/>
          </a:xfrm>
          <a:prstGeom xmlns:a="http://schemas.openxmlformats.org/drawingml/2006/main" prst="ellipse">
            <a:avLst/>
          </a:prstGeom>
          <a:solidFill xmlns:a="http://schemas.openxmlformats.org/drawingml/2006/main">
            <a:srgbClr val="5B4C3B"/>
          </a:solidFill>
          <a:ln xmlns:a="http://schemas.openxmlformats.org/drawingml/2006/main" w="9525">
            <a:solidFill>
              <a:srgbClr val="5B4C3B"/>
            </a:solidFill>
          </a:ln>
        </p:spPr>
      </p:sp>
      <p:sp>
        <p:nvSpPr>
          <p:cNvPr id="149" name="Redox context label">
            <a:extLst xmlns:a="http://schemas.openxmlformats.org/drawingml/2006/main">
              <a:ext uri="{FF2B5EF4-FFF2-40B4-BE49-F238E27FC236}">
                <a16:creationId xmlns:a16="http://schemas.microsoft.com/office/drawing/2014/main" id="{CE6963B0-EF92-41EE-A3EF-E8CFA655BD4C}"/>
              </a:ext>
            </a:extLst>
          </p:cNvPr>
          <p:cNvSpPr>
            <a:spLocks xmlns:a="http://schemas.openxmlformats.org/drawingml/2006/main" noGrp="1"/>
          </p:cNvSpPr>
          <p:nvPr/>
        </p:nvSpPr>
        <p:spPr>
          <a:xfrm xmlns:a="http://schemas.openxmlformats.org/drawingml/2006/main">
            <a:off x="9734550" y="2724150"/>
            <a:ext cx="1933575"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2175" b="0">
                <a:solidFill>
                  <a:srgbClr val="172D38"/>
                </a:solidFill>
                <a:latin typeface="Calibri"/>
                <a:ea typeface="Calibri"/>
                <a:cs typeface="Calibri"/>
              </a:defRPr>
            </a:pPr>
            <a:r>
              <a:rPr sz="2175" b="0">
                <a:solidFill>
                  <a:srgbClr val="172D38"/>
                </a:solidFill>
                <a:latin typeface="Calibri"/>
                <a:ea typeface="Calibri"/>
                <a:cs typeface="Calibri"/>
              </a:rPr>
              <a:t>Redox and</a:t>
            </a:r>
          </a:p>
          <a:p xmlns:a="http://schemas.openxmlformats.org/drawingml/2006/main">
            <a:pPr algn="ctr">
              <a:buNone/>
              <a:defRPr sz="2175" b="0">
                <a:solidFill>
                  <a:srgbClr val="172D38"/>
                </a:solidFill>
                <a:latin typeface="Calibri"/>
                <a:ea typeface="Calibri"/>
                <a:cs typeface="Calibri"/>
              </a:defRPr>
            </a:pPr>
            <a:r>
              <a:rPr sz="2175" b="0">
                <a:solidFill>
                  <a:srgbClr val="172D38"/>
                </a:solidFill>
                <a:latin typeface="Calibri"/>
                <a:ea typeface="Calibri"/>
                <a:cs typeface="Calibri"/>
              </a:rPr>
              <a:t>electron flow</a:t>
            </a:r>
          </a:p>
        </p:txBody>
      </p:sp>
      <p:sp>
        <p:nvSpPr>
          <p:cNvPr id="150" name="Cofactor context label">
            <a:extLst xmlns:a="http://schemas.openxmlformats.org/drawingml/2006/main">
              <a:ext uri="{FF2B5EF4-FFF2-40B4-BE49-F238E27FC236}">
                <a16:creationId xmlns:a16="http://schemas.microsoft.com/office/drawing/2014/main" id="{083F7E64-5C8A-41C6-A15A-326900C04A3D}"/>
              </a:ext>
            </a:extLst>
          </p:cNvPr>
          <p:cNvSpPr>
            <a:spLocks xmlns:a="http://schemas.openxmlformats.org/drawingml/2006/main" noGrp="1"/>
          </p:cNvSpPr>
          <p:nvPr/>
        </p:nvSpPr>
        <p:spPr>
          <a:xfrm xmlns:a="http://schemas.openxmlformats.org/drawingml/2006/main">
            <a:off x="12030075" y="2724150"/>
            <a:ext cx="1971675"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2100" b="0">
                <a:solidFill>
                  <a:srgbClr val="172D38"/>
                </a:solidFill>
                <a:latin typeface="Calibri"/>
                <a:ea typeface="Calibri"/>
                <a:cs typeface="Calibri"/>
              </a:defRPr>
            </a:pPr>
            <a:r>
              <a:rPr sz="2100" b="0">
                <a:solidFill>
                  <a:srgbClr val="172D38"/>
                </a:solidFill>
                <a:latin typeface="Calibri"/>
                <a:ea typeface="Calibri"/>
                <a:cs typeface="Calibri"/>
              </a:rPr>
              <a:t>Fe-S and</a:t>
            </a:r>
          </a:p>
          <a:p xmlns:a="http://schemas.openxmlformats.org/drawingml/2006/main">
            <a:pPr algn="ctr">
              <a:buNone/>
              <a:defRPr sz="2100" b="0">
                <a:solidFill>
                  <a:srgbClr val="172D38"/>
                </a:solidFill>
                <a:latin typeface="Calibri"/>
                <a:ea typeface="Calibri"/>
                <a:cs typeface="Calibri"/>
              </a:defRPr>
            </a:pPr>
            <a:r>
              <a:rPr sz="2100" b="0">
                <a:solidFill>
                  <a:srgbClr val="172D38"/>
                </a:solidFill>
                <a:latin typeface="Calibri"/>
                <a:ea typeface="Calibri"/>
                <a:cs typeface="Calibri"/>
              </a:rPr>
              <a:t>cofactor handling</a:t>
            </a:r>
          </a:p>
        </p:txBody>
      </p:sp>
      <p:sp>
        <p:nvSpPr>
          <p:cNvPr id="151" name="Cyanobacterial cell">
            <a:extLst xmlns:a="http://schemas.openxmlformats.org/drawingml/2006/main">
              <a:ext uri="{FF2B5EF4-FFF2-40B4-BE49-F238E27FC236}">
                <a16:creationId xmlns:a16="http://schemas.microsoft.com/office/drawing/2014/main" id="{CEAC4012-F6C9-4688-8019-34A39EF55D41}"/>
              </a:ext>
            </a:extLst>
          </p:cNvPr>
          <p:cNvSpPr>
            <a:spLocks xmlns:a="http://schemas.openxmlformats.org/drawingml/2006/main" noGrp="1"/>
          </p:cNvSpPr>
          <p:nvPr/>
        </p:nvSpPr>
        <p:spPr>
          <a:xfrm xmlns:a="http://schemas.openxmlformats.org/drawingml/2006/main">
            <a:off x="9848850" y="3752850"/>
            <a:ext cx="4019550" cy="4019550"/>
          </a:xfrm>
          <a:prstGeom xmlns:a="http://schemas.openxmlformats.org/drawingml/2006/main" prst="ellipse">
            <a:avLst/>
          </a:prstGeom>
          <a:solidFill xmlns:a="http://schemas.openxmlformats.org/drawingml/2006/main">
            <a:srgbClr val="EDF7E9"/>
          </a:solidFill>
          <a:ln xmlns:a="http://schemas.openxmlformats.org/drawingml/2006/main" w="28575">
            <a:solidFill>
              <a:srgbClr val="3B7D3B"/>
            </a:solidFill>
          </a:ln>
        </p:spPr>
      </p:sp>
      <p:sp>
        <p:nvSpPr>
          <p:cNvPr id="152" name="Cell envelope">
            <a:extLst xmlns:a="http://schemas.openxmlformats.org/drawingml/2006/main">
              <a:ext uri="{FF2B5EF4-FFF2-40B4-BE49-F238E27FC236}">
                <a16:creationId xmlns:a16="http://schemas.microsoft.com/office/drawing/2014/main" id="{A6E991DB-124E-4267-ABC1-E90ACDDD0E91}"/>
              </a:ext>
            </a:extLst>
          </p:cNvPr>
          <p:cNvSpPr>
            <a:spLocks xmlns:a="http://schemas.openxmlformats.org/drawingml/2006/main" noGrp="1"/>
          </p:cNvSpPr>
          <p:nvPr/>
        </p:nvSpPr>
        <p:spPr>
          <a:xfrm xmlns:a="http://schemas.openxmlformats.org/drawingml/2006/main">
            <a:off x="9953625" y="3857625"/>
            <a:ext cx="3810000" cy="3810000"/>
          </a:xfrm>
          <a:prstGeom xmlns:a="http://schemas.openxmlformats.org/drawingml/2006/main" prst="ellipse">
            <a:avLst/>
          </a:prstGeom>
          <a:noFill xmlns:a="http://schemas.openxmlformats.org/drawingml/2006/main"/>
          <a:ln xmlns:a="http://schemas.openxmlformats.org/drawingml/2006/main" w="17145">
            <a:solidFill>
              <a:srgbClr val="7AAE71"/>
            </a:solidFill>
          </a:ln>
        </p:spPr>
      </p:sp>
      <p:sp>
        <p:nvSpPr>
          <p:cNvPr id="153" name="Sun disc">
            <a:extLst xmlns:a="http://schemas.openxmlformats.org/drawingml/2006/main">
              <a:ext uri="{FF2B5EF4-FFF2-40B4-BE49-F238E27FC236}">
                <a16:creationId xmlns:a16="http://schemas.microsoft.com/office/drawing/2014/main" id="{226107C9-7052-414B-9C86-45C962125D06}"/>
              </a:ext>
            </a:extLst>
          </p:cNvPr>
          <p:cNvSpPr>
            <a:spLocks xmlns:a="http://schemas.openxmlformats.org/drawingml/2006/main" noGrp="1"/>
          </p:cNvSpPr>
          <p:nvPr/>
        </p:nvSpPr>
        <p:spPr>
          <a:xfrm xmlns:a="http://schemas.openxmlformats.org/drawingml/2006/main">
            <a:off x="10591800" y="4343400"/>
            <a:ext cx="400050" cy="400050"/>
          </a:xfrm>
          <a:prstGeom xmlns:a="http://schemas.openxmlformats.org/drawingml/2006/main" prst="ellipse">
            <a:avLst/>
          </a:prstGeom>
          <a:solidFill xmlns:a="http://schemas.openxmlformats.org/drawingml/2006/main">
            <a:srgbClr val="F6C34A"/>
          </a:solidFill>
          <a:ln xmlns:a="http://schemas.openxmlformats.org/drawingml/2006/main" w="14288">
            <a:solidFill>
              <a:srgbClr val="D89A20"/>
            </a:solidFill>
          </a:ln>
        </p:spPr>
      </p:sp>
      <p:sp>
        <p:nvSpPr>
          <p:cNvPr id="154" name="Sun ray 0">
            <a:extLst xmlns:a="http://schemas.openxmlformats.org/drawingml/2006/main">
              <a:ext uri="{FF2B5EF4-FFF2-40B4-BE49-F238E27FC236}">
                <a16:creationId xmlns:a16="http://schemas.microsoft.com/office/drawing/2014/main" id="{51AA61CF-75D6-460F-8077-EB72D74B8FD2}"/>
              </a:ext>
            </a:extLst>
          </p:cNvPr>
          <p:cNvSpPr>
            <a:spLocks xmlns:a="http://schemas.openxmlformats.org/drawingml/2006/main" noGrp="1"/>
          </p:cNvSpPr>
          <p:nvPr/>
        </p:nvSpPr>
        <p:spPr>
          <a:xfrm xmlns:a="http://schemas.openxmlformats.org/drawingml/2006/main">
            <a:off x="11068050" y="4543425"/>
            <a:ext cx="123825" cy="9525"/>
          </a:xfrm>
          <a:custGeom xmlns:a="http://schemas.openxmlformats.org/drawingml/2006/main">
            <a:pathLst>
              <a:path w="123825" h="9525">
                <a:moveTo>
                  <a:pt x="0" y="0"/>
                </a:moveTo>
                <a:lnTo>
                  <a:pt x="123825" y="0"/>
                </a:lnTo>
              </a:path>
            </a:pathLst>
          </a:custGeom>
          <a:noFill xmlns:a="http://schemas.openxmlformats.org/drawingml/2006/main"/>
          <a:ln xmlns:a="http://schemas.openxmlformats.org/drawingml/2006/main" w="21908">
            <a:solidFill>
              <a:srgbClr val="D89A20"/>
            </a:solidFill>
          </a:ln>
        </p:spPr>
      </p:sp>
      <p:sp>
        <p:nvSpPr>
          <p:cNvPr id="155" name="Sun ray 1">
            <a:extLst xmlns:a="http://schemas.openxmlformats.org/drawingml/2006/main">
              <a:ext uri="{FF2B5EF4-FFF2-40B4-BE49-F238E27FC236}">
                <a16:creationId xmlns:a16="http://schemas.microsoft.com/office/drawing/2014/main" id="{211EE8B2-CE65-4E0F-A6F4-9355E7728202}"/>
              </a:ext>
            </a:extLst>
          </p:cNvPr>
          <p:cNvSpPr>
            <a:spLocks xmlns:a="http://schemas.openxmlformats.org/drawingml/2006/main" noGrp="1"/>
          </p:cNvSpPr>
          <p:nvPr/>
        </p:nvSpPr>
        <p:spPr>
          <a:xfrm xmlns:a="http://schemas.openxmlformats.org/drawingml/2006/main">
            <a:off x="11031043" y="4681538"/>
            <a:ext cx="107236" cy="61913"/>
          </a:xfrm>
          <a:custGeom xmlns:a="http://schemas.openxmlformats.org/drawingml/2006/main">
            <a:pathLst>
              <a:path w="107236" h="61913">
                <a:moveTo>
                  <a:pt x="0" y="0"/>
                </a:moveTo>
                <a:lnTo>
                  <a:pt x="107236" y="61913"/>
                </a:lnTo>
              </a:path>
            </a:pathLst>
          </a:custGeom>
          <a:noFill xmlns:a="http://schemas.openxmlformats.org/drawingml/2006/main"/>
          <a:ln xmlns:a="http://schemas.openxmlformats.org/drawingml/2006/main" w="21908">
            <a:solidFill>
              <a:srgbClr val="D89A20"/>
            </a:solidFill>
          </a:ln>
        </p:spPr>
      </p:sp>
      <p:sp>
        <p:nvSpPr>
          <p:cNvPr id="156" name="Sun ray 2">
            <a:extLst xmlns:a="http://schemas.openxmlformats.org/drawingml/2006/main">
              <a:ext uri="{FF2B5EF4-FFF2-40B4-BE49-F238E27FC236}">
                <a16:creationId xmlns:a16="http://schemas.microsoft.com/office/drawing/2014/main" id="{7D072D0A-A45E-4BFC-93FD-E7669025E51D}"/>
              </a:ext>
            </a:extLst>
          </p:cNvPr>
          <p:cNvSpPr>
            <a:spLocks xmlns:a="http://schemas.openxmlformats.org/drawingml/2006/main" noGrp="1"/>
          </p:cNvSpPr>
          <p:nvPr/>
        </p:nvSpPr>
        <p:spPr>
          <a:xfrm xmlns:a="http://schemas.openxmlformats.org/drawingml/2006/main">
            <a:off x="10929938" y="4782643"/>
            <a:ext cx="61913" cy="107236"/>
          </a:xfrm>
          <a:custGeom xmlns:a="http://schemas.openxmlformats.org/drawingml/2006/main">
            <a:pathLst>
              <a:path w="61913" h="107236">
                <a:moveTo>
                  <a:pt x="0" y="0"/>
                </a:moveTo>
                <a:lnTo>
                  <a:pt x="61913" y="107236"/>
                </a:lnTo>
              </a:path>
            </a:pathLst>
          </a:custGeom>
          <a:noFill xmlns:a="http://schemas.openxmlformats.org/drawingml/2006/main"/>
          <a:ln xmlns:a="http://schemas.openxmlformats.org/drawingml/2006/main" w="21908">
            <a:solidFill>
              <a:srgbClr val="D89A20"/>
            </a:solidFill>
          </a:ln>
        </p:spPr>
      </p:sp>
      <p:sp>
        <p:nvSpPr>
          <p:cNvPr id="157" name="Sun ray 3">
            <a:extLst xmlns:a="http://schemas.openxmlformats.org/drawingml/2006/main">
              <a:ext uri="{FF2B5EF4-FFF2-40B4-BE49-F238E27FC236}">
                <a16:creationId xmlns:a16="http://schemas.microsoft.com/office/drawing/2014/main" id="{6D39B472-E175-440B-A052-D286B06283B6}"/>
              </a:ext>
            </a:extLst>
          </p:cNvPr>
          <p:cNvSpPr>
            <a:spLocks xmlns:a="http://schemas.openxmlformats.org/drawingml/2006/main" noGrp="1"/>
          </p:cNvSpPr>
          <p:nvPr/>
        </p:nvSpPr>
        <p:spPr>
          <a:xfrm xmlns:a="http://schemas.openxmlformats.org/drawingml/2006/main">
            <a:off x="10791825" y="4819650"/>
            <a:ext cx="9525" cy="123825"/>
          </a:xfrm>
          <a:custGeom xmlns:a="http://schemas.openxmlformats.org/drawingml/2006/main">
            <a:pathLst>
              <a:path w="9525" h="123825">
                <a:moveTo>
                  <a:pt x="0" y="0"/>
                </a:moveTo>
                <a:lnTo>
                  <a:pt x="0" y="123825"/>
                </a:lnTo>
              </a:path>
            </a:pathLst>
          </a:custGeom>
          <a:noFill xmlns:a="http://schemas.openxmlformats.org/drawingml/2006/main"/>
          <a:ln xmlns:a="http://schemas.openxmlformats.org/drawingml/2006/main" w="21908">
            <a:solidFill>
              <a:srgbClr val="D89A20"/>
            </a:solidFill>
          </a:ln>
        </p:spPr>
      </p:sp>
      <p:sp>
        <p:nvSpPr>
          <p:cNvPr id="158" name="Sun ray 4">
            <a:extLst xmlns:a="http://schemas.openxmlformats.org/drawingml/2006/main">
              <a:ext uri="{FF2B5EF4-FFF2-40B4-BE49-F238E27FC236}">
                <a16:creationId xmlns:a16="http://schemas.microsoft.com/office/drawing/2014/main" id="{C1AD1256-82F7-480A-98BD-846A0D2C440E}"/>
              </a:ext>
            </a:extLst>
          </p:cNvPr>
          <p:cNvSpPr>
            <a:spLocks xmlns:a="http://schemas.openxmlformats.org/drawingml/2006/main" noGrp="1"/>
          </p:cNvSpPr>
          <p:nvPr/>
        </p:nvSpPr>
        <p:spPr>
          <a:xfrm xmlns:a="http://schemas.openxmlformats.org/drawingml/2006/main">
            <a:off x="10591800" y="4782643"/>
            <a:ext cx="61913" cy="107236"/>
          </a:xfrm>
          <a:custGeom xmlns:a="http://schemas.openxmlformats.org/drawingml/2006/main">
            <a:pathLst>
              <a:path w="61913" h="107236">
                <a:moveTo>
                  <a:pt x="61913" y="0"/>
                </a:moveTo>
                <a:lnTo>
                  <a:pt x="0" y="107236"/>
                </a:lnTo>
              </a:path>
            </a:pathLst>
          </a:custGeom>
          <a:noFill xmlns:a="http://schemas.openxmlformats.org/drawingml/2006/main"/>
          <a:ln xmlns:a="http://schemas.openxmlformats.org/drawingml/2006/main" w="21908">
            <a:solidFill>
              <a:srgbClr val="D89A20"/>
            </a:solidFill>
          </a:ln>
        </p:spPr>
      </p:sp>
      <p:sp>
        <p:nvSpPr>
          <p:cNvPr id="159" name="Sun ray 5">
            <a:extLst xmlns:a="http://schemas.openxmlformats.org/drawingml/2006/main">
              <a:ext uri="{FF2B5EF4-FFF2-40B4-BE49-F238E27FC236}">
                <a16:creationId xmlns:a16="http://schemas.microsoft.com/office/drawing/2014/main" id="{40C7A2AD-9D80-4EC9-8E7C-7734B75C76A2}"/>
              </a:ext>
            </a:extLst>
          </p:cNvPr>
          <p:cNvSpPr>
            <a:spLocks xmlns:a="http://schemas.openxmlformats.org/drawingml/2006/main" noGrp="1"/>
          </p:cNvSpPr>
          <p:nvPr/>
        </p:nvSpPr>
        <p:spPr>
          <a:xfrm xmlns:a="http://schemas.openxmlformats.org/drawingml/2006/main">
            <a:off x="10445372" y="4681538"/>
            <a:ext cx="107236" cy="61913"/>
          </a:xfrm>
          <a:custGeom xmlns:a="http://schemas.openxmlformats.org/drawingml/2006/main">
            <a:pathLst>
              <a:path w="107236" h="61913">
                <a:moveTo>
                  <a:pt x="107236" y="0"/>
                </a:moveTo>
                <a:lnTo>
                  <a:pt x="0" y="61913"/>
                </a:lnTo>
              </a:path>
            </a:pathLst>
          </a:custGeom>
          <a:noFill xmlns:a="http://schemas.openxmlformats.org/drawingml/2006/main"/>
          <a:ln xmlns:a="http://schemas.openxmlformats.org/drawingml/2006/main" w="21908">
            <a:solidFill>
              <a:srgbClr val="D89A20"/>
            </a:solidFill>
          </a:ln>
        </p:spPr>
      </p:sp>
      <p:sp>
        <p:nvSpPr>
          <p:cNvPr id="160" name="Sun ray 6">
            <a:extLst xmlns:a="http://schemas.openxmlformats.org/drawingml/2006/main">
              <a:ext uri="{FF2B5EF4-FFF2-40B4-BE49-F238E27FC236}">
                <a16:creationId xmlns:a16="http://schemas.microsoft.com/office/drawing/2014/main" id="{595B5CA5-B665-4FC4-AFEA-14FABA0EBC3D}"/>
              </a:ext>
            </a:extLst>
          </p:cNvPr>
          <p:cNvSpPr>
            <a:spLocks xmlns:a="http://schemas.openxmlformats.org/drawingml/2006/main" noGrp="1"/>
          </p:cNvSpPr>
          <p:nvPr/>
        </p:nvSpPr>
        <p:spPr>
          <a:xfrm xmlns:a="http://schemas.openxmlformats.org/drawingml/2006/main">
            <a:off x="10391775" y="4543425"/>
            <a:ext cx="123825" cy="9525"/>
          </a:xfrm>
          <a:custGeom xmlns:a="http://schemas.openxmlformats.org/drawingml/2006/main">
            <a:pathLst>
              <a:path w="123825" h="9525">
                <a:moveTo>
                  <a:pt x="123825" y="0"/>
                </a:moveTo>
                <a:lnTo>
                  <a:pt x="0" y="0"/>
                </a:lnTo>
              </a:path>
            </a:pathLst>
          </a:custGeom>
          <a:noFill xmlns:a="http://schemas.openxmlformats.org/drawingml/2006/main"/>
          <a:ln xmlns:a="http://schemas.openxmlformats.org/drawingml/2006/main" w="21908">
            <a:solidFill>
              <a:srgbClr val="D89A20"/>
            </a:solidFill>
          </a:ln>
        </p:spPr>
      </p:sp>
      <p:sp>
        <p:nvSpPr>
          <p:cNvPr id="161" name="Sun ray 7">
            <a:extLst xmlns:a="http://schemas.openxmlformats.org/drawingml/2006/main">
              <a:ext uri="{FF2B5EF4-FFF2-40B4-BE49-F238E27FC236}">
                <a16:creationId xmlns:a16="http://schemas.microsoft.com/office/drawing/2014/main" id="{5B8C3ED7-A27B-4394-AB2E-8018B9BAAA93}"/>
              </a:ext>
            </a:extLst>
          </p:cNvPr>
          <p:cNvSpPr>
            <a:spLocks xmlns:a="http://schemas.openxmlformats.org/drawingml/2006/main" noGrp="1"/>
          </p:cNvSpPr>
          <p:nvPr/>
        </p:nvSpPr>
        <p:spPr>
          <a:xfrm xmlns:a="http://schemas.openxmlformats.org/drawingml/2006/main">
            <a:off x="10445372" y="4343400"/>
            <a:ext cx="107236" cy="61913"/>
          </a:xfrm>
          <a:custGeom xmlns:a="http://schemas.openxmlformats.org/drawingml/2006/main">
            <a:pathLst>
              <a:path w="107236" h="61913">
                <a:moveTo>
                  <a:pt x="107236" y="61913"/>
                </a:moveTo>
                <a:lnTo>
                  <a:pt x="0" y="0"/>
                </a:lnTo>
              </a:path>
            </a:pathLst>
          </a:custGeom>
          <a:noFill xmlns:a="http://schemas.openxmlformats.org/drawingml/2006/main"/>
          <a:ln xmlns:a="http://schemas.openxmlformats.org/drawingml/2006/main" w="21908">
            <a:solidFill>
              <a:srgbClr val="D89A20"/>
            </a:solidFill>
          </a:ln>
        </p:spPr>
      </p:sp>
      <p:sp>
        <p:nvSpPr>
          <p:cNvPr id="162" name="Sun ray 8">
            <a:extLst xmlns:a="http://schemas.openxmlformats.org/drawingml/2006/main">
              <a:ext uri="{FF2B5EF4-FFF2-40B4-BE49-F238E27FC236}">
                <a16:creationId xmlns:a16="http://schemas.microsoft.com/office/drawing/2014/main" id="{D9D0327D-D8E3-44A3-ADD1-D03D9A8CC049}"/>
              </a:ext>
            </a:extLst>
          </p:cNvPr>
          <p:cNvSpPr>
            <a:spLocks xmlns:a="http://schemas.openxmlformats.org/drawingml/2006/main" noGrp="1"/>
          </p:cNvSpPr>
          <p:nvPr/>
        </p:nvSpPr>
        <p:spPr>
          <a:xfrm xmlns:a="http://schemas.openxmlformats.org/drawingml/2006/main">
            <a:off x="10591800" y="4196972"/>
            <a:ext cx="61913" cy="107236"/>
          </a:xfrm>
          <a:custGeom xmlns:a="http://schemas.openxmlformats.org/drawingml/2006/main">
            <a:pathLst>
              <a:path w="61913" h="107236">
                <a:moveTo>
                  <a:pt x="61913" y="107236"/>
                </a:moveTo>
                <a:lnTo>
                  <a:pt x="0" y="0"/>
                </a:lnTo>
              </a:path>
            </a:pathLst>
          </a:custGeom>
          <a:noFill xmlns:a="http://schemas.openxmlformats.org/drawingml/2006/main"/>
          <a:ln xmlns:a="http://schemas.openxmlformats.org/drawingml/2006/main" w="21908">
            <a:solidFill>
              <a:srgbClr val="D89A20"/>
            </a:solidFill>
          </a:ln>
        </p:spPr>
      </p:sp>
      <p:sp>
        <p:nvSpPr>
          <p:cNvPr id="163" name="Sun ray 9">
            <a:extLst xmlns:a="http://schemas.openxmlformats.org/drawingml/2006/main">
              <a:ext uri="{FF2B5EF4-FFF2-40B4-BE49-F238E27FC236}">
                <a16:creationId xmlns:a16="http://schemas.microsoft.com/office/drawing/2014/main" id="{F04D4FB3-6C31-48B5-A7BF-1E65E458F992}"/>
              </a:ext>
            </a:extLst>
          </p:cNvPr>
          <p:cNvSpPr>
            <a:spLocks xmlns:a="http://schemas.openxmlformats.org/drawingml/2006/main" noGrp="1"/>
          </p:cNvSpPr>
          <p:nvPr/>
        </p:nvSpPr>
        <p:spPr>
          <a:xfrm xmlns:a="http://schemas.openxmlformats.org/drawingml/2006/main">
            <a:off x="10791825" y="4143375"/>
            <a:ext cx="9525" cy="123825"/>
          </a:xfrm>
          <a:custGeom xmlns:a="http://schemas.openxmlformats.org/drawingml/2006/main">
            <a:pathLst>
              <a:path w="9525" h="123825">
                <a:moveTo>
                  <a:pt x="0" y="123825"/>
                </a:moveTo>
                <a:lnTo>
                  <a:pt x="0" y="0"/>
                </a:lnTo>
              </a:path>
            </a:pathLst>
          </a:custGeom>
          <a:noFill xmlns:a="http://schemas.openxmlformats.org/drawingml/2006/main"/>
          <a:ln xmlns:a="http://schemas.openxmlformats.org/drawingml/2006/main" w="21908">
            <a:solidFill>
              <a:srgbClr val="D89A20"/>
            </a:solidFill>
          </a:ln>
        </p:spPr>
      </p:sp>
      <p:sp>
        <p:nvSpPr>
          <p:cNvPr id="164" name="Sun ray 10">
            <a:extLst xmlns:a="http://schemas.openxmlformats.org/drawingml/2006/main">
              <a:ext uri="{FF2B5EF4-FFF2-40B4-BE49-F238E27FC236}">
                <a16:creationId xmlns:a16="http://schemas.microsoft.com/office/drawing/2014/main" id="{C42258FF-C7B5-4808-A7F8-F418533C728B}"/>
              </a:ext>
            </a:extLst>
          </p:cNvPr>
          <p:cNvSpPr>
            <a:spLocks xmlns:a="http://schemas.openxmlformats.org/drawingml/2006/main" noGrp="1"/>
          </p:cNvSpPr>
          <p:nvPr/>
        </p:nvSpPr>
        <p:spPr>
          <a:xfrm xmlns:a="http://schemas.openxmlformats.org/drawingml/2006/main">
            <a:off x="10929938" y="4196972"/>
            <a:ext cx="61913" cy="107236"/>
          </a:xfrm>
          <a:custGeom xmlns:a="http://schemas.openxmlformats.org/drawingml/2006/main">
            <a:pathLst>
              <a:path w="61913" h="107236">
                <a:moveTo>
                  <a:pt x="0" y="107236"/>
                </a:moveTo>
                <a:lnTo>
                  <a:pt x="61913" y="0"/>
                </a:lnTo>
              </a:path>
            </a:pathLst>
          </a:custGeom>
          <a:noFill xmlns:a="http://schemas.openxmlformats.org/drawingml/2006/main"/>
          <a:ln xmlns:a="http://schemas.openxmlformats.org/drawingml/2006/main" w="21908">
            <a:solidFill>
              <a:srgbClr val="D89A20"/>
            </a:solidFill>
          </a:ln>
        </p:spPr>
      </p:sp>
      <p:sp>
        <p:nvSpPr>
          <p:cNvPr id="165" name="Sun ray 11">
            <a:extLst xmlns:a="http://schemas.openxmlformats.org/drawingml/2006/main">
              <a:ext uri="{FF2B5EF4-FFF2-40B4-BE49-F238E27FC236}">
                <a16:creationId xmlns:a16="http://schemas.microsoft.com/office/drawing/2014/main" id="{1C9F6687-9272-4AE4-AD95-BF23C3D7FACB}"/>
              </a:ext>
            </a:extLst>
          </p:cNvPr>
          <p:cNvSpPr>
            <a:spLocks xmlns:a="http://schemas.openxmlformats.org/drawingml/2006/main" noGrp="1"/>
          </p:cNvSpPr>
          <p:nvPr/>
        </p:nvSpPr>
        <p:spPr>
          <a:xfrm xmlns:a="http://schemas.openxmlformats.org/drawingml/2006/main">
            <a:off x="11031043" y="4343400"/>
            <a:ext cx="107236" cy="61913"/>
          </a:xfrm>
          <a:custGeom xmlns:a="http://schemas.openxmlformats.org/drawingml/2006/main">
            <a:pathLst>
              <a:path w="107236" h="61913">
                <a:moveTo>
                  <a:pt x="0" y="61913"/>
                </a:moveTo>
                <a:lnTo>
                  <a:pt x="107236" y="0"/>
                </a:lnTo>
              </a:path>
            </a:pathLst>
          </a:custGeom>
          <a:noFill xmlns:a="http://schemas.openxmlformats.org/drawingml/2006/main"/>
          <a:ln xmlns:a="http://schemas.openxmlformats.org/drawingml/2006/main" w="21908">
            <a:solidFill>
              <a:srgbClr val="D89A20"/>
            </a:solidFill>
          </a:ln>
        </p:spPr>
      </p:sp>
      <p:sp>
        <p:nvSpPr>
          <p:cNvPr id="166" name="Photosynthetic membrane 0">
            <a:extLst xmlns:a="http://schemas.openxmlformats.org/drawingml/2006/main">
              <a:ext uri="{FF2B5EF4-FFF2-40B4-BE49-F238E27FC236}">
                <a16:creationId xmlns:a16="http://schemas.microsoft.com/office/drawing/2014/main" id="{B216C007-7EF2-46EE-89EF-E3109D9A265A}"/>
              </a:ext>
            </a:extLst>
          </p:cNvPr>
          <p:cNvSpPr>
            <a:spLocks xmlns:a="http://schemas.openxmlformats.org/drawingml/2006/main" noGrp="1"/>
          </p:cNvSpPr>
          <p:nvPr/>
        </p:nvSpPr>
        <p:spPr>
          <a:xfrm xmlns:a="http://schemas.openxmlformats.org/drawingml/2006/main">
            <a:off x="10363200" y="5229225"/>
            <a:ext cx="923925" cy="9525"/>
          </a:xfrm>
          <a:custGeom xmlns:a="http://schemas.openxmlformats.org/drawingml/2006/main">
            <a:pathLst>
              <a:path w="923925" h="9525">
                <a:moveTo>
                  <a:pt x="0" y="0"/>
                </a:moveTo>
                <a:lnTo>
                  <a:pt x="923925" y="0"/>
                </a:lnTo>
              </a:path>
            </a:pathLst>
          </a:custGeom>
          <a:noFill xmlns:a="http://schemas.openxmlformats.org/drawingml/2006/main"/>
          <a:ln xmlns:a="http://schemas.openxmlformats.org/drawingml/2006/main" w="38100">
            <a:solidFill>
              <a:srgbClr val="3B7D3B"/>
            </a:solidFill>
          </a:ln>
        </p:spPr>
      </p:sp>
      <p:sp>
        <p:nvSpPr>
          <p:cNvPr id="167" name="Photosynthetic membrane 1">
            <a:extLst xmlns:a="http://schemas.openxmlformats.org/drawingml/2006/main">
              <a:ext uri="{FF2B5EF4-FFF2-40B4-BE49-F238E27FC236}">
                <a16:creationId xmlns:a16="http://schemas.microsoft.com/office/drawing/2014/main" id="{0B11B775-FF72-46E4-AC2C-FF6A05045126}"/>
              </a:ext>
            </a:extLst>
          </p:cNvPr>
          <p:cNvSpPr>
            <a:spLocks xmlns:a="http://schemas.openxmlformats.org/drawingml/2006/main" noGrp="1"/>
          </p:cNvSpPr>
          <p:nvPr/>
        </p:nvSpPr>
        <p:spPr>
          <a:xfrm xmlns:a="http://schemas.openxmlformats.org/drawingml/2006/main">
            <a:off x="10363200" y="5324475"/>
            <a:ext cx="923925" cy="9525"/>
          </a:xfrm>
          <a:custGeom xmlns:a="http://schemas.openxmlformats.org/drawingml/2006/main">
            <a:pathLst>
              <a:path w="923925" h="9525">
                <a:moveTo>
                  <a:pt x="0" y="0"/>
                </a:moveTo>
                <a:lnTo>
                  <a:pt x="923925" y="0"/>
                </a:lnTo>
              </a:path>
            </a:pathLst>
          </a:custGeom>
          <a:noFill xmlns:a="http://schemas.openxmlformats.org/drawingml/2006/main"/>
          <a:ln xmlns:a="http://schemas.openxmlformats.org/drawingml/2006/main" w="38100">
            <a:solidFill>
              <a:srgbClr val="3B7D3B"/>
            </a:solidFill>
          </a:ln>
        </p:spPr>
      </p:sp>
      <p:sp>
        <p:nvSpPr>
          <p:cNvPr id="168" name="Photosynthetic membrane 2">
            <a:extLst xmlns:a="http://schemas.openxmlformats.org/drawingml/2006/main">
              <a:ext uri="{FF2B5EF4-FFF2-40B4-BE49-F238E27FC236}">
                <a16:creationId xmlns:a16="http://schemas.microsoft.com/office/drawing/2014/main" id="{FF5789E9-C0A8-4546-8F72-D459B7E26984}"/>
              </a:ext>
            </a:extLst>
          </p:cNvPr>
          <p:cNvSpPr>
            <a:spLocks xmlns:a="http://schemas.openxmlformats.org/drawingml/2006/main" noGrp="1"/>
          </p:cNvSpPr>
          <p:nvPr/>
        </p:nvSpPr>
        <p:spPr>
          <a:xfrm xmlns:a="http://schemas.openxmlformats.org/drawingml/2006/main">
            <a:off x="10363200" y="5419725"/>
            <a:ext cx="923925" cy="9525"/>
          </a:xfrm>
          <a:custGeom xmlns:a="http://schemas.openxmlformats.org/drawingml/2006/main">
            <a:pathLst>
              <a:path w="923925" h="9525">
                <a:moveTo>
                  <a:pt x="0" y="0"/>
                </a:moveTo>
                <a:lnTo>
                  <a:pt x="923925" y="0"/>
                </a:lnTo>
              </a:path>
            </a:pathLst>
          </a:custGeom>
          <a:noFill xmlns:a="http://schemas.openxmlformats.org/drawingml/2006/main"/>
          <a:ln xmlns:a="http://schemas.openxmlformats.org/drawingml/2006/main" w="38100">
            <a:solidFill>
              <a:srgbClr val="3B7D3B"/>
            </a:solidFill>
          </a:ln>
        </p:spPr>
      </p:sp>
      <p:sp>
        <p:nvSpPr>
          <p:cNvPr id="169" name="Photosynthetic membrane 3">
            <a:extLst xmlns:a="http://schemas.openxmlformats.org/drawingml/2006/main">
              <a:ext uri="{FF2B5EF4-FFF2-40B4-BE49-F238E27FC236}">
                <a16:creationId xmlns:a16="http://schemas.microsoft.com/office/drawing/2014/main" id="{F254A01D-CBE0-4151-A582-87FA61169004}"/>
              </a:ext>
            </a:extLst>
          </p:cNvPr>
          <p:cNvSpPr>
            <a:spLocks xmlns:a="http://schemas.openxmlformats.org/drawingml/2006/main" noGrp="1"/>
          </p:cNvSpPr>
          <p:nvPr/>
        </p:nvSpPr>
        <p:spPr>
          <a:xfrm xmlns:a="http://schemas.openxmlformats.org/drawingml/2006/main">
            <a:off x="10363200" y="5514975"/>
            <a:ext cx="923925" cy="9525"/>
          </a:xfrm>
          <a:custGeom xmlns:a="http://schemas.openxmlformats.org/drawingml/2006/main">
            <a:pathLst>
              <a:path w="923925" h="9525">
                <a:moveTo>
                  <a:pt x="0" y="0"/>
                </a:moveTo>
                <a:lnTo>
                  <a:pt x="923925" y="0"/>
                </a:lnTo>
              </a:path>
            </a:pathLst>
          </a:custGeom>
          <a:noFill xmlns:a="http://schemas.openxmlformats.org/drawingml/2006/main"/>
          <a:ln xmlns:a="http://schemas.openxmlformats.org/drawingml/2006/main" w="38100">
            <a:solidFill>
              <a:srgbClr val="3B7D3B"/>
            </a:solidFill>
          </a:ln>
        </p:spPr>
      </p:sp>
      <p:sp>
        <p:nvSpPr>
          <p:cNvPr id="170" name="Light to photosynthesis">
            <a:extLst xmlns:a="http://schemas.openxmlformats.org/drawingml/2006/main">
              <a:ext uri="{FF2B5EF4-FFF2-40B4-BE49-F238E27FC236}">
                <a16:creationId xmlns:a16="http://schemas.microsoft.com/office/drawing/2014/main" id="{EB63E5B7-FE57-47C0-AB9B-E74154C4EECF}"/>
              </a:ext>
            </a:extLst>
          </p:cNvPr>
          <p:cNvSpPr>
            <a:spLocks xmlns:a="http://schemas.openxmlformats.org/drawingml/2006/main" noGrp="1"/>
          </p:cNvSpPr>
          <p:nvPr/>
        </p:nvSpPr>
        <p:spPr>
          <a:xfrm xmlns:a="http://schemas.openxmlformats.org/drawingml/2006/main">
            <a:off x="10791825" y="4972050"/>
            <a:ext cx="9525" cy="200025"/>
          </a:xfrm>
          <a:custGeom xmlns:a="http://schemas.openxmlformats.org/drawingml/2006/main">
            <a:pathLst>
              <a:path w="9525" h="200025">
                <a:moveTo>
                  <a:pt x="0" y="0"/>
                </a:moveTo>
                <a:lnTo>
                  <a:pt x="0" y="200025"/>
                </a:lnTo>
              </a:path>
            </a:pathLst>
          </a:custGeom>
          <a:noFill xmlns:a="http://schemas.openxmlformats.org/drawingml/2006/main"/>
          <a:ln xmlns:a="http://schemas.openxmlformats.org/drawingml/2006/main" w="23813">
            <a:solidFill>
              <a:srgbClr val="C89322"/>
            </a:solidFill>
          </a:ln>
        </p:spPr>
      </p:sp>
      <p:sp>
        <p:nvSpPr>
          <p:cNvPr id="171" name="Light to photosynthesis arrowhead">
            <a:extLst xmlns:a="http://schemas.openxmlformats.org/drawingml/2006/main">
              <a:ext uri="{FF2B5EF4-FFF2-40B4-BE49-F238E27FC236}">
                <a16:creationId xmlns:a16="http://schemas.microsoft.com/office/drawing/2014/main" id="{8E833ADA-0FFA-4CE0-900B-F9AA7118D906}"/>
              </a:ext>
            </a:extLst>
          </p:cNvPr>
          <p:cNvSpPr>
            <a:spLocks xmlns:a="http://schemas.openxmlformats.org/drawingml/2006/main" noGrp="1"/>
          </p:cNvSpPr>
          <p:nvPr/>
        </p:nvSpPr>
        <p:spPr>
          <a:xfrm xmlns:a="http://schemas.openxmlformats.org/drawingml/2006/main">
            <a:off x="10734675" y="5057775"/>
            <a:ext cx="114300" cy="114300"/>
          </a:xfrm>
          <a:custGeom xmlns:a="http://schemas.openxmlformats.org/drawingml/2006/main">
            <a:pathLst>
              <a:path w="114300" h="114300">
                <a:moveTo>
                  <a:pt x="57150" y="114300"/>
                </a:moveTo>
                <a:lnTo>
                  <a:pt x="114300" y="0"/>
                </a:lnTo>
                <a:lnTo>
                  <a:pt x="0" y="0"/>
                </a:lnTo>
                <a:close/>
              </a:path>
            </a:pathLst>
          </a:custGeom>
          <a:solidFill xmlns:a="http://schemas.openxmlformats.org/drawingml/2006/main">
            <a:srgbClr val="C89322"/>
          </a:solidFill>
          <a:ln xmlns:a="http://schemas.openxmlformats.org/drawingml/2006/main" w="0">
            <a:solidFill>
              <a:srgbClr val="C89322"/>
            </a:solidFill>
          </a:ln>
        </p:spPr>
      </p:sp>
      <p:sp>
        <p:nvSpPr>
          <p:cNvPr id="172" name="Photosynthetic oxygen">
            <a:extLst xmlns:a="http://schemas.openxmlformats.org/drawingml/2006/main">
              <a:ext uri="{FF2B5EF4-FFF2-40B4-BE49-F238E27FC236}">
                <a16:creationId xmlns:a16="http://schemas.microsoft.com/office/drawing/2014/main" id="{83ECF151-2AC4-4445-A63D-6C8AC3D68205}"/>
              </a:ext>
            </a:extLst>
          </p:cNvPr>
          <p:cNvSpPr>
            <a:spLocks xmlns:a="http://schemas.openxmlformats.org/drawingml/2006/main" noGrp="1"/>
          </p:cNvSpPr>
          <p:nvPr/>
        </p:nvSpPr>
        <p:spPr>
          <a:xfrm xmlns:a="http://schemas.openxmlformats.org/drawingml/2006/main">
            <a:off x="11515725" y="5114925"/>
            <a:ext cx="533400" cy="533400"/>
          </a:xfrm>
          <a:prstGeom xmlns:a="http://schemas.openxmlformats.org/drawingml/2006/main" prst="ellipse">
            <a:avLst/>
          </a:prstGeom>
          <a:solidFill xmlns:a="http://schemas.openxmlformats.org/drawingml/2006/main">
            <a:srgbClr val="E97C68"/>
          </a:solidFill>
          <a:ln xmlns:a="http://schemas.openxmlformats.org/drawingml/2006/main" w="17145">
            <a:solidFill>
              <a:srgbClr val="B65447"/>
            </a:solidFill>
          </a:ln>
        </p:spPr>
      </p:sp>
      <p:sp>
        <p:nvSpPr>
          <p:cNvPr id="173" name="Oxygen label">
            <a:extLst xmlns:a="http://schemas.openxmlformats.org/drawingml/2006/main">
              <a:ext uri="{FF2B5EF4-FFF2-40B4-BE49-F238E27FC236}">
                <a16:creationId xmlns:a16="http://schemas.microsoft.com/office/drawing/2014/main" id="{2650B9D8-2EE3-48C3-A877-48336640C9CA}"/>
              </a:ext>
            </a:extLst>
          </p:cNvPr>
          <p:cNvSpPr>
            <a:spLocks xmlns:a="http://schemas.openxmlformats.org/drawingml/2006/main" noGrp="1"/>
          </p:cNvSpPr>
          <p:nvPr/>
        </p:nvSpPr>
        <p:spPr>
          <a:xfrm xmlns:a="http://schemas.openxmlformats.org/drawingml/2006/main">
            <a:off x="11525250" y="5172075"/>
            <a:ext cx="5143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2325" b="1">
                <a:solidFill>
                  <a:srgbClr val="76352B"/>
                </a:solidFill>
                <a:latin typeface="Calibri"/>
                <a:ea typeface="Calibri"/>
                <a:cs typeface="Calibri"/>
              </a:defRPr>
            </a:pPr>
            <a:r>
              <a:rPr sz="2325" b="1">
                <a:solidFill>
                  <a:srgbClr val="76352B"/>
                </a:solidFill>
                <a:latin typeface="Calibri"/>
                <a:ea typeface="Calibri"/>
                <a:cs typeface="Calibri"/>
              </a:rPr>
              <a:t>O₂</a:t>
            </a:r>
          </a:p>
        </p:txBody>
      </p:sp>
      <p:sp>
        <p:nvSpPr>
          <p:cNvPr id="174" name="Photosynthesis produces oxygen">
            <a:extLst xmlns:a="http://schemas.openxmlformats.org/drawingml/2006/main">
              <a:ext uri="{FF2B5EF4-FFF2-40B4-BE49-F238E27FC236}">
                <a16:creationId xmlns:a16="http://schemas.microsoft.com/office/drawing/2014/main" id="{DDD9B7B5-8328-4417-BCA6-264212C040DC}"/>
              </a:ext>
            </a:extLst>
          </p:cNvPr>
          <p:cNvSpPr>
            <a:spLocks xmlns:a="http://schemas.openxmlformats.org/drawingml/2006/main" noGrp="1"/>
          </p:cNvSpPr>
          <p:nvPr/>
        </p:nvSpPr>
        <p:spPr>
          <a:xfrm xmlns:a="http://schemas.openxmlformats.org/drawingml/2006/main">
            <a:off x="11315700" y="5381625"/>
            <a:ext cx="152400" cy="9525"/>
          </a:xfrm>
          <a:custGeom xmlns:a="http://schemas.openxmlformats.org/drawingml/2006/main">
            <a:pathLst>
              <a:path w="152400" h="9525">
                <a:moveTo>
                  <a:pt x="0" y="0"/>
                </a:moveTo>
                <a:lnTo>
                  <a:pt x="152400" y="0"/>
                </a:lnTo>
              </a:path>
            </a:pathLst>
          </a:custGeom>
          <a:noFill xmlns:a="http://schemas.openxmlformats.org/drawingml/2006/main"/>
          <a:ln xmlns:a="http://schemas.openxmlformats.org/drawingml/2006/main" w="26670">
            <a:solidFill>
              <a:srgbClr val="637782"/>
            </a:solidFill>
          </a:ln>
        </p:spPr>
      </p:sp>
      <p:sp>
        <p:nvSpPr>
          <p:cNvPr id="175" name="Photosynthesis produces oxygen arrowhead">
            <a:extLst xmlns:a="http://schemas.openxmlformats.org/drawingml/2006/main">
              <a:ext uri="{FF2B5EF4-FFF2-40B4-BE49-F238E27FC236}">
                <a16:creationId xmlns:a16="http://schemas.microsoft.com/office/drawing/2014/main" id="{C9A3F1B7-0C68-43F8-A3FB-2D91E8D5A6DD}"/>
              </a:ext>
            </a:extLst>
          </p:cNvPr>
          <p:cNvSpPr>
            <a:spLocks xmlns:a="http://schemas.openxmlformats.org/drawingml/2006/main" noGrp="1"/>
          </p:cNvSpPr>
          <p:nvPr/>
        </p:nvSpPr>
        <p:spPr>
          <a:xfrm xmlns:a="http://schemas.openxmlformats.org/drawingml/2006/main">
            <a:off x="11353800" y="5324475"/>
            <a:ext cx="114300" cy="114300"/>
          </a:xfrm>
          <a:custGeom xmlns:a="http://schemas.openxmlformats.org/drawingml/2006/main">
            <a:pathLst>
              <a:path w="114300" h="114300">
                <a:moveTo>
                  <a:pt x="114300" y="57150"/>
                </a:moveTo>
                <a:lnTo>
                  <a:pt x="0" y="0"/>
                </a:lnTo>
                <a:lnTo>
                  <a:pt x="0" y="114300"/>
                </a:lnTo>
                <a:close/>
              </a:path>
            </a:pathLst>
          </a:custGeom>
          <a:solidFill xmlns:a="http://schemas.openxmlformats.org/drawingml/2006/main">
            <a:srgbClr val="637782"/>
          </a:solidFill>
          <a:ln xmlns:a="http://schemas.openxmlformats.org/drawingml/2006/main" w="0">
            <a:solidFill>
              <a:srgbClr val="637782"/>
            </a:solidFill>
          </a:ln>
        </p:spPr>
      </p:sp>
      <p:sp>
        <p:nvSpPr>
          <p:cNvPr id="176" name="Oxygen inhibits nitrogenase">
            <a:extLst xmlns:a="http://schemas.openxmlformats.org/drawingml/2006/main">
              <a:ext uri="{FF2B5EF4-FFF2-40B4-BE49-F238E27FC236}">
                <a16:creationId xmlns:a16="http://schemas.microsoft.com/office/drawing/2014/main" id="{4F87711F-293F-427C-8DB5-4BEF9334015E}"/>
              </a:ext>
            </a:extLst>
          </p:cNvPr>
          <p:cNvSpPr>
            <a:spLocks xmlns:a="http://schemas.openxmlformats.org/drawingml/2006/main" noGrp="1"/>
          </p:cNvSpPr>
          <p:nvPr/>
        </p:nvSpPr>
        <p:spPr>
          <a:xfrm xmlns:a="http://schemas.openxmlformats.org/drawingml/2006/main">
            <a:off x="12077700" y="5381625"/>
            <a:ext cx="390525" cy="9525"/>
          </a:xfrm>
          <a:custGeom xmlns:a="http://schemas.openxmlformats.org/drawingml/2006/main">
            <a:pathLst>
              <a:path w="390525" h="9525">
                <a:moveTo>
                  <a:pt x="0" y="0"/>
                </a:moveTo>
                <a:lnTo>
                  <a:pt x="390525" y="0"/>
                </a:lnTo>
              </a:path>
            </a:pathLst>
          </a:custGeom>
          <a:noFill xmlns:a="http://schemas.openxmlformats.org/drawingml/2006/main"/>
          <a:ln xmlns:a="http://schemas.openxmlformats.org/drawingml/2006/main" w="28575">
            <a:solidFill>
              <a:srgbClr val="637782"/>
            </a:solidFill>
          </a:ln>
        </p:spPr>
      </p:sp>
      <p:sp>
        <p:nvSpPr>
          <p:cNvPr id="177" name="Inhibition endpoint">
            <a:extLst xmlns:a="http://schemas.openxmlformats.org/drawingml/2006/main">
              <a:ext uri="{FF2B5EF4-FFF2-40B4-BE49-F238E27FC236}">
                <a16:creationId xmlns:a16="http://schemas.microsoft.com/office/drawing/2014/main" id="{17E660FB-601A-4CFA-807E-98B9528C9CD1}"/>
              </a:ext>
            </a:extLst>
          </p:cNvPr>
          <p:cNvSpPr>
            <a:spLocks xmlns:a="http://schemas.openxmlformats.org/drawingml/2006/main" noGrp="1"/>
          </p:cNvSpPr>
          <p:nvPr/>
        </p:nvSpPr>
        <p:spPr>
          <a:xfrm xmlns:a="http://schemas.openxmlformats.org/drawingml/2006/main">
            <a:off x="12468225" y="5229225"/>
            <a:ext cx="9525" cy="304800"/>
          </a:xfrm>
          <a:custGeom xmlns:a="http://schemas.openxmlformats.org/drawingml/2006/main">
            <a:pathLst>
              <a:path w="9525" h="304800">
                <a:moveTo>
                  <a:pt x="0" y="0"/>
                </a:moveTo>
                <a:lnTo>
                  <a:pt x="0" y="304800"/>
                </a:lnTo>
              </a:path>
            </a:pathLst>
          </a:custGeom>
          <a:noFill xmlns:a="http://schemas.openxmlformats.org/drawingml/2006/main"/>
          <a:ln xmlns:a="http://schemas.openxmlformats.org/drawingml/2006/main" w="28575">
            <a:solidFill>
              <a:srgbClr val="637782"/>
            </a:solidFill>
          </a:ln>
        </p:spPr>
      </p:sp>
      <p:sp>
        <p:nvSpPr>
          <p:cNvPr id="178" name="Nitrogenase subunit one">
            <a:extLst xmlns:a="http://schemas.openxmlformats.org/drawingml/2006/main">
              <a:ext uri="{FF2B5EF4-FFF2-40B4-BE49-F238E27FC236}">
                <a16:creationId xmlns:a16="http://schemas.microsoft.com/office/drawing/2014/main" id="{77A30228-B1B2-47C2-9300-449AB26D040A}"/>
              </a:ext>
            </a:extLst>
          </p:cNvPr>
          <p:cNvSpPr>
            <a:spLocks xmlns:a="http://schemas.openxmlformats.org/drawingml/2006/main" noGrp="1"/>
          </p:cNvSpPr>
          <p:nvPr/>
        </p:nvSpPr>
        <p:spPr>
          <a:xfrm xmlns:a="http://schemas.openxmlformats.org/drawingml/2006/main">
            <a:off x="12734925" y="5029200"/>
            <a:ext cx="400050" cy="400050"/>
          </a:xfrm>
          <a:prstGeom xmlns:a="http://schemas.openxmlformats.org/drawingml/2006/main" prst="ellipse">
            <a:avLst/>
          </a:prstGeom>
          <a:solidFill xmlns:a="http://schemas.openxmlformats.org/drawingml/2006/main">
            <a:srgbClr val="8EB8E8"/>
          </a:solidFill>
          <a:ln xmlns:a="http://schemas.openxmlformats.org/drawingml/2006/main" w="14288">
            <a:solidFill>
              <a:srgbClr val="3E6392"/>
            </a:solidFill>
          </a:ln>
        </p:spPr>
      </p:sp>
      <p:sp>
        <p:nvSpPr>
          <p:cNvPr id="179" name="Nitrogenase subunit two">
            <a:extLst xmlns:a="http://schemas.openxmlformats.org/drawingml/2006/main">
              <a:ext uri="{FF2B5EF4-FFF2-40B4-BE49-F238E27FC236}">
                <a16:creationId xmlns:a16="http://schemas.microsoft.com/office/drawing/2014/main" id="{8968C500-C323-4B60-AD6F-A5CC1FFD83C8}"/>
              </a:ext>
            </a:extLst>
          </p:cNvPr>
          <p:cNvSpPr>
            <a:spLocks xmlns:a="http://schemas.openxmlformats.org/drawingml/2006/main" noGrp="1"/>
          </p:cNvSpPr>
          <p:nvPr/>
        </p:nvSpPr>
        <p:spPr>
          <a:xfrm xmlns:a="http://schemas.openxmlformats.org/drawingml/2006/main">
            <a:off x="13049250" y="5200650"/>
            <a:ext cx="400050" cy="400050"/>
          </a:xfrm>
          <a:prstGeom xmlns:a="http://schemas.openxmlformats.org/drawingml/2006/main" prst="ellipse">
            <a:avLst/>
          </a:prstGeom>
          <a:solidFill xmlns:a="http://schemas.openxmlformats.org/drawingml/2006/main">
            <a:srgbClr val="6E91CF"/>
          </a:solidFill>
          <a:ln xmlns:a="http://schemas.openxmlformats.org/drawingml/2006/main" w="14288">
            <a:solidFill>
              <a:srgbClr val="3E6392"/>
            </a:solidFill>
          </a:ln>
        </p:spPr>
      </p:sp>
      <p:sp>
        <p:nvSpPr>
          <p:cNvPr id="180" name="Nitrogenase subunit three">
            <a:extLst xmlns:a="http://schemas.openxmlformats.org/drawingml/2006/main">
              <a:ext uri="{FF2B5EF4-FFF2-40B4-BE49-F238E27FC236}">
                <a16:creationId xmlns:a16="http://schemas.microsoft.com/office/drawing/2014/main" id="{0B3CC619-605C-4411-B1DC-7C01FDE09F74}"/>
              </a:ext>
            </a:extLst>
          </p:cNvPr>
          <p:cNvSpPr>
            <a:spLocks xmlns:a="http://schemas.openxmlformats.org/drawingml/2006/main" noGrp="1"/>
          </p:cNvSpPr>
          <p:nvPr/>
        </p:nvSpPr>
        <p:spPr>
          <a:xfrm xmlns:a="http://schemas.openxmlformats.org/drawingml/2006/main">
            <a:off x="12620625" y="5381625"/>
            <a:ext cx="409575" cy="409575"/>
          </a:xfrm>
          <a:prstGeom xmlns:a="http://schemas.openxmlformats.org/drawingml/2006/main" prst="ellipse">
            <a:avLst/>
          </a:prstGeom>
          <a:solidFill xmlns:a="http://schemas.openxmlformats.org/drawingml/2006/main">
            <a:srgbClr val="9CC6E5"/>
          </a:solidFill>
          <a:ln xmlns:a="http://schemas.openxmlformats.org/drawingml/2006/main" w="14288">
            <a:solidFill>
              <a:srgbClr val="3E6392"/>
            </a:solidFill>
          </a:ln>
        </p:spPr>
      </p:sp>
      <p:sp>
        <p:nvSpPr>
          <p:cNvPr id="181" name="Nitrogenase subunit four">
            <a:extLst xmlns:a="http://schemas.openxmlformats.org/drawingml/2006/main">
              <a:ext uri="{FF2B5EF4-FFF2-40B4-BE49-F238E27FC236}">
                <a16:creationId xmlns:a16="http://schemas.microsoft.com/office/drawing/2014/main" id="{9057E0DF-FBE3-46A4-8318-2C568514B475}"/>
              </a:ext>
            </a:extLst>
          </p:cNvPr>
          <p:cNvSpPr>
            <a:spLocks xmlns:a="http://schemas.openxmlformats.org/drawingml/2006/main" noGrp="1"/>
          </p:cNvSpPr>
          <p:nvPr/>
        </p:nvSpPr>
        <p:spPr>
          <a:xfrm xmlns:a="http://schemas.openxmlformats.org/drawingml/2006/main">
            <a:off x="12954000" y="5581650"/>
            <a:ext cx="371475" cy="371475"/>
          </a:xfrm>
          <a:prstGeom xmlns:a="http://schemas.openxmlformats.org/drawingml/2006/main" prst="ellipse">
            <a:avLst/>
          </a:prstGeom>
          <a:solidFill xmlns:a="http://schemas.openxmlformats.org/drawingml/2006/main">
            <a:srgbClr val="B8D7EC"/>
          </a:solidFill>
          <a:ln xmlns:a="http://schemas.openxmlformats.org/drawingml/2006/main" w="14288">
            <a:solidFill>
              <a:srgbClr val="3E6392"/>
            </a:solidFill>
          </a:ln>
        </p:spPr>
      </p:sp>
      <p:sp>
        <p:nvSpPr>
          <p:cNvPr id="182" name="Photosynthesis label">
            <a:extLst xmlns:a="http://schemas.openxmlformats.org/drawingml/2006/main">
              <a:ext uri="{FF2B5EF4-FFF2-40B4-BE49-F238E27FC236}">
                <a16:creationId xmlns:a16="http://schemas.microsoft.com/office/drawing/2014/main" id="{7C03E89D-717C-47E7-BDAB-8D440043672A}"/>
              </a:ext>
            </a:extLst>
          </p:cNvPr>
          <p:cNvSpPr>
            <a:spLocks xmlns:a="http://schemas.openxmlformats.org/drawingml/2006/main" noGrp="1"/>
          </p:cNvSpPr>
          <p:nvPr/>
        </p:nvSpPr>
        <p:spPr>
          <a:xfrm xmlns:a="http://schemas.openxmlformats.org/drawingml/2006/main">
            <a:off x="10144125" y="5972175"/>
            <a:ext cx="2000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2100" b="0">
                <a:solidFill>
                  <a:srgbClr val="172D38"/>
                </a:solidFill>
                <a:latin typeface="Calibri"/>
                <a:ea typeface="Calibri"/>
                <a:cs typeface="Calibri"/>
              </a:defRPr>
            </a:pPr>
            <a:r>
              <a:rPr sz="2100" b="0">
                <a:solidFill>
                  <a:srgbClr val="172D38"/>
                </a:solidFill>
                <a:latin typeface="Calibri"/>
                <a:ea typeface="Calibri"/>
                <a:cs typeface="Calibri"/>
              </a:rPr>
              <a:t>Photosynthesis</a:t>
            </a:r>
          </a:p>
        </p:txBody>
      </p:sp>
      <p:sp>
        <p:nvSpPr>
          <p:cNvPr id="183" name="Nitrogenase label">
            <a:extLst xmlns:a="http://schemas.openxmlformats.org/drawingml/2006/main">
              <a:ext uri="{FF2B5EF4-FFF2-40B4-BE49-F238E27FC236}">
                <a16:creationId xmlns:a16="http://schemas.microsoft.com/office/drawing/2014/main" id="{EC62F9D7-E33B-482A-8305-A5ED72539606}"/>
              </a:ext>
            </a:extLst>
          </p:cNvPr>
          <p:cNvSpPr>
            <a:spLocks xmlns:a="http://schemas.openxmlformats.org/drawingml/2006/main" noGrp="1"/>
          </p:cNvSpPr>
          <p:nvPr/>
        </p:nvSpPr>
        <p:spPr>
          <a:xfrm xmlns:a="http://schemas.openxmlformats.org/drawingml/2006/main">
            <a:off x="12192000" y="6076950"/>
            <a:ext cx="14954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2100" b="0">
                <a:solidFill>
                  <a:srgbClr val="172D38"/>
                </a:solidFill>
                <a:latin typeface="Calibri"/>
                <a:ea typeface="Calibri"/>
                <a:cs typeface="Calibri"/>
              </a:defRPr>
            </a:pPr>
            <a:r>
              <a:rPr sz="2100" b="0">
                <a:solidFill>
                  <a:srgbClr val="172D38"/>
                </a:solidFill>
                <a:latin typeface="Calibri"/>
                <a:ea typeface="Calibri"/>
                <a:cs typeface="Calibri"/>
              </a:rPr>
              <a:t>Nitrogenase</a:t>
            </a:r>
          </a:p>
        </p:txBody>
      </p:sp>
      <p:sp>
        <p:nvSpPr>
          <p:cNvPr id="184" name="Fixation conversion">
            <a:extLst xmlns:a="http://schemas.openxmlformats.org/drawingml/2006/main">
              <a:ext uri="{FF2B5EF4-FFF2-40B4-BE49-F238E27FC236}">
                <a16:creationId xmlns:a16="http://schemas.microsoft.com/office/drawing/2014/main" id="{C89F165E-A768-44DD-AD31-DAEE542C5F60}"/>
              </a:ext>
            </a:extLst>
          </p:cNvPr>
          <p:cNvSpPr>
            <a:spLocks xmlns:a="http://schemas.openxmlformats.org/drawingml/2006/main" noGrp="1"/>
          </p:cNvSpPr>
          <p:nvPr/>
        </p:nvSpPr>
        <p:spPr>
          <a:xfrm xmlns:a="http://schemas.openxmlformats.org/drawingml/2006/main">
            <a:off x="12001500" y="6572250"/>
            <a:ext cx="1714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2250" b="1">
                <a:solidFill>
                  <a:srgbClr val="172D38"/>
                </a:solidFill>
                <a:latin typeface="Calibri"/>
                <a:ea typeface="Calibri"/>
                <a:cs typeface="Calibri"/>
              </a:defRPr>
            </a:pPr>
            <a:r>
              <a:rPr sz="2250" b="1">
                <a:solidFill>
                  <a:srgbClr val="172D38"/>
                </a:solidFill>
                <a:latin typeface="Calibri"/>
                <a:ea typeface="Calibri"/>
                <a:cs typeface="Calibri"/>
              </a:rPr>
              <a:t>N₂ → NH₃</a:t>
            </a:r>
          </a:p>
        </p:txBody>
      </p:sp>
      <p:sp>
        <p:nvSpPr>
          <p:cNvPr id="185" name="Carbon nitrogen context">
            <a:extLst xmlns:a="http://schemas.openxmlformats.org/drawingml/2006/main">
              <a:ext uri="{FF2B5EF4-FFF2-40B4-BE49-F238E27FC236}">
                <a16:creationId xmlns:a16="http://schemas.microsoft.com/office/drawing/2014/main" id="{D88B65DA-DB4D-410F-9BE4-39261C22D5E5}"/>
              </a:ext>
            </a:extLst>
          </p:cNvPr>
          <p:cNvSpPr>
            <a:spLocks xmlns:a="http://schemas.openxmlformats.org/drawingml/2006/main" noGrp="1"/>
          </p:cNvSpPr>
          <p:nvPr/>
        </p:nvSpPr>
        <p:spPr>
          <a:xfrm xmlns:a="http://schemas.openxmlformats.org/drawingml/2006/main">
            <a:off x="9620250" y="8029575"/>
            <a:ext cx="2162175" cy="1724025"/>
          </a:xfrm>
          <a:prstGeom xmlns:a="http://schemas.openxmlformats.org/drawingml/2006/main" prst="roundRect">
            <a:avLst>
              <a:gd name="adj" fmla="val 9945"/>
            </a:avLst>
          </a:prstGeom>
          <a:solidFill xmlns:a="http://schemas.openxmlformats.org/drawingml/2006/main">
            <a:srgbClr val="F2F8FC"/>
          </a:solidFill>
          <a:ln xmlns:a="http://schemas.openxmlformats.org/drawingml/2006/main" w="21908">
            <a:solidFill>
              <a:srgbClr val="A4BECF"/>
            </a:solidFill>
          </a:ln>
        </p:spPr>
      </p:sp>
      <p:sp>
        <p:nvSpPr>
          <p:cNvPr id="186" name="Protein RNA context">
            <a:extLst xmlns:a="http://schemas.openxmlformats.org/drawingml/2006/main">
              <a:ext uri="{FF2B5EF4-FFF2-40B4-BE49-F238E27FC236}">
                <a16:creationId xmlns:a16="http://schemas.microsoft.com/office/drawing/2014/main" id="{D021E2A4-22C7-455E-AB62-38370B979332}"/>
              </a:ext>
            </a:extLst>
          </p:cNvPr>
          <p:cNvSpPr>
            <a:spLocks xmlns:a="http://schemas.openxmlformats.org/drawingml/2006/main" noGrp="1"/>
          </p:cNvSpPr>
          <p:nvPr/>
        </p:nvSpPr>
        <p:spPr>
          <a:xfrm xmlns:a="http://schemas.openxmlformats.org/drawingml/2006/main">
            <a:off x="11934825" y="8029575"/>
            <a:ext cx="2162175" cy="1724025"/>
          </a:xfrm>
          <a:prstGeom xmlns:a="http://schemas.openxmlformats.org/drawingml/2006/main" prst="roundRect">
            <a:avLst>
              <a:gd name="adj" fmla="val 9945"/>
            </a:avLst>
          </a:prstGeom>
          <a:solidFill xmlns:a="http://schemas.openxmlformats.org/drawingml/2006/main">
            <a:srgbClr val="F2F8FC"/>
          </a:solidFill>
          <a:ln xmlns:a="http://schemas.openxmlformats.org/drawingml/2006/main" w="21908">
            <a:solidFill>
              <a:srgbClr val="A4BECF"/>
            </a:solidFill>
          </a:ln>
        </p:spPr>
      </p:sp>
      <p:sp>
        <p:nvSpPr>
          <p:cNvPr id="187" name="Carbon substrate 0">
            <a:extLst xmlns:a="http://schemas.openxmlformats.org/drawingml/2006/main">
              <a:ext uri="{FF2B5EF4-FFF2-40B4-BE49-F238E27FC236}">
                <a16:creationId xmlns:a16="http://schemas.microsoft.com/office/drawing/2014/main" id="{4FCD099D-F4CD-4C85-B12B-BFFC48F055F4}"/>
              </a:ext>
            </a:extLst>
          </p:cNvPr>
          <p:cNvSpPr>
            <a:spLocks xmlns:a="http://schemas.openxmlformats.org/drawingml/2006/main" noGrp="1"/>
          </p:cNvSpPr>
          <p:nvPr/>
        </p:nvSpPr>
        <p:spPr>
          <a:xfrm xmlns:a="http://schemas.openxmlformats.org/drawingml/2006/main">
            <a:off x="9963150" y="8277225"/>
            <a:ext cx="228600" cy="228600"/>
          </a:xfrm>
          <a:prstGeom xmlns:a="http://schemas.openxmlformats.org/drawingml/2006/main" prst="ellipse">
            <a:avLst/>
          </a:prstGeom>
          <a:solidFill xmlns:a="http://schemas.openxmlformats.org/drawingml/2006/main">
            <a:srgbClr val="F4D39A"/>
          </a:solidFill>
          <a:ln xmlns:a="http://schemas.openxmlformats.org/drawingml/2006/main" w="14288">
            <a:solidFill>
              <a:srgbClr val="B5791F"/>
            </a:solidFill>
          </a:ln>
        </p:spPr>
      </p:sp>
      <p:sp>
        <p:nvSpPr>
          <p:cNvPr id="188" name="Carbon bond 0">
            <a:extLst xmlns:a="http://schemas.openxmlformats.org/drawingml/2006/main">
              <a:ext uri="{FF2B5EF4-FFF2-40B4-BE49-F238E27FC236}">
                <a16:creationId xmlns:a16="http://schemas.microsoft.com/office/drawing/2014/main" id="{BED0F7D1-535E-4615-8A96-B0FAE1BC07ED}"/>
              </a:ext>
            </a:extLst>
          </p:cNvPr>
          <p:cNvSpPr>
            <a:spLocks xmlns:a="http://schemas.openxmlformats.org/drawingml/2006/main" noGrp="1"/>
          </p:cNvSpPr>
          <p:nvPr/>
        </p:nvSpPr>
        <p:spPr>
          <a:xfrm xmlns:a="http://schemas.openxmlformats.org/drawingml/2006/main">
            <a:off x="10191750" y="8391525"/>
            <a:ext cx="133350" cy="9525"/>
          </a:xfrm>
          <a:custGeom xmlns:a="http://schemas.openxmlformats.org/drawingml/2006/main">
            <a:pathLst>
              <a:path w="133350" h="9525">
                <a:moveTo>
                  <a:pt x="0" y="0"/>
                </a:moveTo>
                <a:lnTo>
                  <a:pt x="133350" y="0"/>
                </a:lnTo>
              </a:path>
            </a:pathLst>
          </a:custGeom>
          <a:noFill xmlns:a="http://schemas.openxmlformats.org/drawingml/2006/main"/>
          <a:ln xmlns:a="http://schemas.openxmlformats.org/drawingml/2006/main" w="19050">
            <a:solidFill>
              <a:srgbClr val="B5791F"/>
            </a:solidFill>
          </a:ln>
        </p:spPr>
      </p:sp>
      <p:sp>
        <p:nvSpPr>
          <p:cNvPr id="189" name="Carbon substrate 1">
            <a:extLst xmlns:a="http://schemas.openxmlformats.org/drawingml/2006/main">
              <a:ext uri="{FF2B5EF4-FFF2-40B4-BE49-F238E27FC236}">
                <a16:creationId xmlns:a16="http://schemas.microsoft.com/office/drawing/2014/main" id="{6032A56A-B15A-4B16-9109-96CC6631EAD0}"/>
              </a:ext>
            </a:extLst>
          </p:cNvPr>
          <p:cNvSpPr>
            <a:spLocks xmlns:a="http://schemas.openxmlformats.org/drawingml/2006/main" noGrp="1"/>
          </p:cNvSpPr>
          <p:nvPr/>
        </p:nvSpPr>
        <p:spPr>
          <a:xfrm xmlns:a="http://schemas.openxmlformats.org/drawingml/2006/main">
            <a:off x="10325100" y="8277225"/>
            <a:ext cx="228600" cy="228600"/>
          </a:xfrm>
          <a:prstGeom xmlns:a="http://schemas.openxmlformats.org/drawingml/2006/main" prst="ellipse">
            <a:avLst/>
          </a:prstGeom>
          <a:solidFill xmlns:a="http://schemas.openxmlformats.org/drawingml/2006/main">
            <a:srgbClr val="E6B64A"/>
          </a:solidFill>
          <a:ln xmlns:a="http://schemas.openxmlformats.org/drawingml/2006/main" w="14288">
            <a:solidFill>
              <a:srgbClr val="B5791F"/>
            </a:solidFill>
          </a:ln>
        </p:spPr>
      </p:sp>
      <p:sp>
        <p:nvSpPr>
          <p:cNvPr id="190" name="Carbon bond 1">
            <a:extLst xmlns:a="http://schemas.openxmlformats.org/drawingml/2006/main">
              <a:ext uri="{FF2B5EF4-FFF2-40B4-BE49-F238E27FC236}">
                <a16:creationId xmlns:a16="http://schemas.microsoft.com/office/drawing/2014/main" id="{B9717703-DA44-4E05-BBF4-CE2FE5AE18FA}"/>
              </a:ext>
            </a:extLst>
          </p:cNvPr>
          <p:cNvSpPr>
            <a:spLocks xmlns:a="http://schemas.openxmlformats.org/drawingml/2006/main" noGrp="1"/>
          </p:cNvSpPr>
          <p:nvPr/>
        </p:nvSpPr>
        <p:spPr>
          <a:xfrm xmlns:a="http://schemas.openxmlformats.org/drawingml/2006/main">
            <a:off x="10553700" y="8391525"/>
            <a:ext cx="133350" cy="9525"/>
          </a:xfrm>
          <a:custGeom xmlns:a="http://schemas.openxmlformats.org/drawingml/2006/main">
            <a:pathLst>
              <a:path w="133350" h="9525">
                <a:moveTo>
                  <a:pt x="0" y="0"/>
                </a:moveTo>
                <a:lnTo>
                  <a:pt x="133350" y="0"/>
                </a:lnTo>
              </a:path>
            </a:pathLst>
          </a:custGeom>
          <a:noFill xmlns:a="http://schemas.openxmlformats.org/drawingml/2006/main"/>
          <a:ln xmlns:a="http://schemas.openxmlformats.org/drawingml/2006/main" w="19050">
            <a:solidFill>
              <a:srgbClr val="B5791F"/>
            </a:solidFill>
          </a:ln>
        </p:spPr>
      </p:sp>
      <p:sp>
        <p:nvSpPr>
          <p:cNvPr id="191" name="Carbon substrate 2">
            <a:extLst xmlns:a="http://schemas.openxmlformats.org/drawingml/2006/main">
              <a:ext uri="{FF2B5EF4-FFF2-40B4-BE49-F238E27FC236}">
                <a16:creationId xmlns:a16="http://schemas.microsoft.com/office/drawing/2014/main" id="{E151F3F7-ECD7-4774-8039-446CBEF8E064}"/>
              </a:ext>
            </a:extLst>
          </p:cNvPr>
          <p:cNvSpPr>
            <a:spLocks xmlns:a="http://schemas.openxmlformats.org/drawingml/2006/main" noGrp="1"/>
          </p:cNvSpPr>
          <p:nvPr/>
        </p:nvSpPr>
        <p:spPr>
          <a:xfrm xmlns:a="http://schemas.openxmlformats.org/drawingml/2006/main">
            <a:off x="10687050" y="8277225"/>
            <a:ext cx="228600" cy="228600"/>
          </a:xfrm>
          <a:prstGeom xmlns:a="http://schemas.openxmlformats.org/drawingml/2006/main" prst="ellipse">
            <a:avLst/>
          </a:prstGeom>
          <a:solidFill xmlns:a="http://schemas.openxmlformats.org/drawingml/2006/main">
            <a:srgbClr val="F4D39A"/>
          </a:solidFill>
          <a:ln xmlns:a="http://schemas.openxmlformats.org/drawingml/2006/main" w="14288">
            <a:solidFill>
              <a:srgbClr val="B5791F"/>
            </a:solidFill>
          </a:ln>
        </p:spPr>
      </p:sp>
      <p:sp>
        <p:nvSpPr>
          <p:cNvPr id="192" name="Carbon context label">
            <a:extLst xmlns:a="http://schemas.openxmlformats.org/drawingml/2006/main">
              <a:ext uri="{FF2B5EF4-FFF2-40B4-BE49-F238E27FC236}">
                <a16:creationId xmlns:a16="http://schemas.microsoft.com/office/drawing/2014/main" id="{384CFBF8-3C9C-469C-9E83-EDCD5C9388DC}"/>
              </a:ext>
            </a:extLst>
          </p:cNvPr>
          <p:cNvSpPr>
            <a:spLocks xmlns:a="http://schemas.openxmlformats.org/drawingml/2006/main" noGrp="1"/>
          </p:cNvSpPr>
          <p:nvPr/>
        </p:nvSpPr>
        <p:spPr>
          <a:xfrm xmlns:a="http://schemas.openxmlformats.org/drawingml/2006/main">
            <a:off x="9715500" y="8743950"/>
            <a:ext cx="19716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2100" b="0">
                <a:solidFill>
                  <a:srgbClr val="172D38"/>
                </a:solidFill>
                <a:latin typeface="Calibri"/>
                <a:ea typeface="Calibri"/>
                <a:cs typeface="Calibri"/>
              </a:defRPr>
            </a:pPr>
            <a:r>
              <a:rPr sz="2100" b="0">
                <a:solidFill>
                  <a:srgbClr val="172D38"/>
                </a:solidFill>
                <a:latin typeface="Calibri"/>
                <a:ea typeface="Calibri"/>
                <a:cs typeface="Calibri"/>
              </a:rPr>
              <a:t>Carbon and</a:t>
            </a:r>
          </a:p>
          <a:p xmlns:a="http://schemas.openxmlformats.org/drawingml/2006/main">
            <a:pPr algn="ctr">
              <a:buNone/>
              <a:defRPr sz="2100" b="0">
                <a:solidFill>
                  <a:srgbClr val="172D38"/>
                </a:solidFill>
                <a:latin typeface="Calibri"/>
                <a:ea typeface="Calibri"/>
                <a:cs typeface="Calibri"/>
              </a:defRPr>
            </a:pPr>
            <a:r>
              <a:rPr sz="2100" b="0">
                <a:solidFill>
                  <a:srgbClr val="172D38"/>
                </a:solidFill>
                <a:latin typeface="Calibri"/>
                <a:ea typeface="Calibri"/>
                <a:cs typeface="Calibri"/>
              </a:rPr>
              <a:t>fixed-N</a:t>
            </a:r>
          </a:p>
          <a:p xmlns:a="http://schemas.openxmlformats.org/drawingml/2006/main">
            <a:pPr algn="ctr">
              <a:buNone/>
              <a:defRPr sz="2100" b="0">
                <a:solidFill>
                  <a:srgbClr val="172D38"/>
                </a:solidFill>
                <a:latin typeface="Calibri"/>
                <a:ea typeface="Calibri"/>
                <a:cs typeface="Calibri"/>
              </a:defRPr>
            </a:pPr>
            <a:r>
              <a:rPr sz="2100" b="0">
                <a:solidFill>
                  <a:srgbClr val="172D38"/>
                </a:solidFill>
                <a:latin typeface="Calibri"/>
                <a:ea typeface="Calibri"/>
                <a:cs typeface="Calibri"/>
              </a:rPr>
              <a:t>metabolism</a:t>
            </a:r>
          </a:p>
        </p:txBody>
      </p:sp>
      <p:sp>
        <p:nvSpPr>
          <p:cNvPr id="193" name="Protein contour 0">
            <a:extLst xmlns:a="http://schemas.openxmlformats.org/drawingml/2006/main">
              <a:ext uri="{FF2B5EF4-FFF2-40B4-BE49-F238E27FC236}">
                <a16:creationId xmlns:a16="http://schemas.microsoft.com/office/drawing/2014/main" id="{2FAD8005-F750-4AB2-876E-2D04E3CD2577}"/>
              </a:ext>
            </a:extLst>
          </p:cNvPr>
          <p:cNvSpPr>
            <a:spLocks xmlns:a="http://schemas.openxmlformats.org/drawingml/2006/main" noGrp="1"/>
          </p:cNvSpPr>
          <p:nvPr/>
        </p:nvSpPr>
        <p:spPr>
          <a:xfrm xmlns:a="http://schemas.openxmlformats.org/drawingml/2006/main">
            <a:off x="12382500" y="8382000"/>
            <a:ext cx="152400" cy="142875"/>
          </a:xfrm>
          <a:custGeom xmlns:a="http://schemas.openxmlformats.org/drawingml/2006/main">
            <a:pathLst>
              <a:path w="152400" h="142875">
                <a:moveTo>
                  <a:pt x="0" y="142875"/>
                </a:moveTo>
                <a:lnTo>
                  <a:pt x="152400" y="0"/>
                </a:lnTo>
              </a:path>
            </a:pathLst>
          </a:custGeom>
          <a:noFill xmlns:a="http://schemas.openxmlformats.org/drawingml/2006/main"/>
          <a:ln xmlns:a="http://schemas.openxmlformats.org/drawingml/2006/main" w="38100">
            <a:solidFill>
              <a:srgbClr val="E97C68"/>
            </a:solidFill>
          </a:ln>
        </p:spPr>
      </p:sp>
      <p:sp>
        <p:nvSpPr>
          <p:cNvPr id="194" name="Protein contour 1">
            <a:extLst xmlns:a="http://schemas.openxmlformats.org/drawingml/2006/main">
              <a:ext uri="{FF2B5EF4-FFF2-40B4-BE49-F238E27FC236}">
                <a16:creationId xmlns:a16="http://schemas.microsoft.com/office/drawing/2014/main" id="{B5FBD8F6-058F-41AC-AAC0-D0F4E6513507}"/>
              </a:ext>
            </a:extLst>
          </p:cNvPr>
          <p:cNvSpPr>
            <a:spLocks xmlns:a="http://schemas.openxmlformats.org/drawingml/2006/main" noGrp="1"/>
          </p:cNvSpPr>
          <p:nvPr/>
        </p:nvSpPr>
        <p:spPr>
          <a:xfrm xmlns:a="http://schemas.openxmlformats.org/drawingml/2006/main">
            <a:off x="12534900" y="8382000"/>
            <a:ext cx="161925" cy="104775"/>
          </a:xfrm>
          <a:custGeom xmlns:a="http://schemas.openxmlformats.org/drawingml/2006/main">
            <a:pathLst>
              <a:path w="161925" h="104775">
                <a:moveTo>
                  <a:pt x="0" y="0"/>
                </a:moveTo>
                <a:lnTo>
                  <a:pt x="161925" y="104775"/>
                </a:lnTo>
              </a:path>
            </a:pathLst>
          </a:custGeom>
          <a:noFill xmlns:a="http://schemas.openxmlformats.org/drawingml/2006/main"/>
          <a:ln xmlns:a="http://schemas.openxmlformats.org/drawingml/2006/main" w="38100">
            <a:solidFill>
              <a:srgbClr val="E97C68"/>
            </a:solidFill>
          </a:ln>
        </p:spPr>
      </p:sp>
      <p:sp>
        <p:nvSpPr>
          <p:cNvPr id="195" name="Protein contour 2">
            <a:extLst xmlns:a="http://schemas.openxmlformats.org/drawingml/2006/main">
              <a:ext uri="{FF2B5EF4-FFF2-40B4-BE49-F238E27FC236}">
                <a16:creationId xmlns:a16="http://schemas.microsoft.com/office/drawing/2014/main" id="{33557460-6C0F-46BC-8B33-187CCEB718C9}"/>
              </a:ext>
            </a:extLst>
          </p:cNvPr>
          <p:cNvSpPr>
            <a:spLocks xmlns:a="http://schemas.openxmlformats.org/drawingml/2006/main" noGrp="1"/>
          </p:cNvSpPr>
          <p:nvPr/>
        </p:nvSpPr>
        <p:spPr>
          <a:xfrm xmlns:a="http://schemas.openxmlformats.org/drawingml/2006/main">
            <a:off x="12696825" y="8362950"/>
            <a:ext cx="142875" cy="123825"/>
          </a:xfrm>
          <a:custGeom xmlns:a="http://schemas.openxmlformats.org/drawingml/2006/main">
            <a:pathLst>
              <a:path w="142875" h="123825">
                <a:moveTo>
                  <a:pt x="0" y="123825"/>
                </a:moveTo>
                <a:lnTo>
                  <a:pt x="142875" y="0"/>
                </a:lnTo>
              </a:path>
            </a:pathLst>
          </a:custGeom>
          <a:noFill xmlns:a="http://schemas.openxmlformats.org/drawingml/2006/main"/>
          <a:ln xmlns:a="http://schemas.openxmlformats.org/drawingml/2006/main" w="38100">
            <a:solidFill>
              <a:srgbClr val="E97C68"/>
            </a:solidFill>
          </a:ln>
        </p:spPr>
      </p:sp>
      <p:sp>
        <p:nvSpPr>
          <p:cNvPr id="196" name="Protein contour 3">
            <a:extLst xmlns:a="http://schemas.openxmlformats.org/drawingml/2006/main">
              <a:ext uri="{FF2B5EF4-FFF2-40B4-BE49-F238E27FC236}">
                <a16:creationId xmlns:a16="http://schemas.microsoft.com/office/drawing/2014/main" id="{29B5BA89-C961-4A74-84FB-3A5C7E736D98}"/>
              </a:ext>
            </a:extLst>
          </p:cNvPr>
          <p:cNvSpPr>
            <a:spLocks xmlns:a="http://schemas.openxmlformats.org/drawingml/2006/main" noGrp="1"/>
          </p:cNvSpPr>
          <p:nvPr/>
        </p:nvSpPr>
        <p:spPr>
          <a:xfrm xmlns:a="http://schemas.openxmlformats.org/drawingml/2006/main">
            <a:off x="12839700" y="8362950"/>
            <a:ext cx="152400" cy="180975"/>
          </a:xfrm>
          <a:custGeom xmlns:a="http://schemas.openxmlformats.org/drawingml/2006/main">
            <a:pathLst>
              <a:path w="152400" h="180975">
                <a:moveTo>
                  <a:pt x="0" y="0"/>
                </a:moveTo>
                <a:lnTo>
                  <a:pt x="152400" y="180975"/>
                </a:lnTo>
              </a:path>
            </a:pathLst>
          </a:custGeom>
          <a:noFill xmlns:a="http://schemas.openxmlformats.org/drawingml/2006/main"/>
          <a:ln xmlns:a="http://schemas.openxmlformats.org/drawingml/2006/main" w="38100">
            <a:solidFill>
              <a:srgbClr val="E97C68"/>
            </a:solidFill>
          </a:ln>
        </p:spPr>
      </p:sp>
      <p:sp>
        <p:nvSpPr>
          <p:cNvPr id="197" name="Protein contour 4">
            <a:extLst xmlns:a="http://schemas.openxmlformats.org/drawingml/2006/main">
              <a:ext uri="{FF2B5EF4-FFF2-40B4-BE49-F238E27FC236}">
                <a16:creationId xmlns:a16="http://schemas.microsoft.com/office/drawing/2014/main" id="{B4C0D95C-74CE-4098-B621-816A0F9053D4}"/>
              </a:ext>
            </a:extLst>
          </p:cNvPr>
          <p:cNvSpPr>
            <a:spLocks xmlns:a="http://schemas.openxmlformats.org/drawingml/2006/main" noGrp="1"/>
          </p:cNvSpPr>
          <p:nvPr/>
        </p:nvSpPr>
        <p:spPr>
          <a:xfrm xmlns:a="http://schemas.openxmlformats.org/drawingml/2006/main">
            <a:off x="12811125" y="8543925"/>
            <a:ext cx="180975" cy="142875"/>
          </a:xfrm>
          <a:custGeom xmlns:a="http://schemas.openxmlformats.org/drawingml/2006/main">
            <a:pathLst>
              <a:path w="180975" h="142875">
                <a:moveTo>
                  <a:pt x="180975" y="0"/>
                </a:moveTo>
                <a:lnTo>
                  <a:pt x="0" y="142875"/>
                </a:lnTo>
              </a:path>
            </a:pathLst>
          </a:custGeom>
          <a:noFill xmlns:a="http://schemas.openxmlformats.org/drawingml/2006/main"/>
          <a:ln xmlns:a="http://schemas.openxmlformats.org/drawingml/2006/main" w="38100">
            <a:solidFill>
              <a:srgbClr val="E97C68"/>
            </a:solidFill>
          </a:ln>
        </p:spPr>
      </p:sp>
      <p:sp>
        <p:nvSpPr>
          <p:cNvPr id="198" name="Protein contour 5">
            <a:extLst xmlns:a="http://schemas.openxmlformats.org/drawingml/2006/main">
              <a:ext uri="{FF2B5EF4-FFF2-40B4-BE49-F238E27FC236}">
                <a16:creationId xmlns:a16="http://schemas.microsoft.com/office/drawing/2014/main" id="{F7950B98-15A5-4621-97D9-8FE8BF926C63}"/>
              </a:ext>
            </a:extLst>
          </p:cNvPr>
          <p:cNvSpPr>
            <a:spLocks xmlns:a="http://schemas.openxmlformats.org/drawingml/2006/main" noGrp="1"/>
          </p:cNvSpPr>
          <p:nvPr/>
        </p:nvSpPr>
        <p:spPr>
          <a:xfrm xmlns:a="http://schemas.openxmlformats.org/drawingml/2006/main">
            <a:off x="12620625" y="8620125"/>
            <a:ext cx="190500" cy="66675"/>
          </a:xfrm>
          <a:custGeom xmlns:a="http://schemas.openxmlformats.org/drawingml/2006/main">
            <a:pathLst>
              <a:path w="190500" h="66675">
                <a:moveTo>
                  <a:pt x="190500" y="66675"/>
                </a:moveTo>
                <a:lnTo>
                  <a:pt x="0" y="0"/>
                </a:lnTo>
              </a:path>
            </a:pathLst>
          </a:custGeom>
          <a:noFill xmlns:a="http://schemas.openxmlformats.org/drawingml/2006/main"/>
          <a:ln xmlns:a="http://schemas.openxmlformats.org/drawingml/2006/main" w="38100">
            <a:solidFill>
              <a:srgbClr val="E97C68"/>
            </a:solidFill>
          </a:ln>
        </p:spPr>
      </p:sp>
      <p:sp>
        <p:nvSpPr>
          <p:cNvPr id="199" name="Protein contour 6">
            <a:extLst xmlns:a="http://schemas.openxmlformats.org/drawingml/2006/main">
              <a:ext uri="{FF2B5EF4-FFF2-40B4-BE49-F238E27FC236}">
                <a16:creationId xmlns:a16="http://schemas.microsoft.com/office/drawing/2014/main" id="{76C51311-0636-46ED-A07B-DA2CA72CAF40}"/>
              </a:ext>
            </a:extLst>
          </p:cNvPr>
          <p:cNvSpPr>
            <a:spLocks xmlns:a="http://schemas.openxmlformats.org/drawingml/2006/main" noGrp="1"/>
          </p:cNvSpPr>
          <p:nvPr/>
        </p:nvSpPr>
        <p:spPr>
          <a:xfrm xmlns:a="http://schemas.openxmlformats.org/drawingml/2006/main">
            <a:off x="12496800" y="8620125"/>
            <a:ext cx="123825" cy="142875"/>
          </a:xfrm>
          <a:custGeom xmlns:a="http://schemas.openxmlformats.org/drawingml/2006/main">
            <a:pathLst>
              <a:path w="123825" h="142875">
                <a:moveTo>
                  <a:pt x="123825" y="0"/>
                </a:moveTo>
                <a:lnTo>
                  <a:pt x="0" y="142875"/>
                </a:lnTo>
              </a:path>
            </a:pathLst>
          </a:custGeom>
          <a:noFill xmlns:a="http://schemas.openxmlformats.org/drawingml/2006/main"/>
          <a:ln xmlns:a="http://schemas.openxmlformats.org/drawingml/2006/main" w="38100">
            <a:solidFill>
              <a:srgbClr val="E97C68"/>
            </a:solidFill>
          </a:ln>
        </p:spPr>
      </p:sp>
      <p:sp>
        <p:nvSpPr>
          <p:cNvPr id="200" name="RNA stem left">
            <a:extLst xmlns:a="http://schemas.openxmlformats.org/drawingml/2006/main">
              <a:ext uri="{FF2B5EF4-FFF2-40B4-BE49-F238E27FC236}">
                <a16:creationId xmlns:a16="http://schemas.microsoft.com/office/drawing/2014/main" id="{599B5EA0-E536-48F8-88C5-13375F25943B}"/>
              </a:ext>
            </a:extLst>
          </p:cNvPr>
          <p:cNvSpPr>
            <a:spLocks xmlns:a="http://schemas.openxmlformats.org/drawingml/2006/main" noGrp="1"/>
          </p:cNvSpPr>
          <p:nvPr/>
        </p:nvSpPr>
        <p:spPr>
          <a:xfrm xmlns:a="http://schemas.openxmlformats.org/drawingml/2006/main">
            <a:off x="13315950" y="8420100"/>
            <a:ext cx="9525" cy="400050"/>
          </a:xfrm>
          <a:custGeom xmlns:a="http://schemas.openxmlformats.org/drawingml/2006/main">
            <a:pathLst>
              <a:path w="9525" h="400050">
                <a:moveTo>
                  <a:pt x="0" y="400050"/>
                </a:moveTo>
                <a:lnTo>
                  <a:pt x="0" y="0"/>
                </a:lnTo>
              </a:path>
            </a:pathLst>
          </a:custGeom>
          <a:noFill xmlns:a="http://schemas.openxmlformats.org/drawingml/2006/main"/>
          <a:ln xmlns:a="http://schemas.openxmlformats.org/drawingml/2006/main" w="23813">
            <a:solidFill>
              <a:srgbClr val="637782"/>
            </a:solidFill>
          </a:ln>
        </p:spPr>
      </p:sp>
      <p:sp>
        <p:nvSpPr>
          <p:cNvPr id="201" name="RNA stem right">
            <a:extLst xmlns:a="http://schemas.openxmlformats.org/drawingml/2006/main">
              <a:ext uri="{FF2B5EF4-FFF2-40B4-BE49-F238E27FC236}">
                <a16:creationId xmlns:a16="http://schemas.microsoft.com/office/drawing/2014/main" id="{7941474B-D845-4E48-9ABF-56204259AFC2}"/>
              </a:ext>
            </a:extLst>
          </p:cNvPr>
          <p:cNvSpPr>
            <a:spLocks xmlns:a="http://schemas.openxmlformats.org/drawingml/2006/main" noGrp="1"/>
          </p:cNvSpPr>
          <p:nvPr/>
        </p:nvSpPr>
        <p:spPr>
          <a:xfrm xmlns:a="http://schemas.openxmlformats.org/drawingml/2006/main">
            <a:off x="13582650" y="8420100"/>
            <a:ext cx="9525" cy="400050"/>
          </a:xfrm>
          <a:custGeom xmlns:a="http://schemas.openxmlformats.org/drawingml/2006/main">
            <a:pathLst>
              <a:path w="9525" h="400050">
                <a:moveTo>
                  <a:pt x="0" y="400050"/>
                </a:moveTo>
                <a:lnTo>
                  <a:pt x="0" y="0"/>
                </a:lnTo>
              </a:path>
            </a:pathLst>
          </a:custGeom>
          <a:noFill xmlns:a="http://schemas.openxmlformats.org/drawingml/2006/main"/>
          <a:ln xmlns:a="http://schemas.openxmlformats.org/drawingml/2006/main" w="23813">
            <a:solidFill>
              <a:srgbClr val="637782"/>
            </a:solidFill>
          </a:ln>
        </p:spPr>
      </p:sp>
      <p:sp>
        <p:nvSpPr>
          <p:cNvPr id="202" name="RNA loop">
            <a:extLst xmlns:a="http://schemas.openxmlformats.org/drawingml/2006/main">
              <a:ext uri="{FF2B5EF4-FFF2-40B4-BE49-F238E27FC236}">
                <a16:creationId xmlns:a16="http://schemas.microsoft.com/office/drawing/2014/main" id="{9667CF48-5AAD-46BC-A616-344DA0C6AAF8}"/>
              </a:ext>
            </a:extLst>
          </p:cNvPr>
          <p:cNvSpPr>
            <a:spLocks xmlns:a="http://schemas.openxmlformats.org/drawingml/2006/main" noGrp="1"/>
          </p:cNvSpPr>
          <p:nvPr/>
        </p:nvSpPr>
        <p:spPr>
          <a:xfrm xmlns:a="http://schemas.openxmlformats.org/drawingml/2006/main">
            <a:off x="13315950" y="8277225"/>
            <a:ext cx="266700" cy="266700"/>
          </a:xfrm>
          <a:prstGeom xmlns:a="http://schemas.openxmlformats.org/drawingml/2006/main" prst="ellipse">
            <a:avLst/>
          </a:prstGeom>
          <a:noFill xmlns:a="http://schemas.openxmlformats.org/drawingml/2006/main"/>
          <a:ln xmlns:a="http://schemas.openxmlformats.org/drawingml/2006/main" w="23813">
            <a:solidFill>
              <a:srgbClr val="637782"/>
            </a:solidFill>
          </a:ln>
        </p:spPr>
      </p:sp>
      <p:sp>
        <p:nvSpPr>
          <p:cNvPr id="203" name="RNA pairing 0">
            <a:extLst xmlns:a="http://schemas.openxmlformats.org/drawingml/2006/main">
              <a:ext uri="{FF2B5EF4-FFF2-40B4-BE49-F238E27FC236}">
                <a16:creationId xmlns:a16="http://schemas.microsoft.com/office/drawing/2014/main" id="{9BD8EBF4-CF41-40DB-997D-0027E50A630F}"/>
              </a:ext>
            </a:extLst>
          </p:cNvPr>
          <p:cNvSpPr>
            <a:spLocks xmlns:a="http://schemas.openxmlformats.org/drawingml/2006/main" noGrp="1"/>
          </p:cNvSpPr>
          <p:nvPr/>
        </p:nvSpPr>
        <p:spPr>
          <a:xfrm xmlns:a="http://schemas.openxmlformats.org/drawingml/2006/main">
            <a:off x="13335000" y="8524875"/>
            <a:ext cx="228600" cy="9525"/>
          </a:xfrm>
          <a:custGeom xmlns:a="http://schemas.openxmlformats.org/drawingml/2006/main">
            <a:pathLst>
              <a:path w="228600" h="9525">
                <a:moveTo>
                  <a:pt x="0" y="0"/>
                </a:moveTo>
                <a:lnTo>
                  <a:pt x="228600" y="0"/>
                </a:lnTo>
              </a:path>
            </a:pathLst>
          </a:custGeom>
          <a:noFill xmlns:a="http://schemas.openxmlformats.org/drawingml/2006/main"/>
          <a:ln xmlns:a="http://schemas.openxmlformats.org/drawingml/2006/main" w="15240">
            <a:solidFill>
              <a:srgbClr val="637782"/>
            </a:solidFill>
          </a:ln>
        </p:spPr>
      </p:sp>
      <p:sp>
        <p:nvSpPr>
          <p:cNvPr id="204" name="RNA pairing 1">
            <a:extLst xmlns:a="http://schemas.openxmlformats.org/drawingml/2006/main">
              <a:ext uri="{FF2B5EF4-FFF2-40B4-BE49-F238E27FC236}">
                <a16:creationId xmlns:a16="http://schemas.microsoft.com/office/drawing/2014/main" id="{17034BBA-FBD3-4099-9B73-18E3A97AFD9B}"/>
              </a:ext>
            </a:extLst>
          </p:cNvPr>
          <p:cNvSpPr>
            <a:spLocks xmlns:a="http://schemas.openxmlformats.org/drawingml/2006/main" noGrp="1"/>
          </p:cNvSpPr>
          <p:nvPr/>
        </p:nvSpPr>
        <p:spPr>
          <a:xfrm xmlns:a="http://schemas.openxmlformats.org/drawingml/2006/main">
            <a:off x="13335000" y="8601075"/>
            <a:ext cx="228600" cy="9525"/>
          </a:xfrm>
          <a:custGeom xmlns:a="http://schemas.openxmlformats.org/drawingml/2006/main">
            <a:pathLst>
              <a:path w="228600" h="9525">
                <a:moveTo>
                  <a:pt x="0" y="0"/>
                </a:moveTo>
                <a:lnTo>
                  <a:pt x="228600" y="0"/>
                </a:lnTo>
              </a:path>
            </a:pathLst>
          </a:custGeom>
          <a:noFill xmlns:a="http://schemas.openxmlformats.org/drawingml/2006/main"/>
          <a:ln xmlns:a="http://schemas.openxmlformats.org/drawingml/2006/main" w="15240">
            <a:solidFill>
              <a:srgbClr val="637782"/>
            </a:solidFill>
          </a:ln>
        </p:spPr>
      </p:sp>
      <p:sp>
        <p:nvSpPr>
          <p:cNvPr id="205" name="RNA pairing 2">
            <a:extLst xmlns:a="http://schemas.openxmlformats.org/drawingml/2006/main">
              <a:ext uri="{FF2B5EF4-FFF2-40B4-BE49-F238E27FC236}">
                <a16:creationId xmlns:a16="http://schemas.microsoft.com/office/drawing/2014/main" id="{D27C3CBA-B353-4B20-B372-CEA9C7AB8A2F}"/>
              </a:ext>
            </a:extLst>
          </p:cNvPr>
          <p:cNvSpPr>
            <a:spLocks xmlns:a="http://schemas.openxmlformats.org/drawingml/2006/main" noGrp="1"/>
          </p:cNvSpPr>
          <p:nvPr/>
        </p:nvSpPr>
        <p:spPr>
          <a:xfrm xmlns:a="http://schemas.openxmlformats.org/drawingml/2006/main">
            <a:off x="13335000" y="8677275"/>
            <a:ext cx="228600" cy="9525"/>
          </a:xfrm>
          <a:custGeom xmlns:a="http://schemas.openxmlformats.org/drawingml/2006/main">
            <a:pathLst>
              <a:path w="228600" h="9525">
                <a:moveTo>
                  <a:pt x="0" y="0"/>
                </a:moveTo>
                <a:lnTo>
                  <a:pt x="228600" y="0"/>
                </a:lnTo>
              </a:path>
            </a:pathLst>
          </a:custGeom>
          <a:noFill xmlns:a="http://schemas.openxmlformats.org/drawingml/2006/main"/>
          <a:ln xmlns:a="http://schemas.openxmlformats.org/drawingml/2006/main" w="15240">
            <a:solidFill>
              <a:srgbClr val="637782"/>
            </a:solidFill>
          </a:ln>
        </p:spPr>
      </p:sp>
      <p:sp>
        <p:nvSpPr>
          <p:cNvPr id="206" name="RNA pairing 3">
            <a:extLst xmlns:a="http://schemas.openxmlformats.org/drawingml/2006/main">
              <a:ext uri="{FF2B5EF4-FFF2-40B4-BE49-F238E27FC236}">
                <a16:creationId xmlns:a16="http://schemas.microsoft.com/office/drawing/2014/main" id="{D33AAD08-61E4-4428-8049-ACA0753B3ED2}"/>
              </a:ext>
            </a:extLst>
          </p:cNvPr>
          <p:cNvSpPr>
            <a:spLocks xmlns:a="http://schemas.openxmlformats.org/drawingml/2006/main" noGrp="1"/>
          </p:cNvSpPr>
          <p:nvPr/>
        </p:nvSpPr>
        <p:spPr>
          <a:xfrm xmlns:a="http://schemas.openxmlformats.org/drawingml/2006/main">
            <a:off x="13335000" y="8753475"/>
            <a:ext cx="228600" cy="9525"/>
          </a:xfrm>
          <a:custGeom xmlns:a="http://schemas.openxmlformats.org/drawingml/2006/main">
            <a:pathLst>
              <a:path w="228600" h="9525">
                <a:moveTo>
                  <a:pt x="0" y="0"/>
                </a:moveTo>
                <a:lnTo>
                  <a:pt x="228600" y="0"/>
                </a:lnTo>
              </a:path>
            </a:pathLst>
          </a:custGeom>
          <a:noFill xmlns:a="http://schemas.openxmlformats.org/drawingml/2006/main"/>
          <a:ln xmlns:a="http://schemas.openxmlformats.org/drawingml/2006/main" w="15240">
            <a:solidFill>
              <a:srgbClr val="637782"/>
            </a:solidFill>
          </a:ln>
        </p:spPr>
      </p:sp>
      <p:sp>
        <p:nvSpPr>
          <p:cNvPr id="207" name="Protein context label">
            <a:extLst xmlns:a="http://schemas.openxmlformats.org/drawingml/2006/main">
              <a:ext uri="{FF2B5EF4-FFF2-40B4-BE49-F238E27FC236}">
                <a16:creationId xmlns:a16="http://schemas.microsoft.com/office/drawing/2014/main" id="{7631194E-6998-4810-942A-DE48E69F4CA4}"/>
              </a:ext>
            </a:extLst>
          </p:cNvPr>
          <p:cNvSpPr>
            <a:spLocks xmlns:a="http://schemas.openxmlformats.org/drawingml/2006/main" noGrp="1"/>
          </p:cNvSpPr>
          <p:nvPr/>
        </p:nvSpPr>
        <p:spPr>
          <a:xfrm xmlns:a="http://schemas.openxmlformats.org/drawingml/2006/main">
            <a:off x="12039600" y="9029700"/>
            <a:ext cx="1952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2100" b="0">
                <a:solidFill>
                  <a:srgbClr val="172D38"/>
                </a:solidFill>
                <a:latin typeface="Calibri"/>
                <a:ea typeface="Calibri"/>
                <a:cs typeface="Calibri"/>
              </a:defRPr>
            </a:pPr>
            <a:r>
              <a:rPr sz="2100" b="0">
                <a:solidFill>
                  <a:srgbClr val="172D38"/>
                </a:solidFill>
                <a:latin typeface="Calibri"/>
                <a:ea typeface="Calibri"/>
                <a:cs typeface="Calibri"/>
              </a:rPr>
              <a:t>Protein and RNA</a:t>
            </a:r>
          </a:p>
          <a:p xmlns:a="http://schemas.openxmlformats.org/drawingml/2006/main">
            <a:pPr algn="ctr">
              <a:buNone/>
              <a:defRPr sz="2100" b="0">
                <a:solidFill>
                  <a:srgbClr val="172D38"/>
                </a:solidFill>
                <a:latin typeface="Calibri"/>
                <a:ea typeface="Calibri"/>
                <a:cs typeface="Calibri"/>
              </a:defRPr>
            </a:pPr>
            <a:r>
              <a:rPr sz="2100" b="0">
                <a:solidFill>
                  <a:srgbClr val="172D38"/>
                </a:solidFill>
                <a:latin typeface="Calibri"/>
                <a:ea typeface="Calibri"/>
                <a:cs typeface="Calibri"/>
              </a:rPr>
              <a:t>maintenance</a:t>
            </a:r>
          </a:p>
        </p:txBody>
      </p:sp>
    </p:spTree>
    <p:extLst>
      <p:ext uri="{BB962C8B-B14F-4D97-AF65-F5344CB8AC3E}">
        <p14:creationId xmlns:p14="http://schemas.microsoft.com/office/powerpoint/2010/main" val="15900331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2026-10-04T16:15:09.6900000Z</dcterms:created>
  <dcterms:modified xsi:type="dcterms:W3CDTF">2026-10-04T16:15:09.6900000Z</dcterms:modified>
</coreProperties>
</file>