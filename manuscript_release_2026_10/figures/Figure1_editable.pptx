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a9ca98414d4ae5" /><Relationship Type="http://schemas.openxmlformats.org/officeDocument/2006/relationships/extended-properties" Target="/docProps/app.xml" Id="R7d8d20b8a34c4111" /><Relationship Type="http://schemas.openxmlformats.org/officeDocument/2006/relationships/officeDocument" Target="/ppt/presentation.xml" Id="Re418373c2d084c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75c57cfba94cdb"/>
  </p:sldMasterIdLst>
  <p:notesMasterIdLst>
    <p:notesMasterId xmlns:r="http://schemas.openxmlformats.org/officeDocument/2006/relationships" r:id="R23a1cd19b941490b"/>
  </p:notesMasterIdLst>
  <p:sldIdLst>
    <p:sldId xmlns:r="http://schemas.openxmlformats.org/officeDocument/2006/relationships" id="256" r:id="Re509626d03e84faa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f47f67812546fa" /><Relationship Type="http://schemas.openxmlformats.org/officeDocument/2006/relationships/slideMaster" Target="/ppt/slideMasters/slideMaster1.xml" Id="R7375c57cfba94cdb" /><Relationship Type="http://schemas.openxmlformats.org/officeDocument/2006/relationships/notesMaster" Target="/ppt/notesMasters/notesMaster1.xml" Id="R23a1cd19b941490b" /><Relationship Type="http://schemas.openxmlformats.org/officeDocument/2006/relationships/presProps" Target="/ppt/presProps.xml" Id="R362dc0d95833427f" /><Relationship Type="http://schemas.openxmlformats.org/officeDocument/2006/relationships/tableStyles" Target="/ppt/tableStyles.xml" Id="Rc0e5f03364de4276" /><Relationship Type="http://schemas.openxmlformats.org/officeDocument/2006/relationships/slide" Target="/ppt/slides/slide1.xml" Id="Re509626d03e84f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1c6f1ef43f49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0dd7faf5064128" /><Relationship Type="http://schemas.openxmlformats.org/officeDocument/2006/relationships/notesMaster" Target="/ppt/notesMasters/notesMaster1.xml" Id="R334aaa2b19ef4c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Figure 1 manuscript workflow revision v6. The released 426-assembly panel was selected as complete RefSeq genomes according to archived metadata. Current status and taxonomy audits are dated checks reported separately, without silently substituting cohort records. Source design: figures/Figure1_corrected.pptx, retained as editable native objects. Labels: the actual downstream model target requires all three best_evalue values &lt;1e-50, as verified in extended_audit/label_integrity_report.json. Full-data discovery inventories remain 981 Highly Pure and a frozen 476 Model-Supported. The latter comprises 473 estimable positive full-panel univariate carrier contrasts plus three ubiquitous controls. Model importance supplies the ordering, not an inclusion threshold. Evaluation recomputes purity and genus-breadth filters within training folds of the fixed 2286-family matrix. The mean ROC AUC range 0.853–0.893 is the primary stored-genus evaluation range supplied by the root audit. Later dated status/taxonomy and identity sensitivities are reported separately. These stored genus labels are not asserted to equal current official genus ranks. Related-atlas product-label comparisons are descriptive only. The proposed corrected score omits raw-GF-ID atlas bonuses and the imported HGT penalty; 167 families remain, including 22 Tier A, 140 Tier B and five Highly Pure. Three ubiquitous inventory controls are excluded before prioritization. Sources: extended_audit/provenance_audit.txt, extended_audit/proposed_score_revision_v2/score_revision_summary.json, extended_audit/morphology_audit.txt, extended_audit/model_ranking_resource_audit.txt, extended_audit/sample_status_independent_check.txt, extended_audit/taxonomy_genus_audit.txt.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738ca05e3241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227a90dcf24906" /><Relationship Type="http://schemas.openxmlformats.org/officeDocument/2006/relationships/slideLayout" Target="/ppt/slideLayouts/slideLayout1.xml" Id="R9daa14350c6045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aa14350c6045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94797ea964374" /><Relationship Type="http://schemas.openxmlformats.org/officeDocument/2006/relationships/notesSlide" Target="/ppt/notesSlides/notesSlide1.xml" Id="R0cff2b527fe34a6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4" name="header-Primary RefSeq-filtered&#10;protein-family atlas">
            <a:extLst xmlns:a="http://schemas.openxmlformats.org/drawingml/2006/main">
              <a:ext uri="{FF2B5EF4-FFF2-40B4-BE49-F238E27FC236}">
                <a16:creationId xmlns:a16="http://schemas.microsoft.com/office/drawing/2014/main" id="{9ABAAD4C-60E9-441A-A0F9-4B5D30DC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552450"/>
            <a:ext cx="3286125" cy="1028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9BAF"/>
          </a:solidFill>
          <a:ln xmlns:a="http://schemas.openxmlformats.org/drawingml/2006/main" w="19050">
            <a:solidFill>
              <a:srgbClr val="B8CF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A75A88-AC0E-4A87-BCBE-FF3D755E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781050"/>
            <a:ext cx="27717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Primary released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atlas</a:t>
            </a:r>
          </a:p>
        </p:txBody>
      </p:sp>
      <p:sp>
        <p:nvSpPr>
          <p:cNvPr id="3" name="header-Two non-overlapping&#10;candidate inventories">
            <a:extLst xmlns:a="http://schemas.openxmlformats.org/drawingml/2006/main">
              <a:ext uri="{FF2B5EF4-FFF2-40B4-BE49-F238E27FC236}">
                <a16:creationId xmlns:a16="http://schemas.microsoft.com/office/drawing/2014/main" id="{9C610B79-7768-4B24-AC65-3FE9FAFE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52450"/>
            <a:ext cx="3190875" cy="1028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E8299"/>
          </a:solidFill>
          <a:ln xmlns:a="http://schemas.openxmlformats.org/drawingml/2006/main" w="19050">
            <a:solidFill>
              <a:srgbClr val="B8CF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D44C52-DE42-4652-AD47-DD31E921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781050"/>
            <a:ext cx="26765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Released full-data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candidate inventories</a:t>
            </a:r>
          </a:p>
        </p:txBody>
      </p:sp>
      <p:sp>
        <p:nvSpPr>
          <p:cNvPr id="5" name="header-Concordance and&#10;prioritization layers">
            <a:extLst xmlns:a="http://schemas.openxmlformats.org/drawingml/2006/main">
              <a:ext uri="{FF2B5EF4-FFF2-40B4-BE49-F238E27FC236}">
                <a16:creationId xmlns:a16="http://schemas.microsoft.com/office/drawing/2014/main" id="{93B8353D-1BF5-40BC-9EA3-73A814EB6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2450"/>
            <a:ext cx="3286125" cy="1028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D7F98"/>
          </a:solidFill>
          <a:ln xmlns:a="http://schemas.openxmlformats.org/drawingml/2006/main" w="19050">
            <a:solidFill>
              <a:srgbClr val="B8CF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DFE37B-8D38-4C71-A785-26FA7E58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781050"/>
            <a:ext cx="27717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Candidate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annotation layers</a:t>
            </a:r>
          </a:p>
        </p:txBody>
      </p:sp>
      <p:sp>
        <p:nvSpPr>
          <p:cNvPr id="7" name="header-Prioritized candidate&#10;accessory themes">
            <a:extLst xmlns:a="http://schemas.openxmlformats.org/drawingml/2006/main">
              <a:ext uri="{FF2B5EF4-FFF2-40B4-BE49-F238E27FC236}">
                <a16:creationId xmlns:a16="http://schemas.microsoft.com/office/drawing/2014/main" id="{61F836BC-8B6D-45E2-96EA-8069422F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52450"/>
            <a:ext cx="3857625" cy="1028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D6383"/>
          </a:solidFill>
          <a:ln xmlns:a="http://schemas.openxmlformats.org/drawingml/2006/main" w="19050">
            <a:solidFill>
              <a:srgbClr val="B8CF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1C5F32-F9B3-4F2F-B1E0-9F69EE41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781050"/>
            <a:ext cx="33432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Candidate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functional themes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58D3C7-259C-46DE-AF8D-A47FE79A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651510" cy="205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20040-1C1B-4132-AF04-CFA0426A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3120"/>
            <a:ext cx="651510" cy="197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AB5ABA-A73E-43F1-B0D7-B33D57A8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7418"/>
            <a:ext cx="651510" cy="205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6EE9A-39D2-401D-A7E8-AEFE8C86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9673" y="2180273"/>
            <a:ext cx="42863" cy="428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6F9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DE7533-0192-4179-9B5C-E774556F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0288"/>
            <a:ext cx="651510" cy="197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446639-5F5F-4A52-B2C7-DF389B1C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94585"/>
            <a:ext cx="651510" cy="205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30625B-1BF2-4A4B-A404-07EA2E17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9673" y="2377440"/>
            <a:ext cx="42863" cy="428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6F9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2488AE-C258-4387-801E-3F60E620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7455"/>
            <a:ext cx="651510" cy="197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B00D80-A4DF-4AFC-9B48-04E0053C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1752"/>
            <a:ext cx="651510" cy="205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B48083-3C70-4554-82A2-D6FEF1EE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9673" y="2574608"/>
            <a:ext cx="42863" cy="428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6F9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A50694-5618-4E33-8819-2523D198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0383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Released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426-assembly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panel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B145D1-6670-48EF-8D49-154F22C4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62375"/>
            <a:ext cx="1143000" cy="1143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0AEDE8-1AFD-4919-9DFA-25ABC720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3053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8CC0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8C50F9-3ED3-4B37-AEA3-082A1A7C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3EA6A7-FC14-4CAB-9BBC-33FEFD8C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2493" y="440454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A84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860A0C-8FCC-443D-B8BC-D3D22CCB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709" y="450076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6666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E83E8C-1953-427F-A9D3-4F72E093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609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232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FD51E6-B562-43A9-ABB9-43458219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494934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B86AE5-958F-4336-8E98-7266EC13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69" y="4672653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A5A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4F0BBD-3AF0-465C-B3B8-94688019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028" y="474309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8CC0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819163-169F-474C-B090-9EF553CF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80023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A84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D46728-EBED-493C-A39A-A33F878D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285750" cy="49493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9E3EDA-C35A-4106-8235-93296E23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140" y="484233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6666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B54B03-063D-4CA1-B51D-47A99ACC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915" y="4868118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232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87D8E5-01EA-4AF1-89CC-B40AF1E0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4876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A5A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D5D334-EC03-443A-9C10-73B1478A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0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8FDC96-37CA-4553-A807-76F4710A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435" y="4868118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8CC0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B7C838-0F7C-4DC6-B8B5-0FC0E729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210" y="484233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A84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935C7A-1CF2-4E4E-97B2-0109249E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80023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6666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D84A42-3ECA-4133-BEB2-10A727C4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952500" y="4333875"/>
            <a:ext cx="285750" cy="49491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7D394F-F7AB-4686-841F-92F86331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322" y="474309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232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7C9453-C8BB-4459-95DE-CD294C5D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881" y="4672653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A5A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A7E1237-AE8A-4574-A597-17C384D4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741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8CC0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0D41A94-5ED4-4139-AE99-597F617D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43331" y="4333875"/>
            <a:ext cx="494919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3DB1A5-6285-487E-826E-D3569790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641" y="450076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A84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4AE2C80-AF21-47FE-8FED-07457B9F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57" y="440454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6666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00C94B-DC45-48E4-B8A0-AF7CDCE2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3053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232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71519B-9A53-43E8-81C4-AC11F728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66750" y="4333875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E04EA5-3CC5-465F-AB33-5686220F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57" y="420606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A5A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6D97A8E-AF09-48A5-953A-FFD3BAA0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641" y="410983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8CC0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CD130CE-5CE1-46F5-85F8-F9BB04CD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741" y="40195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A84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D2E33F9-F42E-4BD6-A9E8-00B16EFF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43331" y="4048125"/>
            <a:ext cx="494919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511C75D-37BB-4731-B081-BBD62AB6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881" y="3937947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6666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487EC02-4AF1-43EE-B27A-0A66764C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322" y="3867506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232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6491B75-F286-4A92-BC47-51642B93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810366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A5A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A202A42-CD3D-460D-B36B-84FBE441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952500" y="3838956"/>
            <a:ext cx="285750" cy="49491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9EA706-A4D3-46FA-AB81-C0BE0C85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210" y="3768266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8CC0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C16549E-E049-4364-BAAF-E847805B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435" y="3742482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A84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BB27CE4-DB26-4490-ABB7-91AD6BFE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3733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6666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39B0B3A-FBE9-42A4-8792-680FC82B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38250" y="3762375"/>
            <a:ext cx="0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A6BFB5A-5285-4A55-B86E-42FEA440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915" y="3742482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232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59A5C05-1A8A-427B-AF42-E6E85A77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140" y="3768266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A5A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B217CDC-D24B-46DC-A68D-A9AACA20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10366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8CC0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6978DCA-3919-4555-81B2-94F38131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38250" y="3838956"/>
            <a:ext cx="285750" cy="49491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F3EDF4C-B2D6-4C76-A5E8-CB774E02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028" y="3867506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A84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F2147AC-1F04-4B52-A919-12E1FB8E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69" y="3937947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6666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689B450-0FC1-4BAB-A15B-E75270FB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609" y="40195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232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C593FC9-0034-43BC-B024-5B482FDF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38250" y="4048125"/>
            <a:ext cx="494919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FB0BC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ED1E0F5-5870-4265-A95C-F6810BE1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709" y="410983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A5AF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4F9ADCE-1C37-4E21-8F63-A1802423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2493" y="420606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8CC0"/>
          </a:solidFill>
          <a:ln xmlns:a="http://schemas.openxmlformats.org/drawingml/2006/main" w="5715">
            <a:solidFill>
              <a:srgbClr val="FFFFF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5EDF878-BFEF-4316-A3A5-EB8E397D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33875"/>
            <a:ext cx="254367" cy="936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DC804C2-86D7-4090-A363-2E939AD1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739" y="4381500"/>
            <a:ext cx="173448" cy="2083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BD63EBD-E464-4634-A54B-4537E0AA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16364"/>
            <a:ext cx="46055" cy="2671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4103918-4AF9-42CF-8E23-B2796A0D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144524" y="4429125"/>
            <a:ext cx="93726" cy="2544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A0D543B-6448-412B-9ECD-BD9FA790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982313" y="4416362"/>
            <a:ext cx="208312" cy="173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2EC8551-1962-4864-8B66-E3D33509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888683" y="4381500"/>
            <a:ext cx="267081" cy="4610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6CC30AB-764D-4D21-BD4F-9B589D32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888587" y="4240149"/>
            <a:ext cx="254413" cy="9372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8DCC08B-2F23-470E-B451-9BEBEBF8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982313" y="4077938"/>
            <a:ext cx="173450" cy="2083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0AB4F75-905E-4528-AA0C-CA82828F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1144524" y="3984307"/>
            <a:ext cx="46101" cy="2670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73383A5-49F7-4B86-866F-B6ED1388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38250" y="3984212"/>
            <a:ext cx="93726" cy="2544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E7043DC-62F3-4421-A208-2EF4F20D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85875" y="4077938"/>
            <a:ext cx="208312" cy="173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8C926BD-2D58-47FD-BA38-2C07C550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320737" y="4240149"/>
            <a:ext cx="267081" cy="4610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B7C8A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FDFD9AB-17FC-4C91-ABD7-E8B49073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886200"/>
            <a:ext cx="1809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nifHDK labels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Each marker: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E-value &lt;1e−50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A67F647-F836-495D-B92F-8A92CFAF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96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B486FAD-8C28-4F7D-9AD6-CA2E46AC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764741D-DB5F-4CBA-BC4C-E3D037ED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096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E955C1E-B3A6-4098-BCA1-89E1C02A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096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511136C-90B1-4F0B-97C4-42917049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6096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CBDAAD0-5EFD-4F53-8F74-CAE3922B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096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9364784-789D-4911-9612-0B9DDEEE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6096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D514474-969D-47CA-8D2B-84907D85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096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6BFA623-6A4E-44C9-BC80-0A885268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2388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C4C9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2DDAD6E-81DA-4844-BBB7-76350BAD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D7A8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5D8CB4A-5859-4728-B184-5C9975D2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2388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C4C9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CE875B3-7A46-452D-98D7-F19844F1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2388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D7A8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867DEB1-E9DD-48C4-89B4-EE0DCD16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62388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C4C9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CD5C4FF-6B6A-40A5-882D-0C826512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388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D7A8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F0884F9-4721-4BC8-96AA-15B782C4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62388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C4C9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8E6DAA5-0EED-454C-9AF0-D243B928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2388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D7A8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5C7FFB5-3099-4D0B-9266-E47F2206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81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5C6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79593E1-652C-4A6D-AF56-53D01026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81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C47D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AA2E06C-843E-49F8-BD7B-12840F20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381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5C6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F49B90C-5DE9-459E-8ED2-5064257D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C47D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07AAD5C-0E6C-407F-9E1F-F8D14292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6381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5C6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9322826-8094-4985-9AFC-F2939B7A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81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C47D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73BA9172-BC1A-4F78-ADDC-D3C799D7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6381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5C6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C4061B7-1F39-4332-957C-22F3AC92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381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C47D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1E134B6-2EB2-40E3-BD60-2F3F8621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2462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62A0BFEA-4920-4F53-8F75-18FA7195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2462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BA3256B5-4D1B-4CFA-9048-17F03861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52462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CCC3686-ED4D-4174-A0A2-53A95C6C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52462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2945739-AFF8-4AA0-8AF4-4B346969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652462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3721C12E-70AE-4356-8ED4-2C822ED3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52462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46C6BE2-A640-4A43-B6B3-9D4797AC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652462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85C8AB4-C8F3-40B8-B453-926D0EEE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419B067-8AF0-4A2E-BF5F-10931BF4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6675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D7A8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66AB64D-3597-4EE9-A488-7F8F2DE0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C4C9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E07D962-7790-422D-A763-4B95132B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6675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D7A8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2C28F73-6B62-4013-BDF3-A72B89CF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6675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C4C9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2BCDE4C-3813-4E95-AF08-D3B3BA7E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66675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D7A8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D5A06C2-CE72-4FB4-9A21-F94FD6B5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6675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C4C9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F62EFFC-F209-45EB-8F04-9F47AAAD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66675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D7A8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D406FCF-387A-4700-A1F9-FD3D033A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6675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C4C9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5CE6866-29DC-41F8-95A4-B26C67DA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103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C47D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4A9C504-8F36-445B-81F5-54B9C0AA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103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5C6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53954B5-2084-4CFE-96A9-A941B095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8103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C47D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17A27B5-D10F-4767-A116-571E3D15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8103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5C6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59FFE378-DF9F-4FDE-8899-261F34AE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68103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C47D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075213E-B930-4DF1-B406-079833AA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8103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5C6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D6BE679-16AF-451F-9FD0-193D4942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68103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C47D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AF0E8839-C549-4078-BC07-21384AE9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8103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5C6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4FBAE660-2B6A-4854-87C8-01567B2E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953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F321676-7D16-417C-A293-119C9FF7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B263FA0-A79E-45E2-9B16-95B4F6D3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953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F385CDE-8DB8-4997-B62E-3C8F8DA2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953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8B58ADC-977B-4E78-9608-54FBB348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6953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9D47C228-E7E2-4708-8CBF-05B92FFC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953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8799F2CC-4FE8-4032-A91F-C8F23960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6953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8DC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55869846-7943-4B9C-A8D6-C490C948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953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AD3"/>
          </a:solidFill>
          <a:ln xmlns:a="http://schemas.openxmlformats.org/drawingml/2006/main" w="4763">
            <a:solidFill>
              <a:srgbClr val="EEF3F6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76958BAF-670F-4324-A94C-800373AD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43600"/>
            <a:ext cx="1809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MMseqs2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426 × 2,286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family matrix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56CEB1A2-9834-445D-A5A8-A2E0B16E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52625"/>
            <a:ext cx="3095625" cy="242887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A9D99C"/>
          </a:solidFill>
          <a:ln xmlns:a="http://schemas.openxmlformats.org/drawingml/2006/main" w="28575">
            <a:solidFill>
              <a:srgbClr val="3B7D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272F1DEC-E029-4A4A-908E-F7430372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2098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Highly Pure: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77600E4-4B08-4A3A-9684-0C563FC7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571750"/>
            <a:ext cx="2381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High-purity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diazotrophy context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CDFF4425-3BD6-4BF6-867D-374AE6EB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735" y="3639503"/>
            <a:ext cx="13844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6B8E7C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2926DF58-BF06-4398-830A-52036F1B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76625"/>
            <a:ext cx="5715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D9A78"/>
          </a:solidFill>
          <a:ln xmlns:a="http://schemas.openxmlformats.org/drawingml/2006/main" w="9525">
            <a:solidFill>
              <a:srgbClr val="0E4F59"/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 i="1">
                <a:solidFill>
                  <a:srgbClr val="FFFFFF"/>
                </a:solidFill>
              </a:defRPr>
            </a:pPr>
            <a:r>
              <a:rPr sz="1350" b="1" i="1">
                <a:solidFill>
                  <a:srgbClr val="FFFFFF"/>
                </a:solidFill>
              </a:rPr>
              <a:t>nifH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C0ADA1C-90D1-4416-B22E-52F25EE1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476625"/>
            <a:ext cx="5715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6B74"/>
          </a:solidFill>
          <a:ln xmlns:a="http://schemas.openxmlformats.org/drawingml/2006/main" w="9525">
            <a:solidFill>
              <a:srgbClr val="0E4F59"/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 i="1">
                <a:solidFill>
                  <a:srgbClr val="FFFFFF"/>
                </a:solidFill>
              </a:defRPr>
            </a:pPr>
            <a:r>
              <a:rPr sz="1350" b="1" i="1">
                <a:solidFill>
                  <a:srgbClr val="FFFFFF"/>
                </a:solidFill>
              </a:rPr>
              <a:t>nifD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AB77CDF-0802-4269-889F-FDA89145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476625"/>
            <a:ext cx="5715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D9A78"/>
          </a:solidFill>
          <a:ln xmlns:a="http://schemas.openxmlformats.org/drawingml/2006/main" w="9525">
            <a:solidFill>
              <a:srgbClr val="0E4F59"/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 i="1">
                <a:solidFill>
                  <a:srgbClr val="FFFFFF"/>
                </a:solidFill>
              </a:defRPr>
            </a:pPr>
            <a:r>
              <a:rPr sz="1350" b="1" i="1">
                <a:solidFill>
                  <a:srgbClr val="FFFFFF"/>
                </a:solidFill>
              </a:rPr>
              <a:t>nifK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017283E-554C-497C-910F-A1D8326D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322796"/>
            <a:ext cx="615315" cy="61531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3B7D3B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11AB1D8-4A5A-4356-BC82-CAB16029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389" y="3476625"/>
            <a:ext cx="307658" cy="30765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3B7D3B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CF6C9E3B-FD5B-479B-A08E-6C326B3C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876" y="3567113"/>
            <a:ext cx="126682" cy="12668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3B7D3B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B814B34-28C4-4EE2-9C83-330697F6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218" y="3259455"/>
            <a:ext cx="0" cy="74199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3B7D3B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A62533F-E18B-4310-83DC-EB668814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219" y="3630454"/>
            <a:ext cx="7419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3B7D3B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2833C40C-90E8-4325-A43C-B51A417E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952875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672"/>
                </a:solidFill>
              </a:defRPr>
            </a:pPr>
            <a:r>
              <a:rPr sz="1800" b="0">
                <a:solidFill>
                  <a:srgbClr val="586672"/>
                </a:solidFill>
              </a:rPr>
              <a:t>981 families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F52C7EC-5BE6-40EE-8234-6B789889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72000"/>
            <a:ext cx="3095625" cy="242887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2C964"/>
          </a:solidFill>
          <a:ln xmlns:a="http://schemas.openxmlformats.org/drawingml/2006/main" w="28575">
            <a:solidFill>
              <a:srgbClr val="A66B0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70025743-B3B1-4B76-A0CC-44585746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8577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Model-Supported: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8BA6A340-2BD4-4633-ACA9-E6E39638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257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473 positive contrasts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+ 3 ubiquitous controls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5AE0640-2FBB-4820-8EFA-F870FFA1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47700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672"/>
                </a:solidFill>
              </a:defRPr>
            </a:pPr>
            <a:r>
              <a:rPr sz="1800" b="0">
                <a:solidFill>
                  <a:srgbClr val="586672"/>
                </a:solidFill>
              </a:rPr>
              <a:t>476 families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71F5B33A-0B76-4FD5-8ECE-AB2393E6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791200" y="6015038"/>
            <a:ext cx="250031" cy="14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98892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536D35CC-7FAD-4E70-9578-FB6C9852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41231" y="5943600"/>
            <a:ext cx="264319" cy="714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98892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EFF5B1E8-8E88-4D5E-906A-4E39CDD7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43600"/>
            <a:ext cx="214313" cy="257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98892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8F65B05-97A7-489E-A916-33F87D56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276975" y="6200775"/>
            <a:ext cx="242888" cy="2143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98892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633A5C02-C8D2-47EA-8522-DB48218E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976938" y="6357938"/>
            <a:ext cx="300038" cy="57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98892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E07BC661-A1A1-4536-93BB-33B33319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791200" y="6157913"/>
            <a:ext cx="185738" cy="200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98892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55205C32-8DE7-4E4A-9E23-3101B66C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976938" y="6015038"/>
            <a:ext cx="64294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98892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2A038915-9FBB-47E0-A4FF-0300B2D4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276975" y="5943600"/>
            <a:ext cx="28575" cy="4714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98892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3EAADF29-627B-472E-8507-172B5594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43600"/>
            <a:ext cx="257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98892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E3BA04E8-4FC1-44AB-A37B-66DA45DA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519863" y="5943600"/>
            <a:ext cx="42863" cy="257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98892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489CAA1C-CCD1-4387-AF66-E3C73B7C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9763" y="60864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964"/>
          </a:solidFill>
          <a:ln xmlns:a="http://schemas.openxmlformats.org/drawingml/2006/main" w="11430">
            <a:solidFill>
              <a:srgbClr val="586672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EB4DD80E-368F-4FBE-9CB5-F22FB318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794" y="5943600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A7A7"/>
          </a:solidFill>
          <a:ln xmlns:a="http://schemas.openxmlformats.org/drawingml/2006/main" w="11430">
            <a:solidFill>
              <a:srgbClr val="586672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0A9F5729-37EE-4EFB-9FB2-87CAC17B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5872163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7B8F"/>
          </a:solidFill>
          <a:ln xmlns:a="http://schemas.openxmlformats.org/drawingml/2006/main" w="11430">
            <a:solidFill>
              <a:srgbClr val="586672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C84EE76-5397-4200-B873-CB0ABF74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6129338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B354"/>
          </a:solidFill>
          <a:ln xmlns:a="http://schemas.openxmlformats.org/drawingml/2006/main" w="11430">
            <a:solidFill>
              <a:srgbClr val="586672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B44F6B5E-CEAC-4BF7-8B4E-25AED6AF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6343650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D99C"/>
          </a:solidFill>
          <a:ln xmlns:a="http://schemas.openxmlformats.org/drawingml/2006/main" w="11430">
            <a:solidFill>
              <a:srgbClr val="586672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A3661A42-3478-4726-BF4C-7040FD14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286500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6F7D"/>
          </a:solidFill>
          <a:ln xmlns:a="http://schemas.openxmlformats.org/drawingml/2006/main" w="11430">
            <a:solidFill>
              <a:srgbClr val="586672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CA56BB41-D013-437A-ACB4-3AEFD854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1288" y="5872163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C76A"/>
          </a:solidFill>
          <a:ln xmlns:a="http://schemas.openxmlformats.org/drawingml/2006/main" w="11430">
            <a:solidFill>
              <a:srgbClr val="586672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E253B60D-36F7-4888-AAAB-F7544A0C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677025" y="5893594"/>
            <a:ext cx="0" cy="50006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86672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10B737E-E569-4890-AA42-53722F9B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7162800"/>
            <a:ext cx="30956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86672"/>
                </a:solidFill>
              </a:defRPr>
            </a:pPr>
            <a:r>
              <a:rPr sz="1500" b="0">
                <a:solidFill>
                  <a:srgbClr val="586672"/>
                </a:solidFill>
              </a:rPr>
              <a:t>Frozen inventories retained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86672"/>
                </a:solidFill>
              </a:defRPr>
            </a:pPr>
            <a:r>
              <a:rPr sz="1500" b="0">
                <a:solidFill>
                  <a:srgbClr val="586672"/>
                </a:solidFill>
              </a:rPr>
              <a:t>Controls excluded from shortlist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AB024011-A9A3-451A-80E6-86BACEF4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3095625" cy="13811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19050">
            <a:solidFill>
              <a:srgbClr val="6B8792"/>
            </a:solidFill>
            <a:prstDash val="dash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BFCC2A1-54FC-46D8-BAF4-4D582358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238375"/>
            <a:ext cx="325755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698C0E6F-371B-459F-B2E2-DFC78C1B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289810"/>
            <a:ext cx="325755" cy="985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28AF986A-44AD-4C8B-A869-E22502D7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336959"/>
            <a:ext cx="325755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017F6BD5-89B3-4DD4-920D-7E73A274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336" y="2328386"/>
            <a:ext cx="21431" cy="2143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6F96"/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7D67AE9C-E392-4CC1-BF0E-55265F57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388394"/>
            <a:ext cx="325755" cy="985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A2A5FA8C-0F54-471A-847F-28A44C89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435543"/>
            <a:ext cx="325755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3DA773C1-BAA6-49A6-B077-62D354CD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336" y="2426970"/>
            <a:ext cx="21431" cy="2143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6F96"/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54B782BF-F702-4225-86AD-02BC0C32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486978"/>
            <a:ext cx="325755" cy="985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B122E6F2-93EF-41CF-A80A-616CFF54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534126"/>
            <a:ext cx="325755" cy="1028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A9C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564C4F9F-E439-4211-8128-24BBFBD7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336" y="2525554"/>
            <a:ext cx="21431" cy="2143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6F96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DB1CB0AC-DDE9-4AD3-A07A-2487DDCE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362200"/>
            <a:ext cx="333375" cy="26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6E627E05-3C03-4697-A344-372C3481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1145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F6F96"/>
                </a:solidFill>
              </a:defRPr>
            </a:pPr>
            <a:r>
              <a:rPr sz="1500" b="1">
                <a:solidFill>
                  <a:srgbClr val="2F6F96"/>
                </a:solidFill>
              </a:rPr>
              <a:t>DNA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F1843669-3CA7-4623-8ACA-01DD2065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95500"/>
            <a:ext cx="19526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Related protein-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family atlas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E222CF70-FC86-4027-A15D-86BE3F4A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71775"/>
            <a:ext cx="2781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Product-label comparison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No scoring transfer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B684DD86-6902-432C-93C8-BFED45B4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81375"/>
            <a:ext cx="3095625" cy="140017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28575">
            <a:solidFill>
              <a:srgbClr val="2F6F96"/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ACE97D15-E770-4A0F-B4BA-4C19159A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672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188EB7B3-2BDA-4560-93CC-6819B336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762875" y="3743325"/>
            <a:ext cx="0" cy="52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D9573E1D-7940-4663-BA0C-2E27F43A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0050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CF91"/>
          </a:solidFill>
          <a:ln xmlns:a="http://schemas.openxmlformats.org/drawingml/2006/main" w="9525">
            <a:solidFill>
              <a:srgbClr val="2F6F96"/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6B911297-2156-4917-980E-5EA507E8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57625"/>
            <a:ext cx="95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C8"/>
          </a:solidFill>
          <a:ln xmlns:a="http://schemas.openxmlformats.org/drawingml/2006/main" w="9525">
            <a:solidFill>
              <a:srgbClr val="2F6F96"/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8105C98D-0108-45E0-8CAF-432F2226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057650"/>
            <a:ext cx="9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CF91"/>
          </a:solidFill>
          <a:ln xmlns:a="http://schemas.openxmlformats.org/drawingml/2006/main" w="9525">
            <a:solidFill>
              <a:srgbClr val="2F6F96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DF78182F-413F-4228-8AB6-90BD2E88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71900"/>
            <a:ext cx="9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C8"/>
          </a:solidFill>
          <a:ln xmlns:a="http://schemas.openxmlformats.org/drawingml/2006/main" w="9525">
            <a:solidFill>
              <a:srgbClr val="2F6F96"/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79036BA0-CDBB-4EBC-A884-930FFF7B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810500" y="4000500"/>
            <a:ext cx="19050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F6F96"/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2570F2EB-D3FB-49D4-8E58-69FF67C6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00500"/>
            <a:ext cx="209550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F6F96"/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D886EC86-A1E5-4138-A1F4-AF09119F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210550" y="3886200"/>
            <a:ext cx="180975" cy="180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F6F96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7910A2B9-0FA4-44B2-AF2D-210C5FF7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95675"/>
            <a:ext cx="19526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External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active-phase-up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proteomics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8C906C90-AFA6-430E-A9DE-C7D9B966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95775"/>
            <a:ext cx="2781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up in nitrogen-fixation-relevant states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4A167D6F-FD09-4DDB-A033-E50DC44C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05375"/>
            <a:ext cx="3095625" cy="1190625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28575">
            <a:solidFill>
              <a:srgbClr val="2F6F96"/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BCD6C1B2-E1B7-42A4-BB0E-8DD2F0AB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095875"/>
            <a:ext cx="495300" cy="6477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6FAFC"/>
          </a:solidFill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0EE12B6E-63E9-4F1F-9DE4-A4332291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67325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A97A3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936E079F-C773-4BDC-A696-7F107232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400675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A97A3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42DE8450-13B3-41DD-88D9-84CF5AA9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5340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A97A3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C25827CD-0B63-4D32-9DAF-144F57C1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467350"/>
            <a:ext cx="257175" cy="2571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F6F96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28E26517-D8F4-49A0-BBC8-A015C884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667375"/>
            <a:ext cx="17145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6F96"/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304D42C8-C1AF-415E-A3CD-135E73E7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048250"/>
            <a:ext cx="19526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Morphotype-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breadth proxy /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annotation review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4BC4035D-32AE-436E-B07D-7E9369C5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81750"/>
            <a:ext cx="3095625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28575">
            <a:solidFill>
              <a:srgbClr val="2F6F96"/>
            </a:solidFill>
            <a:prstDash val="dash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B2B0BED6-825A-450C-A007-4E65645F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6572250"/>
            <a:ext cx="619125" cy="619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1764B3FA-DEC7-4ECD-A42C-AD044525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858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B8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0EEB883D-281E-4CA1-BE99-21643598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8155" y="698117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C31CF3D0-8283-4A80-B5B1-7282F0FA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3380" y="705729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B8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D9272947-D141-4402-9370-A1E81565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3870" y="705729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699E047D-95CC-4B1D-B94D-A060D919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95" y="698117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B8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3F4B8B08-C713-4275-AF88-41814F36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6858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7B1CCB0B-CC5D-464D-901D-E41955F3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95" y="673483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B8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A5D7CE65-E4F2-48B1-B732-F078B59F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3870" y="6658706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092AB267-7766-4C11-98AD-D5441E66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3380" y="6658706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B8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4125CADE-F62F-490F-9549-D3DF132A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8155" y="673483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CADBDD42-FFDE-4C6F-A728-C3E525E2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7225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Condensate-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driver rank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79C93580-D9C9-44CD-815D-716FE092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718185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indirect prioritization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4FB99EA4-E32F-417F-9B89-C2469F25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009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E3EF"/>
          </a:solidFill>
          <a:ln xmlns:a="http://schemas.openxmlformats.org/drawingml/2006/main" w="9525">
            <a:solidFill>
              <a:srgbClr val="586672"/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0838928A-FDFC-4312-AF25-481A2B8E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7C68"/>
          </a:solidFill>
          <a:ln xmlns:a="http://schemas.openxmlformats.org/drawingml/2006/main" w="9525">
            <a:solidFill>
              <a:srgbClr val="586672"/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139A54D9-3482-4163-965D-478821DA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9575" y="21145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E4B8"/>
          </a:solidFill>
          <a:ln xmlns:a="http://schemas.openxmlformats.org/drawingml/2006/main" w="9525">
            <a:solidFill>
              <a:srgbClr val="586672"/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E37FF5BA-4C04-48EE-AE9A-060A7879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7625" y="2362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EF2"/>
          </a:solidFill>
          <a:ln xmlns:a="http://schemas.openxmlformats.org/drawingml/2006/main" w="9525">
            <a:solidFill>
              <a:srgbClr val="586672"/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D159A9A9-0EFD-490D-B989-BE90664C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1277600" y="1971675"/>
            <a:ext cx="361950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C05B73A5-13B4-4043-B295-6D3F3958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9550" y="1971675"/>
            <a:ext cx="2857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F558B208-58E3-4404-BA13-B763D780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1563350" y="2200275"/>
            <a:ext cx="36195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96"/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EC81EF2F-E71D-4793-9F85-E93F3395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2114550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66B00"/>
                </a:solidFill>
              </a:defRPr>
            </a:pPr>
            <a:r>
              <a:rPr sz="1650" b="1">
                <a:solidFill>
                  <a:srgbClr val="A66B00"/>
                </a:solidFill>
              </a:rPr>
              <a:t>e⁻</a:t>
            </a: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664EA6C3-439A-4F72-8CAE-C4AA1367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1752600"/>
            <a:ext cx="1009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redox +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electron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flow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38204162-14A4-4A25-905B-AEA1809A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1752600"/>
            <a:ext cx="942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Fe-S /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cofactor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handling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190DED2F-19F1-403C-B76E-5383EEA0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4200" y="1876425"/>
            <a:ext cx="3619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D6A1F"/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2CDD1C73-4456-4C0A-901A-DB89DA86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4554200" y="2181225"/>
            <a:ext cx="36195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D6A1F"/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4B524636-6A91-4BFD-9294-3E4F7693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14192250" y="2181225"/>
            <a:ext cx="36195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D6A1F"/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2842E2AD-547C-4B52-A969-7D3ED227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4192250" y="1876425"/>
            <a:ext cx="3619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D6A1F"/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529E7106-9329-410B-85A1-A05A5729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0" y="17811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84A"/>
          </a:solidFill>
          <a:ln xmlns:a="http://schemas.openxmlformats.org/drawingml/2006/main" w="11430">
            <a:solidFill>
              <a:srgbClr val="8D6A1F"/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F24883BF-743B-4359-B811-0B0B51F3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20859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323"/>
          </a:solidFill>
          <a:ln xmlns:a="http://schemas.openxmlformats.org/drawingml/2006/main" w="11430">
            <a:solidFill>
              <a:srgbClr val="8D6A1F"/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E943C4AD-1DFA-49BC-A969-7F81775A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0" y="24098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84A"/>
          </a:solidFill>
          <a:ln xmlns:a="http://schemas.openxmlformats.org/drawingml/2006/main" w="11430">
            <a:solidFill>
              <a:srgbClr val="8D6A1F"/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38D490FB-4FB8-491D-A16E-0A07FC65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20859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323"/>
          </a:solidFill>
          <a:ln xmlns:a="http://schemas.openxmlformats.org/drawingml/2006/main" w="11430">
            <a:solidFill>
              <a:srgbClr val="8D6A1F"/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9423276D-3A14-4952-A0CA-9673A90C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7525" y="21145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4C3B"/>
          </a:solidFill>
          <a:ln xmlns:a="http://schemas.openxmlformats.org/drawingml/2006/main" w="9525">
            <a:solidFill>
              <a:srgbClr val="5B4C3B"/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0752618F-D58B-468F-B7C1-05CF8568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54175" y="265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7323A"/>
                </a:solidFill>
              </a:defRPr>
            </a:pPr>
            <a:r>
              <a:rPr sz="1500" b="1">
                <a:solidFill>
                  <a:srgbClr val="27323A"/>
                </a:solidFill>
              </a:rPr>
              <a:t>Fe-S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2774C169-7272-40BE-9772-7A535037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8575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7"/>
          </a:solidFill>
          <a:ln xmlns:a="http://schemas.openxmlformats.org/drawingml/2006/main" w="28575">
            <a:solidFill>
              <a:srgbClr val="3B7D3B"/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B312E15C-6FC0-4996-84E5-69CB7B25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2571750"/>
            <a:ext cx="3714750" cy="3714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3B7D3B"/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4BE423B5-7EE9-4DF0-B342-06B06776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2505075"/>
            <a:ext cx="3848100" cy="3848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B7D3B"/>
            </a:solidFill>
            <a:prstDash val="dash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1CAC49BC-F657-490D-9992-39AF62CC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7625" y="308610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O₂ production ↔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nitrogenase O₂ sensitivity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9264AF14-7DDF-4693-9018-7BB603A6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39052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C34A"/>
          </a:solidFill>
          <a:ln xmlns:a="http://schemas.openxmlformats.org/drawingml/2006/main" w="11430">
            <a:solidFill>
              <a:srgbClr val="D89A20"/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F0EE26ED-35DD-44F9-86A0-A57D198A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53925" y="4076700"/>
            <a:ext cx="1047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8B7A1DEF-9C42-4242-A325-842A2EB0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3298" y="4191000"/>
            <a:ext cx="90738" cy="523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4769FA60-93D0-4C66-917B-17D3CE74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274673"/>
            <a:ext cx="52388" cy="907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343F62CD-BF99-4010-B326-14CDE27D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4305300"/>
            <a:ext cx="0" cy="104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FFEAE5F3-E4F1-44BF-80F5-768B5083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1958638" y="4274630"/>
            <a:ext cx="52388" cy="907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193BFC6F-3474-4EAA-9AF5-270A5089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1836622" y="4191000"/>
            <a:ext cx="90773" cy="523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701574D6-316D-4167-9B17-B6DEA332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1791950" y="4076700"/>
            <a:ext cx="1047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2F6ED7C4-055C-4445-9A98-7A058C42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11836622" y="3910013"/>
            <a:ext cx="90773" cy="523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9330B199-89A3-489F-B4D6-9A09E209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11958638" y="3787997"/>
            <a:ext cx="52388" cy="907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F9BF2273-9B80-45E1-BDF8-431BEF8C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125325" y="3743325"/>
            <a:ext cx="0" cy="104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5DD5FCAE-1C7B-413D-B560-144668DA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239625" y="3787997"/>
            <a:ext cx="52388" cy="907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8D68C07A-6F21-4750-ABBC-832CCEEA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323255" y="3910013"/>
            <a:ext cx="90773" cy="523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9A20"/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6835A800-10E3-4176-B547-F70348A0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4629150"/>
            <a:ext cx="476250" cy="19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B7D3B"/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37C1B988-48BC-4F6F-8943-FBE86D56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363450" y="4619625"/>
            <a:ext cx="381000" cy="28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B7D3B"/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142B208C-2160-467E-B9E7-D851C8C5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4724400"/>
            <a:ext cx="476250" cy="19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B7D3B"/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53A1C312-9324-4258-BD49-57EB2E6A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363450" y="4714875"/>
            <a:ext cx="381000" cy="28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B7D3B"/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EE54D18B-9827-45CA-84B1-92496564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4819650"/>
            <a:ext cx="476250" cy="19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B7D3B"/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B3215E83-A0CC-4E0D-9961-71ECC208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363450" y="4810125"/>
            <a:ext cx="381000" cy="28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B7D3B"/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C53B9504-98AD-423A-A862-7AB5E7EA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4914900"/>
            <a:ext cx="476250" cy="19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B7D3B"/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05200628-9323-47F4-850A-F768603B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363450" y="4905375"/>
            <a:ext cx="381000" cy="28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B7D3B"/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48302C37-4CD3-4189-8B77-730B7EAA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43338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7C68"/>
          </a:solidFill>
          <a:ln xmlns:a="http://schemas.openxmlformats.org/drawingml/2006/main" w="11430">
            <a:solidFill>
              <a:srgbClr val="B65447"/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A8316337-7653-4FF9-A507-312F3EA0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39102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A2C24"/>
                </a:solidFill>
              </a:defRPr>
            </a:pPr>
            <a:r>
              <a:rPr sz="1500" b="1">
                <a:solidFill>
                  <a:srgbClr val="7A2C24"/>
                </a:solidFill>
              </a:rPr>
              <a:t>O₂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C56F0DA2-3CF4-42E0-B516-334EE258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8125" y="502920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O₂-producing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photosynthesis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662B7BE2-1168-478F-A7D6-6CE87DB3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4476750"/>
            <a:ext cx="876300" cy="361950"/>
          </a:xfrm>
          <a:prstGeom xmlns:a="http://schemas.openxmlformats.org/drawingml/2006/main" prst="leftRightArrow">
            <a:avLst/>
          </a:prstGeom>
          <a:solidFill xmlns:a="http://schemas.openxmlformats.org/drawingml/2006/main">
            <a:srgbClr val="59636B"/>
          </a:solidFill>
          <a:ln xmlns:a="http://schemas.openxmlformats.org/drawingml/2006/main" w="0">
            <a:solidFill>
              <a:srgbClr val="59636B"/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3539A39F-076C-40E9-B94C-D0174168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4191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B8E8"/>
          </a:solidFill>
          <a:ln xmlns:a="http://schemas.openxmlformats.org/drawingml/2006/main" w="11430">
            <a:solidFill>
              <a:srgbClr val="3E6392"/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609D4F80-4A42-4A79-B09C-A0AFFABE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4625" y="43053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91CF"/>
          </a:solidFill>
          <a:ln xmlns:a="http://schemas.openxmlformats.org/drawingml/2006/main" w="11430">
            <a:solidFill>
              <a:srgbClr val="3E6392"/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57EB70F3-77ED-4E4E-AE14-14108B2A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45243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CC6E5"/>
          </a:solidFill>
          <a:ln xmlns:a="http://schemas.openxmlformats.org/drawingml/2006/main" w="11430">
            <a:solidFill>
              <a:srgbClr val="3E6392"/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766B9EFB-180D-42E8-BAD4-E3F5CEDA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46196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D7EC"/>
          </a:solidFill>
          <a:ln xmlns:a="http://schemas.openxmlformats.org/drawingml/2006/main" w="11430">
            <a:solidFill>
              <a:srgbClr val="3E6392"/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60010536-038E-4352-B80C-87AB78D5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N₂ → NH₃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90C5272E-6E62-42B4-82FF-25FD7ADE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5029200"/>
            <a:ext cx="147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O₂-sensitive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N₂ fixation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E3FE39A6-4527-45D2-8696-B9D9A841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39900" y="4743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7C68"/>
          </a:solidFill>
          <a:ln xmlns:a="http://schemas.openxmlformats.org/drawingml/2006/main" w="11430">
            <a:solidFill>
              <a:srgbClr val="B65447"/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5B8BF6C1-6832-4FFB-880D-2273BF47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4781550"/>
            <a:ext cx="361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A2C24"/>
                </a:solidFill>
              </a:defRPr>
            </a:pPr>
            <a:r>
              <a:rPr sz="1500" b="1">
                <a:solidFill>
                  <a:srgbClr val="7A2C24"/>
                </a:solidFill>
              </a:rPr>
              <a:t>O₂</a:t>
            </a: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59434421-0BD8-4E8B-9E9A-A69FECA9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14211300" y="4524375"/>
            <a:ext cx="171450" cy="180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02020"/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133412D4-4CB4-4766-B4AA-7EBD006E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4476750"/>
            <a:ext cx="9525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02020"/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5897A5D6-22B3-4485-807D-AB8513C9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8125" y="8039100"/>
            <a:ext cx="285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Model-Supported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accessory candidates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1FF26BEB-73B2-4919-98F9-57347182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2714625"/>
            <a:ext cx="276225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B7D3B"/>
            </a:solidFill>
            <a:prstDash val="dash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DCC34A00-F406-4AD5-8DFE-3D304A15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4154150" y="2714625"/>
            <a:ext cx="22860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B7D3B"/>
            </a:solidFill>
            <a:prstDash val="dash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58FC2B6C-594E-43F1-BFC8-928AF2FD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144375" y="5953125"/>
            <a:ext cx="314325" cy="447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B7D3B"/>
            </a:solidFill>
            <a:prstDash val="dash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DD63C9B3-FED7-48CF-99D2-77534D2C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13858875" y="5953125"/>
            <a:ext cx="285750" cy="428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B7D3B"/>
            </a:solidFill>
            <a:prstDash val="dash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94973667-5C35-4F3E-8052-72C6E1B7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2875" y="63246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D39A"/>
          </a:solidFill>
          <a:ln xmlns:a="http://schemas.openxmlformats.org/drawingml/2006/main" w="14288">
            <a:solidFill>
              <a:srgbClr val="B5791F"/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384CC54A-7196-48CE-97D4-BF8D8AF5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5775" y="63246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B64A"/>
          </a:solidFill>
          <a:ln xmlns:a="http://schemas.openxmlformats.org/drawingml/2006/main" w="14288">
            <a:solidFill>
              <a:srgbClr val="B5791F"/>
            </a:solidFill>
            <a:prstDash val="solid"/>
          </a:ln>
        </p:spPr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692CF0A9-B216-47CA-8418-E9187B53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63246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D39A"/>
          </a:solidFill>
          <a:ln xmlns:a="http://schemas.openxmlformats.org/drawingml/2006/main" w="14288">
            <a:solidFill>
              <a:srgbClr val="B5791F"/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30F5D991-13F6-4C9E-84B2-83F6C7A5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29375"/>
            <a:ext cx="133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5791F"/>
            </a:solidFill>
            <a:prstDash val="solid"/>
          </a:ln>
        </p:spPr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4E73B566-43DD-4037-A676-E4B4936E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6429375"/>
            <a:ext cx="133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5791F"/>
            </a:solidFill>
            <a:prstDash val="solid"/>
          </a:ln>
        </p:spPr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FE118F37-8EAF-4FEB-AFFE-79257EB0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6591300"/>
            <a:ext cx="1381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7323A"/>
                </a:solidFill>
              </a:defRPr>
            </a:pPr>
            <a:r>
              <a:rPr sz="1650" b="1">
                <a:solidFill>
                  <a:srgbClr val="27323A"/>
                </a:solidFill>
              </a:rPr>
              <a:t>C skeleton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16321E6D-A3DD-40E2-AF7F-0C13E719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7323A"/>
                </a:solidFill>
              </a:defRPr>
            </a:pPr>
            <a:r>
              <a:rPr sz="1650" b="1">
                <a:solidFill>
                  <a:srgbClr val="27323A"/>
                </a:solidFill>
              </a:rPr>
              <a:t>NH₃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7E84FF17-5839-41F4-BC18-D380F93E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6438900"/>
            <a:ext cx="3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86672"/>
            </a:solidFill>
            <a:prstDash val="solid"/>
          </a:ln>
        </p:spPr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E5C97438-5407-4E3F-A749-74691A7A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6896100"/>
            <a:ext cx="800100" cy="257175"/>
          </a:xfrm>
          <a:prstGeom xmlns:a="http://schemas.openxmlformats.org/drawingml/2006/main" prst="roundRect">
            <a:avLst>
              <a:gd name="adj" fmla="val 45161"/>
            </a:avLst>
          </a:prstGeom>
          <a:solidFill xmlns:a="http://schemas.openxmlformats.org/drawingml/2006/main">
            <a:srgbClr val="A9D99C"/>
          </a:solidFill>
          <a:ln xmlns:a="http://schemas.openxmlformats.org/drawingml/2006/main" w="14288">
            <a:solidFill>
              <a:srgbClr val="3B7D3B"/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7323A"/>
                </a:solidFill>
              </a:defRPr>
            </a:pPr>
            <a:r>
              <a:rPr sz="1500" b="1">
                <a:solidFill>
                  <a:srgbClr val="27323A"/>
                </a:solidFill>
              </a:rPr>
              <a:t>Gln / Glu</a:t>
            </a:r>
          </a:p>
        </p:txBody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62325FD1-0555-4BCB-AB29-B6DDA58E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7225" y="6781800"/>
            <a:ext cx="0" cy="57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86672"/>
            </a:solidFill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85A3A291-672A-44BF-8B85-D688F48A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7239000"/>
            <a:ext cx="16192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carbon +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fixed-N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metabolism</a:t>
            </a:r>
          </a:p>
        </p:txBody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D587CBA9-CACE-4752-BE6F-D7B60978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3811250" y="6715125"/>
            <a:ext cx="13335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97C68"/>
            </a:solidFill>
            <a:prstDash val="solid"/>
          </a:ln>
        </p:spPr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EA27056D-70AD-4F0D-BFDD-2E58117F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6715125"/>
            <a:ext cx="15240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97C68"/>
            </a:solidFill>
            <a:prstDash val="solid"/>
          </a:ln>
        </p:spPr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E99FC029-44E2-4542-95CC-B2C8C7FB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4097000" y="6696075"/>
            <a:ext cx="14287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97C68"/>
            </a:solidFill>
            <a:prstDash val="solid"/>
          </a:ln>
        </p:spPr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D5B211C2-DF80-49AB-87D1-FABFDDD7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75" y="6696075"/>
            <a:ext cx="142875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97C68"/>
            </a:solidFill>
            <a:prstDash val="solid"/>
          </a:ln>
        </p:spPr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3D4E4E97-9405-4C6E-BE5D-31B8ACB9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4220825" y="6867525"/>
            <a:ext cx="161925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97C68"/>
            </a:solidFill>
            <a:prstDash val="solid"/>
          </a:ln>
        </p:spPr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89E6A945-BC2E-42E5-BB29-B0893714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14039850" y="6943725"/>
            <a:ext cx="180975" cy="57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97C68"/>
            </a:solidFill>
            <a:prstDash val="solid"/>
          </a:ln>
        </p:spPr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8589259F-7A36-450C-8BA1-7F9453C4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3925550" y="6943725"/>
            <a:ext cx="11430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97C68"/>
            </a:solidFill>
            <a:prstDash val="solid"/>
          </a:ln>
        </p:spPr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6A9C5AA9-BBB5-4F39-99F2-3F2C81A6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4630400" y="6781800"/>
            <a:ext cx="0" cy="352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86672"/>
            </a:solidFill>
            <a:prstDash val="solid"/>
          </a:ln>
        </p:spPr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BA99DFA4-F365-4090-8E4D-9E32E362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4878050" y="6781800"/>
            <a:ext cx="0" cy="352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86672"/>
            </a:solidFill>
            <a:prstDash val="solid"/>
          </a:ln>
        </p:spPr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F0B9017C-587F-432A-90DD-25E0179F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6610350"/>
            <a:ext cx="247650" cy="2476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86672"/>
            </a:solidFill>
            <a:prstDash val="solid"/>
          </a:ln>
        </p:spPr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F8F4BA7E-153B-42C1-9D95-1EB60292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68389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86672"/>
            </a:solidFill>
            <a:prstDash val="solid"/>
          </a:ln>
        </p:spPr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F53BFEDB-0B59-4C11-ABB6-6B6EA3C4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69056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86672"/>
            </a:solidFill>
            <a:prstDash val="solid"/>
          </a:ln>
        </p:spPr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A5C665EF-C4B4-432B-8211-A15DC7FD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697230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86672"/>
            </a:solidFill>
            <a:prstDash val="solid"/>
          </a:ln>
        </p:spPr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77A61C58-EBC8-4CBB-897A-72876053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703897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86672"/>
            </a:solidFill>
            <a:prstDash val="solid"/>
          </a:ln>
        </p:spPr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A1F9C367-887D-4E47-A3C9-19429019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7448550"/>
            <a:ext cx="1762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protein / RNA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maintenance</a:t>
            </a:r>
          </a:p>
        </p:txBody>
      </p:sp>
      <p:sp>
        <p:nvSpPr>
          <p:cNvPr id="315" name="Training-fold evaluation branch">
            <a:extLst xmlns:a="http://schemas.openxmlformats.org/drawingml/2006/main">
              <a:ext uri="{FF2B5EF4-FFF2-40B4-BE49-F238E27FC236}">
                <a16:creationId xmlns:a16="http://schemas.microsoft.com/office/drawing/2014/main" id="{B1B36A17-53EC-4A0D-B650-9FBF5FA7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7200900"/>
            <a:ext cx="34480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1F7FA"/>
          </a:solidFill>
          <a:ln xmlns:a="http://schemas.openxmlformats.org/drawingml/2006/main" w="19050">
            <a:solidFill>
              <a:srgbClr val="26718C"/>
            </a:solidFill>
          </a:ln>
        </p:spPr>
      </p:sp>
      <p:sp>
        <p:nvSpPr>
          <p:cNvPr id="316" name="Evaluation heading">
            <a:extLst xmlns:a="http://schemas.openxmlformats.org/drawingml/2006/main">
              <a:ext uri="{FF2B5EF4-FFF2-40B4-BE49-F238E27FC236}">
                <a16:creationId xmlns:a16="http://schemas.microsoft.com/office/drawing/2014/main" id="{4C8E4384-50E9-4689-89C9-7CF93BCB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7258050"/>
            <a:ext cx="3257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93D4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93D4B"/>
                </a:solidFill>
                <a:latin typeface="Calibri"/>
                <a:ea typeface="Calibri"/>
                <a:cs typeface="Calibri"/>
              </a:rPr>
              <a:t>Primary evaluation</a:t>
            </a:r>
          </a:p>
        </p:txBody>
      </p:sp>
      <p:sp>
        <p:nvSpPr>
          <p:cNvPr id="317" name="Training-only filters">
            <a:extLst xmlns:a="http://schemas.openxmlformats.org/drawingml/2006/main">
              <a:ext uri="{FF2B5EF4-FFF2-40B4-BE49-F238E27FC236}">
                <a16:creationId xmlns:a16="http://schemas.microsoft.com/office/drawing/2014/main" id="{8E560F58-91E4-4C0B-A095-DB0B9C30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7572375"/>
            <a:ext cx="3257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93D4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93D4B"/>
                </a:solidFill>
                <a:latin typeface="Calibri"/>
                <a:ea typeface="Calibri"/>
                <a:cs typeface="Calibri"/>
              </a:rPr>
              <a:t>Stored-genus blocks</a:t>
            </a:r>
          </a:p>
          <a:p xmlns:a="http://schemas.openxmlformats.org/drawingml/2006/main">
            <a:pPr algn="ctr">
              <a:defRPr sz="1650" b="0">
                <a:solidFill>
                  <a:srgbClr val="193D4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93D4B"/>
                </a:solidFill>
                <a:latin typeface="Calibri"/>
                <a:ea typeface="Calibri"/>
                <a:cs typeface="Calibri"/>
              </a:rPr>
              <a:t>Training-fold filters</a:t>
            </a:r>
          </a:p>
        </p:txBody>
      </p:sp>
      <p:sp>
        <p:nvSpPr>
          <p:cNvPr id="318" name="Revised model performance">
            <a:extLst xmlns:a="http://schemas.openxmlformats.org/drawingml/2006/main">
              <a:ext uri="{FF2B5EF4-FFF2-40B4-BE49-F238E27FC236}">
                <a16:creationId xmlns:a16="http://schemas.microsoft.com/office/drawing/2014/main" id="{2CA748F4-14D7-4044-9FAA-3D42A02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8086725"/>
            <a:ext cx="3257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93D4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93D4B"/>
                </a:solidFill>
                <a:latin typeface="Calibri"/>
                <a:ea typeface="Calibri"/>
                <a:cs typeface="Calibri"/>
              </a:rPr>
              <a:t>ROC AUC 0.853–0.893</a:t>
            </a:r>
          </a:p>
        </p:txBody>
      </p:sp>
      <p:cxnSp>
        <p:nvCxnSpPr>
          <p:cNvPr id="641" name=""/>
          <p:cNvCxnSpPr>
            <a:stCxn xmlns:a="http://schemas.openxmlformats.org/drawingml/2006/main" id="138" idx="2"/>
            <a:endCxn xmlns:a="http://schemas.openxmlformats.org/drawingml/2006/main" id="315" idx="0"/>
          </p:cNvCxnSpPr>
          <p:nvPr/>
        </p:nvCxnSpPr>
        <p:spPr>
          <a:xfrm xmlns:a="http://schemas.openxmlformats.org/drawingml/2006/main" flipH="1">
            <a:off x="1971675" y="6934200"/>
            <a:ext cx="838200" cy="266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6718C"/>
            </a:solidFill>
            <a:tailEnd type="triangle" w="med" len="med"/>
          </a:ln>
        </p:spPr>
      </p:cxnSp>
      <p:sp>
        <p:nvSpPr>
          <p:cNvPr id="320" name="Proposed corrected shortlist">
            <a:extLst xmlns:a="http://schemas.openxmlformats.org/drawingml/2006/main">
              <a:ext uri="{FF2B5EF4-FFF2-40B4-BE49-F238E27FC236}">
                <a16:creationId xmlns:a16="http://schemas.microsoft.com/office/drawing/2014/main" id="{8BC9C4EC-669E-49EF-AA0D-42EC2D8B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7696200"/>
            <a:ext cx="3095625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F7FA"/>
          </a:solidFill>
          <a:ln xmlns:a="http://schemas.openxmlformats.org/drawingml/2006/main" w="19050">
            <a:solidFill>
              <a:srgbClr val="26718C"/>
            </a:solidFill>
          </a:ln>
        </p:spPr>
      </p:sp>
      <p:sp>
        <p:nvSpPr>
          <p:cNvPr id="321" name="Corrected shortlist count">
            <a:extLst xmlns:a="http://schemas.openxmlformats.org/drawingml/2006/main">
              <a:ext uri="{FF2B5EF4-FFF2-40B4-BE49-F238E27FC236}">
                <a16:creationId xmlns:a16="http://schemas.microsoft.com/office/drawing/2014/main" id="{364FF547-891C-4FBD-82F5-371BC9DB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7734300"/>
            <a:ext cx="2943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93D4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93D4B"/>
                </a:solidFill>
                <a:latin typeface="Calibri"/>
                <a:ea typeface="Calibri"/>
                <a:cs typeface="Calibri"/>
              </a:rPr>
              <a:t>Corrected shortlist: 167</a:t>
            </a:r>
          </a:p>
        </p:txBody>
      </p:sp>
      <p:sp>
        <p:nvSpPr>
          <p:cNvPr id="322" name="Corrected Tier A count">
            <a:extLst xmlns:a="http://schemas.openxmlformats.org/drawingml/2006/main">
              <a:ext uri="{FF2B5EF4-FFF2-40B4-BE49-F238E27FC236}">
                <a16:creationId xmlns:a16="http://schemas.microsoft.com/office/drawing/2014/main" id="{53DEC07B-A617-4604-897E-01638740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8001000"/>
            <a:ext cx="2943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93D4B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193D4B"/>
                </a:solidFill>
                <a:latin typeface="Calibri"/>
                <a:ea typeface="Calibri"/>
                <a:cs typeface="Calibri"/>
              </a:rPr>
              <a:t>22 Tier A</a:t>
            </a:r>
          </a:p>
        </p:txBody>
      </p:sp>
      <p:sp>
        <p:nvSpPr>
          <p:cNvPr id="323" name="Cross-atlas terms omitted">
            <a:extLst xmlns:a="http://schemas.openxmlformats.org/drawingml/2006/main">
              <a:ext uri="{FF2B5EF4-FFF2-40B4-BE49-F238E27FC236}">
                <a16:creationId xmlns:a16="http://schemas.microsoft.com/office/drawing/2014/main" id="{00C61495-1C22-4F87-B5EE-BE5EED27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8220075"/>
            <a:ext cx="29432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93D4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93D4B"/>
                </a:solidFill>
                <a:latin typeface="Calibri"/>
                <a:ea typeface="Calibri"/>
                <a:cs typeface="Calibri"/>
              </a:rPr>
              <a:t>Atlas ID + HGT omitted</a:t>
            </a:r>
          </a:p>
        </p:txBody>
      </p:sp>
    </p:spTree>
    <p:extLst>
      <p:ext uri="{BB962C8B-B14F-4D97-AF65-F5344CB8AC3E}">
        <p14:creationId xmlns:p14="http://schemas.microsoft.com/office/powerpoint/2010/main" val="13311952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2026-09-30T03:44:37.7550000Z</dcterms:created>
  <dcterms:modified xsi:type="dcterms:W3CDTF">2026-09-30T03:44:37.7560000Z</dcterms:modified>
</coreProperties>
</file>