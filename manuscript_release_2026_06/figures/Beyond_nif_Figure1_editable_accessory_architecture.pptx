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63f246f104620" /><Relationship Type="http://schemas.openxmlformats.org/officeDocument/2006/relationships/extended-properties" Target="/docProps/app.xml" Id="Raf272205dd3342a4" /><Relationship Type="http://schemas.openxmlformats.org/officeDocument/2006/relationships/officeDocument" Target="/ppt/presentation.xml" Id="R57e27d47fa4c46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fcfe4edb04889"/>
  </p:sldMasterIdLst>
  <p:notesMasterIdLst>
    <p:notesMasterId xmlns:r="http://schemas.openxmlformats.org/officeDocument/2006/relationships" r:id="R1672a4df2e1e42a6"/>
  </p:notesMasterIdLst>
  <p:sldIdLst>
    <p:sldId xmlns:r="http://schemas.openxmlformats.org/officeDocument/2006/relationships" id="256" r:id="Rc4486895d1714c48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82bbc3025445db" /><Relationship Type="http://schemas.openxmlformats.org/officeDocument/2006/relationships/slideMaster" Target="/ppt/slideMasters/slideMaster1.xml" Id="Rd5efcfe4edb04889" /><Relationship Type="http://schemas.openxmlformats.org/officeDocument/2006/relationships/notesMaster" Target="/ppt/notesMasters/notesMaster1.xml" Id="R1672a4df2e1e42a6" /><Relationship Type="http://schemas.openxmlformats.org/officeDocument/2006/relationships/presProps" Target="/ppt/presProps.xml" Id="Rea45093ac1e1476b" /><Relationship Type="http://schemas.openxmlformats.org/officeDocument/2006/relationships/tableStyles" Target="/ppt/tableStyles.xml" Id="R0fb5eec884694957" /><Relationship Type="http://schemas.openxmlformats.org/officeDocument/2006/relationships/slide" Target="/ppt/slides/slide1.xml" Id="Rc4486895d171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b24155fe1e4b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da1a925aa4b46" /><Relationship Type="http://schemas.openxmlformats.org/officeDocument/2006/relationships/notesMaster" Target="/ppt/notesMasters/notesMaster1.xml" Id="Rbb7c64520bcd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2b2446ac3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2d8ecb7bf496a" /><Relationship Type="http://schemas.openxmlformats.org/officeDocument/2006/relationships/slideLayout" Target="/ppt/slideLayouts/slideLayout1.xml" Id="Rbde2a10b4825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2a10b4825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e2e11dd864266" /><Relationship Type="http://schemas.openxmlformats.org/officeDocument/2006/relationships/notesSlide" Target="/ppt/notesSlides/notesSlide1.xml" Id="R1829c75618c64d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Primary RefSeq-filtered&#10;protein-family atlas">
            <a:extLst xmlns:a="http://schemas.openxmlformats.org/drawingml/2006/main">
              <a:ext uri="{FF2B5EF4-FFF2-40B4-BE49-F238E27FC236}">
                <a16:creationId xmlns:a16="http://schemas.microsoft.com/office/drawing/2014/main" id="{9ABAAD4C-60E9-441A-A0F9-4B5D30D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2450"/>
            <a:ext cx="3286125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9BAF"/>
          </a:solidFill>
          <a:ln xmlns:a="http://schemas.openxmlformats.org/drawingml/2006/main" w="19050">
            <a:solidFill>
              <a:srgbClr val="B8CF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75A88-AC0E-4A87-BCBE-FF3D755E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81050"/>
            <a:ext cx="2771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Primary RefSeq-filtered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protein-family atlas</a:t>
            </a:r>
          </a:p>
        </p:txBody>
      </p:sp>
      <p:sp>
        <p:nvSpPr>
          <p:cNvPr id="3" name="header-Two non-overlapping&#10;candidate inventories">
            <a:extLst xmlns:a="http://schemas.openxmlformats.org/drawingml/2006/main">
              <a:ext uri="{FF2B5EF4-FFF2-40B4-BE49-F238E27FC236}">
                <a16:creationId xmlns:a16="http://schemas.microsoft.com/office/drawing/2014/main" id="{9C610B79-7768-4B24-AC65-3FE9FAF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3190875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8299"/>
          </a:solidFill>
          <a:ln xmlns:a="http://schemas.openxmlformats.org/drawingml/2006/main" w="19050">
            <a:solidFill>
              <a:srgbClr val="B8CF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44C52-DE42-4652-AD47-DD31E92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781050"/>
            <a:ext cx="2676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Two non-overlapping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candidate inventories</a:t>
            </a:r>
          </a:p>
        </p:txBody>
      </p:sp>
      <p:sp>
        <p:nvSpPr>
          <p:cNvPr id="5" name="header-Concordance and&#10;prioritization layers">
            <a:extLst xmlns:a="http://schemas.openxmlformats.org/drawingml/2006/main">
              <a:ext uri="{FF2B5EF4-FFF2-40B4-BE49-F238E27FC236}">
                <a16:creationId xmlns:a16="http://schemas.microsoft.com/office/drawing/2014/main" id="{93B8353D-1BF5-40BC-9EA3-73A814E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"/>
            <a:ext cx="3286125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F98"/>
          </a:solidFill>
          <a:ln xmlns:a="http://schemas.openxmlformats.org/drawingml/2006/main" w="19050">
            <a:solidFill>
              <a:srgbClr val="B8CF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FE37B-8D38-4C71-A785-26FA7E5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1050"/>
            <a:ext cx="2771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Concordance and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prioritization layers</a:t>
            </a:r>
          </a:p>
        </p:txBody>
      </p:sp>
      <p:sp>
        <p:nvSpPr>
          <p:cNvPr id="7" name="header-Prioritized candidate&#10;accessory themes">
            <a:extLst xmlns:a="http://schemas.openxmlformats.org/drawingml/2006/main">
              <a:ext uri="{FF2B5EF4-FFF2-40B4-BE49-F238E27FC236}">
                <a16:creationId xmlns:a16="http://schemas.microsoft.com/office/drawing/2014/main" id="{61F836BC-8B6D-45E2-96EA-8069422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3857625" cy="1028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6383"/>
          </a:solidFill>
          <a:ln xmlns:a="http://schemas.openxmlformats.org/drawingml/2006/main" w="19050">
            <a:solidFill>
              <a:srgbClr val="B8CF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C5F32-F9B3-4F2F-B1E0-9F69EE4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81050"/>
            <a:ext cx="33432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Prioritized candidate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accessory themes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8D3C7-259C-46DE-AF8D-A47FE79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5151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20040-1C1B-4132-AF04-CFA0426A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3120"/>
            <a:ext cx="651510" cy="197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B5ABA-A73E-43F1-B0D7-B33D57A8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7418"/>
            <a:ext cx="65151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6EE9A-39D2-401D-A7E8-AEFE8C86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3" y="2180273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E7533-0192-4179-9B5C-E774556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0288"/>
            <a:ext cx="651510" cy="197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46639-5F5F-4A52-B2C7-DF389B1C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4585"/>
            <a:ext cx="65151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0625B-1BF2-4A4B-A404-07EA2E17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3" y="2377440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488AE-C258-4387-801E-3F60E62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7455"/>
            <a:ext cx="651510" cy="197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00D80-A4DF-4AFC-9B48-04E0053C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1752"/>
            <a:ext cx="65151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48083-3C70-4554-82A2-D6FEF1E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3" y="2574608"/>
            <a:ext cx="42863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50694-5618-4E33-8819-2523D19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383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426 complete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RefSeq genomes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145D1-6670-48EF-8D49-154F22C4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143000" cy="114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AEDE8-1AFD-4919-9DFA-25ABC720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305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C50F9-3ED3-4B37-AEA3-082A1A7C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EA6A7-FC14-4CAB-9BBC-33FEFD8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93" y="440454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60A0C-8FCC-443D-B8BC-D3D22CCB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09" y="45007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83E8C-1953-427F-A9D3-4F72E09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609" y="459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D51E6-B562-43A9-ABB9-43458219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494934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86AE5-958F-4336-8E98-7266EC1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469" y="467265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4F0BBD-3AF0-465C-B3B8-94688019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028" y="47430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19163-169F-474C-B090-9EF553CF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0023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46728-EBED-493C-A39A-A33F878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285750" cy="4949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9E3EDA-C35A-4106-8235-93296E23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40" y="484233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B54B03-063D-4CA1-B51D-47A99ACC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15" y="486811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87D8E5-01EA-4AF1-89CC-B40AF1E0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76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D5D334-EC03-443A-9C10-73B1478A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8FDC96-37CA-4553-A807-76F4710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435" y="486811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7C838-0F7C-4DC6-B8B5-0FC0E729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10" y="484233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935C7A-1CF2-4E4E-97B2-0109249E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0023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84A42-3ECA-4133-BEB2-10A727C4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-285750" cy="4949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D394F-F7AB-4686-841F-92F8633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2" y="47430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7C9453-C8BB-4459-95DE-CD294C5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81" y="467265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7E1237-AE8A-4574-A597-17C384D4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41" y="459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D41A94-5ED4-4139-AE99-597F617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-494934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3DB1A5-6285-487E-826E-D3569790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41" y="45007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AE2C80-AF21-47FE-8FED-07457B9F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57" y="440454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00C94B-DC45-48E4-B8A0-AF7CDCE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05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71519B-9A53-43E8-81C4-AC11F728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-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E04EA5-3CC5-465F-AB33-5686220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57" y="420606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D97A8E-AF09-48A5-953A-FFD3BAA0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41" y="410983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D130CE-5CE1-46F5-85F8-F9BB04CD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41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2E33F9-F42E-4BD6-A9E8-00B16EFF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-494934" cy="-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11C75D-37BB-4731-B081-BBD62AB6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81" y="393794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87EC02-4AF1-43EE-B27A-0A66764C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2" y="38675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491B75-F286-4A92-BC47-51642B93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103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202A42-CD3D-460D-B36B-84FBE441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-285750" cy="-4949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9EA706-A4D3-46FA-AB81-C0BE0C85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10" y="37682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16549E-E049-4364-BAAF-E847805B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435" y="37424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B27CE4-DB26-4490-ABB7-91AD6BFE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33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9B0B3A-FBE9-42A4-8792-680FC82B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0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6BFB5A-5285-4A55-B86E-42FEA44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15" y="37424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9A5C05-1A8A-427B-AF42-E6E85A7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40" y="37682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217CDC-D24B-46DC-A68D-A9AACA2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103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978DCA-3919-4555-81B2-94F38131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285750" cy="-4949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3EDF4C-B2D6-4C76-A5E8-CB774E02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028" y="38675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84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2147AC-1F04-4B52-A919-12E1FB8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469" y="393794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666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89B450-0FC1-4BAB-A15B-E75270FB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609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232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593FC9-0034-43BC-B024-5B482FD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494934" cy="-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B0B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D1E0F5-5870-4265-A95C-F6810BE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09" y="410983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A5A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F9ADCE-1C37-4E21-8F63-A1802423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93" y="420606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CC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EDF878-BFEF-4316-A3A5-EB8E397D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254367" cy="93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C804C2-86D7-4090-A363-2E939AD1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39" y="4381500"/>
            <a:ext cx="173448" cy="208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D63EBD-E464-4634-A54B-4537E0A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16364"/>
            <a:ext cx="46055" cy="267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103918-4AF9-42CF-8E23-B2796A0D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-93680" cy="2543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0D543B-6448-412B-9ECD-BD9FA790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16364"/>
            <a:ext cx="-208312" cy="173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EC8551-1962-4864-8B66-E3D33509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61" y="4381500"/>
            <a:ext cx="-267128" cy="460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CC30AB-764D-4D21-BD4F-9B589D32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-254367" cy="-93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8DCC08B-2F23-470E-B451-9BEBEBF8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61" y="4286250"/>
            <a:ext cx="-173448" cy="-208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0AB4F75-905E-4528-AA0C-CA82828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51386"/>
            <a:ext cx="-46055" cy="-267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3383A5-49F7-4B86-866F-B6ED1388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93680" cy="-2543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7043DC-62F3-4421-A208-2EF4F20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51386"/>
            <a:ext cx="208312" cy="-173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C926BD-2D58-47FD-BA38-2C07C550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39" y="4286250"/>
            <a:ext cx="267128" cy="-460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B7C8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DFD9AB-17FC-4C91-ABD7-E8B49073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24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nifHDK-based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diazotrophy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labels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67F647-F836-495D-B92F-8A92CFAF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B486FAD-8C28-4F7D-9AD6-CA2E46A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764741D-DB5F-4CBA-BC4C-E3D037ED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955C1E-B3A6-4098-BCA1-89E1C02A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11136C-90B1-4F0B-97C4-42917049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BDAAD0-5EFD-4F53-8F74-CAE3922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364784-789D-4911-9612-0B9DDEE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D514474-969D-47CA-8D2B-84907D8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BFA623-6A4E-44C9-BC80-0A88526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DDAD6E-81DA-4844-BBB7-76350BA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5D8CB4A-5859-4728-B184-5C9975D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E875B3-7A46-452D-98D7-F19844F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67DEB1-E9DD-48C4-89B4-EE0DCD16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D5C4FF-6B6A-40A5-882D-0C826512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0884F9-4721-4BC8-96AA-15B782C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E6DAA5-0EED-454C-9AF0-D243B92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38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C7FFB5-3099-4D0B-9266-E47F2206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9593E1-652C-4A6D-AF56-53D0102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AA2E06C-843E-49F8-BD7B-12840F20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F49B90C-5DE9-459E-8ED2-5064257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7AAD5C-0E6C-407F-9E1F-F8D14292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9322826-8094-4985-9AFC-F2939B7A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3BA9172-BC1A-4F78-ADDC-D3C799D7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C4061B7-1F39-4332-957C-22F3AC9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81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E134B6-2EB2-40E3-BD60-2F3F862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A0BFEA-4920-4F53-8F75-18FA719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A3256B5-4D1B-4CFA-9048-17F0386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CC3686-ED4D-4174-A0A2-53A95C6C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2945739-AFF8-4AA0-8AF4-4B346969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721C12E-70AE-4356-8ED4-2C822ED3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46C6BE2-A640-4A43-B6B3-9D4797AC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85C8AB4-C8F3-40B8-B453-926D0EEE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419B067-8AF0-4A2E-BF5F-10931BF4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6AB64D-3597-4EE9-A488-7F8F2DE0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07D962-7790-422D-A763-4B95132B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C28F73-6B62-4013-BDF3-A72B89C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BCDE4C-3813-4E95-AF08-D3B3BA7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D5A06C2-CE72-4FB4-9A21-F94FD6B5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F62EFFC-F209-45EB-8F04-9F47AAAD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A8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D406FCF-387A-4700-A1F9-FD3D033A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4C9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5CE6866-29DC-41F8-95A4-B26C67D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A9C504-8F36-445B-81F5-54B9C0AA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53954B5-2084-4CFE-96A9-A941B095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17A27B5-D10F-4767-A116-571E3D15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9FFE378-DF9F-4FDE-8899-261F34AE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75213E-B930-4DF1-B406-079833A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D6BE679-16AF-451F-9FD0-193D4942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47D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F0E8839-C549-4078-BC07-21384AE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10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5C6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FBAE660-2B6A-4854-87C8-01567B2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F321676-7D16-417C-A293-119C9FF7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263FA0-A79E-45E2-9B16-95B4F6D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F385CDE-8DB8-4997-B62E-3C8F8DA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8B58ADC-977B-4E78-9608-54FBB34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D47C228-E7E2-4708-8CBF-05B92FF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799F2CC-4FE8-4032-A91F-C8F2396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DC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5869846-7943-4B9C-A8D6-C490C948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9532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4763">
            <a:solidFill>
              <a:srgbClr val="EEF3F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6958BAF-670F-4324-A94C-800373A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769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MMseqs2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protein-family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matrix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6CEB1A2-9834-445D-A5A8-A2E0B16E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3095625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A9D99C"/>
          </a:solidFill>
          <a:ln xmlns:a="http://schemas.openxmlformats.org/drawingml/2006/main" w="28575">
            <a:solidFill>
              <a:srgbClr val="3B7D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72F1DEC-E029-4A4A-908E-F7430372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Highly Pure: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77600E4-4B08-4A3A-9684-0C563FC7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nif / near-core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diazotrophy context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DFF4425-3BD6-4BF6-867D-374AE6EB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735" y="3639503"/>
            <a:ext cx="13844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8E7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926DF58-BF06-4398-830A-52036F1B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43853" cy="21717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9A78"/>
          </a:solidFill>
          <a:ln xmlns:a="http://schemas.openxmlformats.org/drawingml/2006/main" w="9525">
            <a:solidFill>
              <a:srgbClr val="0E4F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6" b="1" i="1">
                <a:solidFill>
                  <a:srgbClr val="FFFFFF"/>
                </a:solidFill>
              </a:defRPr>
            </a:pPr>
            <a:r>
              <a:rPr sz="606" b="1" i="1">
                <a:solidFill>
                  <a:srgbClr val="FFFFFF"/>
                </a:solidFill>
              </a:rPr>
              <a:t>nifH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C0ADA1C-90D1-4416-B22E-52F25EE1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173" y="3476625"/>
            <a:ext cx="343853" cy="21717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B74"/>
          </a:solidFill>
          <a:ln xmlns:a="http://schemas.openxmlformats.org/drawingml/2006/main" w="9525">
            <a:solidFill>
              <a:srgbClr val="0E4F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6" b="1" i="1">
                <a:solidFill>
                  <a:srgbClr val="FFFFFF"/>
                </a:solidFill>
              </a:defRPr>
            </a:pPr>
            <a:r>
              <a:rPr sz="606" b="1" i="1">
                <a:solidFill>
                  <a:srgbClr val="FFFFFF"/>
                </a:solidFill>
              </a:rPr>
              <a:t>nifD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AB77CDF-0802-4269-889F-FDA8914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3476625"/>
            <a:ext cx="343853" cy="21717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9A78"/>
          </a:solidFill>
          <a:ln xmlns:a="http://schemas.openxmlformats.org/drawingml/2006/main" w="9525">
            <a:solidFill>
              <a:srgbClr val="0E4F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6" b="1" i="1">
                <a:solidFill>
                  <a:srgbClr val="FFFFFF"/>
                </a:solidFill>
              </a:defRPr>
            </a:pPr>
            <a:r>
              <a:rPr sz="606" b="1" i="1">
                <a:solidFill>
                  <a:srgbClr val="FFFFFF"/>
                </a:solidFill>
              </a:rPr>
              <a:t>nifK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017283E-554C-497C-910F-A1D8326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322796"/>
            <a:ext cx="615315" cy="6153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B7D3B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11AB1D8-4A5A-4356-BC82-CAB1602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389" y="3476625"/>
            <a:ext cx="307658" cy="3076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7D3B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F6C9E3B-FD5B-479B-A08E-6C326B3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876" y="3567113"/>
            <a:ext cx="126682" cy="12668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7D3B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B814B34-28C4-4EE2-9C83-330697F6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218" y="3259455"/>
            <a:ext cx="0" cy="7419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7D3B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A62533F-E18B-4310-83DC-EB66881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219" y="3630454"/>
            <a:ext cx="7419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B7D3B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833C40C-90E8-4325-A43C-B51A417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52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672"/>
                </a:solidFill>
              </a:defRPr>
            </a:pPr>
            <a:r>
              <a:rPr sz="1800" b="0">
                <a:solidFill>
                  <a:srgbClr val="586672"/>
                </a:solidFill>
              </a:rPr>
              <a:t>981 families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F52C7EC-5BE6-40EE-8234-6B78988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3095625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2C964"/>
          </a:solidFill>
          <a:ln xmlns:a="http://schemas.openxmlformats.org/drawingml/2006/main" w="28575">
            <a:solidFill>
              <a:srgbClr val="A66B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0025743-B3B1-4B76-A0CC-44585746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Model-Supported: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BA6A340-2BD4-4633-ACA9-E6E3963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19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accessory candidate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families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5AE0640-2FBB-4820-8EFA-F870FFA1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77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672"/>
                </a:solidFill>
              </a:defRPr>
            </a:pPr>
            <a:r>
              <a:rPr sz="1800" b="0">
                <a:solidFill>
                  <a:srgbClr val="586672"/>
                </a:solidFill>
              </a:rPr>
              <a:t>476 families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1F5B33A-0B76-4FD5-8ECE-AB2393E6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157913"/>
            <a:ext cx="250031" cy="-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36D35CC-7FAD-4E70-9578-FB6C9852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231" y="6015038"/>
            <a:ext cx="264319" cy="-71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FF5B1E8-8E88-4D5E-906A-4E39CDD7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21431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8F65B05-97A7-489E-A916-33F87D56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6200775"/>
            <a:ext cx="-242887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33A5C02-C8D2-47EA-8522-DB48218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6415088"/>
            <a:ext cx="-300037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07BC661-A1A1-4536-93BB-33B33319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6357938"/>
            <a:ext cx="-185737" cy="-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5205C32-8DE7-4E4A-9E23-3101B66C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231" y="6015038"/>
            <a:ext cx="-64294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A038915-9FBB-47E0-A4FF-0300B2D4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-28575" cy="471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EAADF29-627B-472E-8507-172B5594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3BA04E8-4FC1-44AB-A37B-66DA45DA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6200775"/>
            <a:ext cx="42863" cy="-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98892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89CAA1C-CCD1-4387-AF66-E3C73B7C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763" y="6086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64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B4DD80E-368F-4FBE-9CB5-F22FB318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794" y="5943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A7A7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A9F5729-37EE-4EFB-9FB2-87CAC17B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587216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B8F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C84EE76-5397-4200-B873-CB0ABF7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1293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354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44F6B5E-CEAC-4BF7-8B4E-25AED6A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6343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99C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3661A42-3478-4726-BF4C-7040FD1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865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6F7D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A56BB41-D013-437A-ACB4-3AEFD85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288" y="587216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C76A"/>
          </a:solidFill>
          <a:ln xmlns:a="http://schemas.openxmlformats.org/drawingml/2006/main" w="11430">
            <a:solidFill>
              <a:srgbClr val="586672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253B60D-36F7-4888-AAAB-F7544A0C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393656"/>
            <a:ext cx="0" cy="-500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86672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10B737E-E569-4890-AA42-53722F9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437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672"/>
                </a:solidFill>
              </a:defRPr>
            </a:pPr>
            <a:r>
              <a:rPr sz="1275" b="0">
                <a:solidFill>
                  <a:srgbClr val="586672"/>
                </a:solidFill>
              </a:rPr>
              <a:t>Near-diagnostic markers separated</a:t>
            </a:r>
          </a:p>
          <a:p xmlns:a="http://schemas.openxmlformats.org/drawingml/2006/main">
            <a:pPr algn="ctr">
              <a:defRPr sz="1275" b="0">
                <a:solidFill>
                  <a:srgbClr val="586672"/>
                </a:solidFill>
              </a:defRPr>
            </a:pPr>
            <a:r>
              <a:rPr sz="1275" b="0">
                <a:solidFill>
                  <a:srgbClr val="586672"/>
                </a:solidFill>
              </a:rPr>
              <a:t>from residual accessory signal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B024011-A9A3-451A-80E6-86BACEF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095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28575">
            <a:solidFill>
              <a:srgbClr val="2F6F96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BFCC2A1-54FC-46D8-BAF4-4D58235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325755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98C0E6F-371B-459F-B2E2-DFC78C1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9810"/>
            <a:ext cx="325755" cy="98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8AF986A-44AD-4C8B-A869-E22502D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6959"/>
            <a:ext cx="325755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17F6BD5-89B3-4DD4-920D-7E73A274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336" y="2328386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D67AE9C-E392-4CC1-BF0E-55265F57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8394"/>
            <a:ext cx="325755" cy="98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2A5FA8C-0F54-471A-847F-28A44C89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35543"/>
            <a:ext cx="325755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DA773C1-BAA6-49A6-B077-62D354CD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336" y="2426970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4B782BF-F702-4225-86AD-02BC0C32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978"/>
            <a:ext cx="325755" cy="98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122E6F2-93EF-41CF-A80A-616CFF5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34126"/>
            <a:ext cx="325755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9C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64C4F9F-E439-4211-8128-24BBFBD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336" y="2525554"/>
            <a:ext cx="21431" cy="21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B1CB0AC-DDE9-4AD3-A07A-2487DDCE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62200"/>
            <a:ext cx="3333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E627E05-3C03-4697-A344-372C3481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38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96"/>
                </a:solidFill>
              </a:defRPr>
            </a:pPr>
            <a:r>
              <a:rPr sz="825" b="1">
                <a:solidFill>
                  <a:srgbClr val="2F6F96"/>
                </a:solidFill>
              </a:rPr>
              <a:t>DNA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1843669-3CA7-4623-8ACA-01DD206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Related protein-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family atlas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222CF70-FC86-4027-A15D-86BE3F4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product/function concordance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684DD86-6902-432C-93C8-BFED45B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30956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28575">
            <a:solidFill>
              <a:srgbClr val="2F6F96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CE97D15-E770-4A0F-B4BA-4C19159A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67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88EB7B3-2BDA-4560-93CC-6819B33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67200"/>
            <a:ext cx="0" cy="-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9573E1D-7940-4663-BA0C-2E27F43A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F91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B911297-2156-4917-980E-5EA507E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C8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105C98D-0108-45E0-8CAF-432F222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576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CF91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F78182F-413F-4228-8AB6-90BD2E88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C8"/>
          </a:solidFill>
          <a:ln xmlns:a="http://schemas.openxmlformats.org/drawingml/2006/main" w="9525">
            <a:solidFill>
              <a:srgbClr val="2F6F96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9036BA0-CDBB-4EBC-A884-930FFF7B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190500" cy="-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F96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570F2EB-D3FB-49D4-8E58-69FF67C6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095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F96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886EC86-A1E5-4138-A1F4-AF09119F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67175"/>
            <a:ext cx="180975" cy="-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6F96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910A2B9-0FA4-44B2-AF2D-210C5FF7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External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active-phase-up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proteomics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C906C90-AFA6-430E-A9DE-C7D9B96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up in nitrogen-fixation-relevant states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A167D6F-FD09-4DDB-A033-E50DC44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30956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28575">
            <a:solidFill>
              <a:srgbClr val="2F6F96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CD6C1B2-E1B7-42A4-BB0E-8DD2F0AB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95875"/>
            <a:ext cx="495300" cy="6477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AFC"/>
          </a:solidFill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EE12B6E-63E9-4F1F-9DE4-A433229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673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7A3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36E079F-C773-4BDC-A696-7F107232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00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7A3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2DE8450-13B3-41DD-88D9-84CF5AA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340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7A3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25827CD-0B63-4D32-9DAF-144F57C1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67350"/>
            <a:ext cx="257175" cy="257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6F96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8E26517-D8F4-49A0-BBC8-A015C884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67375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F96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04D42C8-C1AF-415E-A3CD-135E73E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1952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Morphotype-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breadth proxy /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annotation review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BC4035D-32AE-436E-B07D-7E9369C5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381750"/>
            <a:ext cx="3095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8FC"/>
          </a:solidFill>
          <a:ln xmlns:a="http://schemas.openxmlformats.org/drawingml/2006/main" w="28575">
            <a:solidFill>
              <a:srgbClr val="2F6F96"/>
            </a:solidFill>
            <a:prstDash val="dash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2B0BED6-825A-450C-A007-4E65645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572250"/>
            <a:ext cx="619125" cy="619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764B3FA-DEC7-4ECD-A42C-AD044525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858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EEB883D-281E-4CA1-BE99-21643598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55" y="69811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31CF3D0-8283-4A80-B5B1-7282F0FA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380" y="70572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9272947-D141-4402-9370-A1E81565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870" y="70572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99E047D-95CC-4B1D-B94D-A060D919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95" y="69811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F4B8B08-C713-4275-AF88-41814F36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858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B1CCB0B-CC5D-464D-901D-E41955F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95" y="67348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5D7CE65-E4F2-48B1-B732-F078B59F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870" y="66587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92AB267-7766-4C11-98AD-D5441E66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380" y="66587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B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125CADE-F62F-490F-9549-D3DF132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155" y="67348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ADBDD42-FFDE-4C6F-A728-C3E525E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198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Condensate-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driver rank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9C93580-D9C9-44CD-815D-716FE092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162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</a:defRPr>
            </a:pPr>
            <a:r>
              <a:rPr sz="1050" b="0">
                <a:solidFill>
                  <a:srgbClr val="000000"/>
                </a:solidFill>
              </a:rPr>
              <a:t>indirect prioritization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FB99EA4-E32F-417F-9B89-C2469F25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009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3EF"/>
          </a:solidFill>
          <a:ln xmlns:a="http://schemas.openxmlformats.org/drawingml/2006/main" w="9525">
            <a:solidFill>
              <a:srgbClr val="586672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838928A-FDFC-4312-AF25-481A2B8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1885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C68"/>
          </a:solidFill>
          <a:ln xmlns:a="http://schemas.openxmlformats.org/drawingml/2006/main" w="9525">
            <a:solidFill>
              <a:srgbClr val="586672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39A54D9-3482-4163-965D-478821DA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E4B8"/>
          </a:solidFill>
          <a:ln xmlns:a="http://schemas.openxmlformats.org/drawingml/2006/main" w="9525">
            <a:solidFill>
              <a:srgbClr val="586672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37FF5BA-4C04-48EE-AE9A-060A787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362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EF2"/>
          </a:solidFill>
          <a:ln xmlns:a="http://schemas.openxmlformats.org/drawingml/2006/main" w="9525">
            <a:solidFill>
              <a:srgbClr val="586672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159A9A9-0EFD-490D-B989-BE90664C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095500"/>
            <a:ext cx="361950" cy="-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05B73A5-13B4-4043-B295-6D3F3958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971675"/>
            <a:ext cx="2857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558B208-58E3-4404-BA13-B763D780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200275"/>
            <a:ext cx="-3619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6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C81EF2F-E71D-4793-9F85-E93F339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114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6B00"/>
                </a:solidFill>
              </a:defRPr>
            </a:pPr>
            <a:r>
              <a:rPr sz="1350" b="1">
                <a:solidFill>
                  <a:srgbClr val="A66B00"/>
                </a:solidFill>
              </a:rPr>
              <a:t>e⁻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64EA6C3-439A-4F72-8CAE-C4AA1367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95262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redox +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electron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flow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8204162-14A4-4A25-905B-AEA1809A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9526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Fe-S /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cofactor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handling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90DED2F-19F1-403C-B76E-5383EEA0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876425"/>
            <a:ext cx="3619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A1F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CDD1C73-4456-4C0A-901A-DB89DA86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2181225"/>
            <a:ext cx="-3619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A1F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B524636-6A91-4BFD-9294-3E4F769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505075"/>
            <a:ext cx="-361950" cy="-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A1F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842E2AD-547C-4B52-A969-7D3ED227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181225"/>
            <a:ext cx="361950" cy="-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A1F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29E7106-9329-410B-85A1-A05A5729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1781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84A"/>
          </a:solidFill>
          <a:ln xmlns:a="http://schemas.openxmlformats.org/drawingml/2006/main" w="11430">
            <a:solidFill>
              <a:srgbClr val="8D6A1F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24883BF-743B-4359-B811-0B0B51F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2085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323"/>
          </a:solidFill>
          <a:ln xmlns:a="http://schemas.openxmlformats.org/drawingml/2006/main" w="11430">
            <a:solidFill>
              <a:srgbClr val="8D6A1F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943C4AD-1DFA-49BC-A969-7F81775A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2409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84A"/>
          </a:solidFill>
          <a:ln xmlns:a="http://schemas.openxmlformats.org/drawingml/2006/main" w="11430">
            <a:solidFill>
              <a:srgbClr val="8D6A1F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8D490FB-4FB8-491D-A16E-0A07FC65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085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323"/>
          </a:solidFill>
          <a:ln xmlns:a="http://schemas.openxmlformats.org/drawingml/2006/main" w="11430">
            <a:solidFill>
              <a:srgbClr val="8D6A1F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423276D-3A14-4952-A0CA-9673A90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211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C3B"/>
          </a:solidFill>
          <a:ln xmlns:a="http://schemas.openxmlformats.org/drawingml/2006/main" w="9525">
            <a:solidFill>
              <a:srgbClr val="5B4C3B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752618F-D58B-468F-B7C1-05CF856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75" y="20859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323A"/>
                </a:solidFill>
              </a:defRPr>
            </a:pPr>
            <a:r>
              <a:rPr sz="900" b="1">
                <a:solidFill>
                  <a:srgbClr val="27323A"/>
                </a:solidFill>
              </a:rPr>
              <a:t>Fe-S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774C169-7272-40BE-9772-7A53503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7"/>
          </a:solidFill>
          <a:ln xmlns:a="http://schemas.openxmlformats.org/drawingml/2006/main" w="28575">
            <a:solidFill>
              <a:srgbClr val="3B7D3B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312E15C-6FC0-4996-84E5-69CB7B25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571750"/>
            <a:ext cx="3714750" cy="3714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B7D3B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4BE423B5-7EE9-4DF0-B342-06B0677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05075"/>
            <a:ext cx="3848100" cy="384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D3B"/>
            </a:solidFill>
            <a:prstDash val="dash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CAC49BC-F657-490D-9992-39AF62CC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O₂ production ↔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nitrogenase O₂ sensitivity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9264AF14-7DDF-4693-9018-7BB603A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A"/>
          </a:solidFill>
          <a:ln xmlns:a="http://schemas.openxmlformats.org/drawingml/2006/main" w="11430">
            <a:solidFill>
              <a:srgbClr val="D89A20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0EE26ED-35DD-44F9-86A0-A57D198A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40767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B7A1DEF-9C42-4242-A325-842A2EB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98" y="4191000"/>
            <a:ext cx="90738" cy="523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4769FA60-93D0-4C66-917B-17D3CE7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274673"/>
            <a:ext cx="52388" cy="90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43F62CD-BF99-4010-B326-14CDE27D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3053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FEAE5F3-E4F1-44BF-80F5-768B508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4274673"/>
            <a:ext cx="-52387" cy="90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93BFC6F-3474-4EAA-9AF5-270A508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352" y="4191000"/>
            <a:ext cx="-90738" cy="523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01574D6-316D-4167-9B17-B6DEA33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4076700"/>
            <a:ext cx="-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F6ED7C4-055C-4445-9A98-7A058C4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352" y="3962400"/>
            <a:ext cx="-90738" cy="-523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330B199-89A3-489F-B4D6-9A09E20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3878727"/>
            <a:ext cx="-52387" cy="-90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9BF2273-9B80-45E1-BDF8-431BEF8C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848100"/>
            <a:ext cx="0" cy="-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DD5FCAE-1C7B-413D-B560-144668DA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78727"/>
            <a:ext cx="52388" cy="-90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D68C07A-6F21-4750-ABBC-832CCEE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298" y="3962400"/>
            <a:ext cx="90738" cy="-523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9A20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835A800-10E3-4176-B547-F70348A0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629150"/>
            <a:ext cx="476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7C1B988-48BC-4F6F-8943-FBE86D56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48200"/>
            <a:ext cx="3810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42B208C-2160-467E-B9E7-D851C8C5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24400"/>
            <a:ext cx="476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3A1C312-9324-4258-BD49-57EB2E6A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743450"/>
            <a:ext cx="3810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E54D18B-9827-45CA-84B1-92496564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819650"/>
            <a:ext cx="476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3215E83-A0CC-4E0D-9961-71ECC208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38700"/>
            <a:ext cx="3810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53B9504-98AD-423A-A862-7AB5E7EA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914900"/>
            <a:ext cx="476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5200628-9323-47F4-850A-F768603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933950"/>
            <a:ext cx="381000" cy="-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7D3B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8302C37-4CD3-4189-8B77-730B7EA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333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C68"/>
          </a:solidFill>
          <a:ln xmlns:a="http://schemas.openxmlformats.org/drawingml/2006/main" w="11430">
            <a:solidFill>
              <a:srgbClr val="B65447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8316337-7653-4FF9-A507-312F3EA0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4400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2C24"/>
                </a:solidFill>
              </a:defRPr>
            </a:pPr>
            <a:r>
              <a:rPr sz="1200" b="1">
                <a:solidFill>
                  <a:srgbClr val="7A2C24"/>
                </a:solidFill>
              </a:rPr>
              <a:t>O₂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56F0DA2-3CF4-42E0-B516-334EE258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O₂-producing</a:t>
            </a:r>
          </a:p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photosynthesis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62B7BE2-1168-478F-A7D6-6CE87DB3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476750"/>
            <a:ext cx="876300" cy="3619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59636B"/>
          </a:solidFill>
          <a:ln xmlns:a="http://schemas.openxmlformats.org/drawingml/2006/main" w="0">
            <a:solidFill>
              <a:srgbClr val="59636B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539A39F-076C-40E9-B94C-D0174168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B8E8"/>
          </a:solidFill>
          <a:ln xmlns:a="http://schemas.openxmlformats.org/drawingml/2006/main" w="11430">
            <a:solidFill>
              <a:srgbClr val="3E6392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09D4F80-4A42-4A79-B09C-A0AFFAB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305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1CF"/>
          </a:solidFill>
          <a:ln xmlns:a="http://schemas.openxmlformats.org/drawingml/2006/main" w="11430">
            <a:solidFill>
              <a:srgbClr val="3E6392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7EB70F3-77ED-4E4E-AE14-14108B2A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524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E5"/>
          </a:solidFill>
          <a:ln xmlns:a="http://schemas.openxmlformats.org/drawingml/2006/main" w="11430">
            <a:solidFill>
              <a:srgbClr val="3E6392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66B9EFB-180D-42E8-BAD4-E3F5CED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619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7EC"/>
          </a:solidFill>
          <a:ln xmlns:a="http://schemas.openxmlformats.org/drawingml/2006/main" w="11430">
            <a:solidFill>
              <a:srgbClr val="3E6392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0010536-038E-4352-B80C-87AB78D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857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N₂ → NH₃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90C5272E-6E62-42B4-82FF-25FD7ADE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1911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O₂-sensitive</a:t>
            </a:r>
          </a:p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N₂ fixation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3FE39A6-4527-45D2-8696-B9D9A84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743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C68"/>
          </a:solidFill>
          <a:ln xmlns:a="http://schemas.openxmlformats.org/drawingml/2006/main" w="11430">
            <a:solidFill>
              <a:srgbClr val="B65447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B8BF6C1-6832-4FFB-880D-2273BF4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48101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A2C24"/>
                </a:solidFill>
              </a:defRPr>
            </a:pPr>
            <a:r>
              <a:rPr sz="1050" b="1">
                <a:solidFill>
                  <a:srgbClr val="7A2C24"/>
                </a:solidFill>
              </a:rPr>
              <a:t>O₂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9434421-0BD8-4E8B-9E9A-A69FECA9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705350"/>
            <a:ext cx="-171450" cy="-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02020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33412D4-4CB4-4766-B4AA-7EBD006E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476750"/>
            <a:ext cx="952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02020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897A5D6-22B3-4485-807D-AB8513C9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8578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Model-Supported</a:t>
            </a:r>
          </a:p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accessory candidates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FF26BEB-73B2-4919-98F9-57347182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714625"/>
            <a:ext cx="2762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D3B"/>
            </a:solidFill>
            <a:prstDash val="dash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CC34A00-F406-4AD5-8DFE-3D304A15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714625"/>
            <a:ext cx="-2286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D3B"/>
            </a:solidFill>
            <a:prstDash val="dash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8FC2B6C-594E-43F1-BFC8-928AF2F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400800"/>
            <a:ext cx="314325" cy="-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D3B"/>
            </a:solidFill>
            <a:prstDash val="dash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D63C9B3-FED7-48CF-99D2-77534D2C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381750"/>
            <a:ext cx="-285750" cy="-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7D3B"/>
            </a:solidFill>
            <a:prstDash val="dash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4973667-5C35-4F3E-8052-72C6E1B7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324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39A"/>
          </a:solidFill>
          <a:ln xmlns:a="http://schemas.openxmlformats.org/drawingml/2006/main" w="14288">
            <a:solidFill>
              <a:srgbClr val="B5791F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84CC54A-7196-48CE-97D4-BF8D8AF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6324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64A"/>
          </a:solidFill>
          <a:ln xmlns:a="http://schemas.openxmlformats.org/drawingml/2006/main" w="14288">
            <a:solidFill>
              <a:srgbClr val="B5791F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92CF0A9-B216-47CA-8418-E9187B5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6324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39A"/>
          </a:solidFill>
          <a:ln xmlns:a="http://schemas.openxmlformats.org/drawingml/2006/main" w="14288">
            <a:solidFill>
              <a:srgbClr val="B5791F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0F5D991-13F6-4C9E-84B2-83F6C7A5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4293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791F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E73B566-43DD-4037-A676-E4B4936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64293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791F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E118F37-8EAF-4FEB-AFFE-79257EB0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6572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323A"/>
                </a:solidFill>
              </a:defRPr>
            </a:pPr>
            <a:r>
              <a:rPr sz="1050" b="1">
                <a:solidFill>
                  <a:srgbClr val="27323A"/>
                </a:solidFill>
              </a:rPr>
              <a:t>C skeleton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16321E6D-A3DD-40E2-AF7F-0C13E71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323A"/>
                </a:solidFill>
              </a:defRPr>
            </a:pPr>
            <a:r>
              <a:rPr sz="1125" b="1">
                <a:solidFill>
                  <a:srgbClr val="27323A"/>
                </a:solidFill>
              </a:rPr>
              <a:t>NH₃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E84FF17-5839-41F4-BC18-D380F93E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438900"/>
            <a:ext cx="3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6672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5C97438-5407-4E3F-A749-74691A7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838950"/>
            <a:ext cx="800100" cy="295275"/>
          </a:xfrm>
          <a:prstGeom xmlns:a="http://schemas.openxmlformats.org/drawingml/2006/main" prst="roundRect">
            <a:avLst>
              <a:gd name="adj" fmla="val 45161"/>
            </a:avLst>
          </a:prstGeom>
          <a:solidFill xmlns:a="http://schemas.openxmlformats.org/drawingml/2006/main">
            <a:srgbClr val="A9D99C"/>
          </a:solidFill>
          <a:ln xmlns:a="http://schemas.openxmlformats.org/drawingml/2006/main" w="14288">
            <a:solidFill>
              <a:srgbClr val="3B7D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323A"/>
                </a:solidFill>
              </a:defRPr>
            </a:pPr>
            <a:r>
              <a:rPr sz="1050" b="1">
                <a:solidFill>
                  <a:srgbClr val="27323A"/>
                </a:solidFill>
              </a:rPr>
              <a:t>Gln / Glu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62325FD1-0555-4BCB-AB29-B6DDA58E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78180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6672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5A3A291-672A-44BF-8B85-D688F48A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3152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carbon +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fixed-N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metabolism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587CBA9-CACE-4752-BE6F-D7B60978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848475"/>
            <a:ext cx="133350" cy="-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A27056D-70AD-4F0D-BFDD-2E58117F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6715125"/>
            <a:ext cx="1524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99FC029-44E2-4542-95CC-B2C8C7FB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810375"/>
            <a:ext cx="142875" cy="-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5B211C2-DF80-49AB-87D1-FABFDDD7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6696075"/>
            <a:ext cx="14287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D4E4E97-9405-4C6E-BE5D-31B8ACB9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867525"/>
            <a:ext cx="-1619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89E6A945-BC2E-42E5-BB29-B0893714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7000875"/>
            <a:ext cx="-180975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589259F-7A36-450C-8BA1-7F9453C4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6943725"/>
            <a:ext cx="-11430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7C68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6A9C5AA9-BBB5-4F39-99F2-3F2C81A6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134225"/>
            <a:ext cx="0" cy="-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6672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A99DFA4-F365-4090-8E4D-9E32E362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134225"/>
            <a:ext cx="0" cy="-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6672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0B9017C-587F-432A-90DD-25E0179F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61035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6672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8F4BA7E-153B-42C1-9D95-1EB6029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6838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86672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F53BFEDB-0B59-4C11-ABB6-6B6EA3C4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690562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86672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5C665EF-C4B4-432B-8211-A15DC7FD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69723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86672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77A61C58-EBC8-4CBB-897A-7287605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703897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86672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1F9C367-887D-4E47-A3C9-19429019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448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protein / RNA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1331195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2026-06-24T14:08:08.5800000Z</dcterms:created>
  <dcterms:modified xsi:type="dcterms:W3CDTF">2026-06-24T14:08:08.5810000Z</dcterms:modified>
</coreProperties>
</file>